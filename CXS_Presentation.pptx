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8288000" cy="10287000"/>
  <p:notesSz cx="6858000" cy="9144000"/>
  <p:embeddedFontLst>
    <p:embeddedFont>
      <p:font typeface="Canva Sans" panose="020B0604020202020204" charset="0"/>
      <p:regular r:id="rId22"/>
    </p:embeddedFont>
    <p:embeddedFont>
      <p:font typeface="Canva Sans Bold" panose="020B0604020202020204" charset="0"/>
      <p:regular r:id="rId23"/>
    </p:embeddedFont>
    <p:embeddedFont>
      <p:font typeface="League Spartan" panose="020B0604020202020204" charset="0"/>
      <p:regular r:id="rId24"/>
    </p:embeddedFont>
    <p:embeddedFont>
      <p:font typeface="Poppins" panose="00000500000000000000" pitchFamily="2" charset="0"/>
      <p:regular r:id="rId25"/>
    </p:embeddedFont>
    <p:embeddedFont>
      <p:font typeface="Poppins Bold"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9" d="100"/>
          <a:sy n="59" d="100"/>
        </p:scale>
        <p:origin x="446"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2928092" y="4673169"/>
            <a:ext cx="12431816" cy="845412"/>
          </a:xfrm>
          <a:prstGeom prst="rect">
            <a:avLst/>
          </a:prstGeom>
        </p:spPr>
        <p:txBody>
          <a:bodyPr lIns="0" tIns="0" rIns="0" bIns="0" rtlCol="0" anchor="t">
            <a:spAutoFit/>
          </a:bodyPr>
          <a:lstStyle/>
          <a:p>
            <a:pPr algn="ctr">
              <a:lnSpc>
                <a:spcPts val="6952"/>
              </a:lnSpc>
            </a:pPr>
            <a:r>
              <a:rPr lang="en-US" sz="4966" b="1">
                <a:solidFill>
                  <a:srgbClr val="000000"/>
                </a:solidFill>
                <a:latin typeface="League Spartan"/>
                <a:ea typeface="League Spartan"/>
                <a:cs typeface="League Spartan"/>
                <a:sym typeface="League Spartan"/>
              </a:rPr>
              <a:t>CXS( CREDITED EXTENSIBLE STREAM)</a:t>
            </a:r>
          </a:p>
        </p:txBody>
      </p:sp>
      <p:grpSp>
        <p:nvGrpSpPr>
          <p:cNvPr id="4" name="Group 4"/>
          <p:cNvGrpSpPr/>
          <p:nvPr/>
        </p:nvGrpSpPr>
        <p:grpSpPr>
          <a:xfrm>
            <a:off x="-1130300" y="4057750"/>
            <a:ext cx="3086100" cy="2171499"/>
            <a:chOff x="0" y="0"/>
            <a:chExt cx="812800" cy="571917"/>
          </a:xfrm>
        </p:grpSpPr>
        <p:sp>
          <p:nvSpPr>
            <p:cNvPr id="5" name="Freeform 5"/>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id="6" name="TextBox 6"/>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4880587" y="5800188"/>
            <a:ext cx="8526827" cy="791448"/>
          </a:xfrm>
          <a:prstGeom prst="rect">
            <a:avLst/>
          </a:prstGeom>
        </p:spPr>
        <p:txBody>
          <a:bodyPr lIns="0" tIns="0" rIns="0" bIns="0" rtlCol="0" anchor="t">
            <a:spAutoFit/>
          </a:bodyPr>
          <a:lstStyle/>
          <a:p>
            <a:pPr algn="ctr">
              <a:lnSpc>
                <a:spcPts val="3107"/>
              </a:lnSpc>
            </a:pPr>
            <a:r>
              <a:rPr lang="en-US" sz="2219">
                <a:solidFill>
                  <a:srgbClr val="303642"/>
                </a:solidFill>
                <a:latin typeface="Poppins"/>
                <a:ea typeface="Poppins"/>
                <a:cs typeface="Poppins"/>
                <a:sym typeface="Poppins"/>
              </a:rPr>
              <a:t>Boddu Giresh , K.Lokesh</a:t>
            </a:r>
          </a:p>
          <a:p>
            <a:pPr algn="ctr">
              <a:lnSpc>
                <a:spcPts val="3107"/>
              </a:lnSpc>
              <a:spcBef>
                <a:spcPct val="0"/>
              </a:spcBef>
            </a:pPr>
            <a:r>
              <a:rPr lang="en-US" sz="2219">
                <a:solidFill>
                  <a:srgbClr val="303642"/>
                </a:solidFill>
                <a:latin typeface="Poppins"/>
                <a:ea typeface="Poppins"/>
                <a:cs typeface="Poppins"/>
                <a:sym typeface="Poppins"/>
              </a:rPr>
              <a:t>CHIPWEAVE TECHNOLOGIES PVT LTD</a:t>
            </a:r>
          </a:p>
        </p:txBody>
      </p:sp>
      <p:grpSp>
        <p:nvGrpSpPr>
          <p:cNvPr id="8" name="Group 8"/>
          <p:cNvGrpSpPr/>
          <p:nvPr/>
        </p:nvGrpSpPr>
        <p:grpSpPr>
          <a:xfrm>
            <a:off x="16467343" y="4057750"/>
            <a:ext cx="3086100" cy="2171499"/>
            <a:chOff x="0" y="0"/>
            <a:chExt cx="812800" cy="571917"/>
          </a:xfrm>
        </p:grpSpPr>
        <p:sp>
          <p:nvSpPr>
            <p:cNvPr id="9" name="Freeform 9"/>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id="10" name="TextBox 10"/>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5446818" y="8630505"/>
            <a:ext cx="897167" cy="2183545"/>
            <a:chOff x="0" y="0"/>
            <a:chExt cx="236291" cy="575090"/>
          </a:xfrm>
        </p:grpSpPr>
        <p:sp>
          <p:nvSpPr>
            <p:cNvPr id="4" name="Freeform 4"/>
            <p:cNvSpPr/>
            <p:nvPr/>
          </p:nvSpPr>
          <p:spPr>
            <a:xfrm>
              <a:off x="0" y="0"/>
              <a:ext cx="236291" cy="575090"/>
            </a:xfrm>
            <a:custGeom>
              <a:avLst/>
              <a:gdLst/>
              <a:ahLst/>
              <a:cxnLst/>
              <a:rect l="l" t="t" r="r" b="b"/>
              <a:pathLst>
                <a:path w="236291" h="575090">
                  <a:moveTo>
                    <a:pt x="118145" y="0"/>
                  </a:moveTo>
                  <a:lnTo>
                    <a:pt x="118145" y="0"/>
                  </a:lnTo>
                  <a:cubicBezTo>
                    <a:pt x="183395" y="0"/>
                    <a:pt x="236291" y="52895"/>
                    <a:pt x="236291" y="118145"/>
                  </a:cubicBezTo>
                  <a:lnTo>
                    <a:pt x="236291" y="456945"/>
                  </a:lnTo>
                  <a:cubicBezTo>
                    <a:pt x="236291" y="488279"/>
                    <a:pt x="223843" y="518330"/>
                    <a:pt x="201687" y="540486"/>
                  </a:cubicBezTo>
                  <a:cubicBezTo>
                    <a:pt x="179530" y="562643"/>
                    <a:pt x="149480" y="575090"/>
                    <a:pt x="118145" y="575090"/>
                  </a:cubicBezTo>
                  <a:lnTo>
                    <a:pt x="118145" y="575090"/>
                  </a:lnTo>
                  <a:cubicBezTo>
                    <a:pt x="86811" y="575090"/>
                    <a:pt x="56761" y="562643"/>
                    <a:pt x="34604" y="540486"/>
                  </a:cubicBezTo>
                  <a:cubicBezTo>
                    <a:pt x="12447" y="518330"/>
                    <a:pt x="0" y="488279"/>
                    <a:pt x="0" y="456945"/>
                  </a:cubicBezTo>
                  <a:lnTo>
                    <a:pt x="0" y="118145"/>
                  </a:lnTo>
                  <a:cubicBezTo>
                    <a:pt x="0" y="86811"/>
                    <a:pt x="12447" y="56761"/>
                    <a:pt x="34604" y="34604"/>
                  </a:cubicBezTo>
                  <a:cubicBezTo>
                    <a:pt x="56761" y="12447"/>
                    <a:pt x="86811" y="0"/>
                    <a:pt x="118145" y="0"/>
                  </a:cubicBezTo>
                  <a:close/>
                </a:path>
              </a:pathLst>
            </a:custGeom>
            <a:solidFill>
              <a:srgbClr val="FFFFFF"/>
            </a:solidFill>
          </p:spPr>
        </p:sp>
        <p:sp>
          <p:nvSpPr>
            <p:cNvPr id="5" name="TextBox 5"/>
            <p:cNvSpPr txBox="1"/>
            <p:nvPr/>
          </p:nvSpPr>
          <p:spPr>
            <a:xfrm>
              <a:off x="0" y="-47625"/>
              <a:ext cx="236291" cy="622715"/>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028700" y="750617"/>
            <a:ext cx="16000084" cy="738290"/>
          </a:xfrm>
          <a:prstGeom prst="rect">
            <a:avLst/>
          </a:prstGeom>
        </p:spPr>
        <p:txBody>
          <a:bodyPr lIns="0" tIns="0" rIns="0" bIns="0" rtlCol="0" anchor="t">
            <a:spAutoFit/>
          </a:bodyPr>
          <a:lstStyle/>
          <a:p>
            <a:pPr algn="l">
              <a:lnSpc>
                <a:spcPts val="6031"/>
              </a:lnSpc>
            </a:pPr>
            <a:r>
              <a:rPr lang="en-US" sz="4308">
                <a:solidFill>
                  <a:srgbClr val="303642"/>
                </a:solidFill>
                <a:latin typeface="League Spartan"/>
                <a:ea typeface="League Spartan"/>
                <a:cs typeface="League Spartan"/>
                <a:sym typeface="League Spartan"/>
              </a:rPr>
              <a:t>ABOUT THE CXS STREAMING INTERFACE PROTOCOL</a:t>
            </a:r>
          </a:p>
        </p:txBody>
      </p:sp>
      <p:sp>
        <p:nvSpPr>
          <p:cNvPr id="7" name="TextBox 7"/>
          <p:cNvSpPr txBox="1"/>
          <p:nvPr/>
        </p:nvSpPr>
        <p:spPr>
          <a:xfrm>
            <a:off x="1028700" y="2221214"/>
            <a:ext cx="15475233" cy="1957326"/>
          </a:xfrm>
          <a:prstGeom prst="rect">
            <a:avLst/>
          </a:prstGeom>
        </p:spPr>
        <p:txBody>
          <a:bodyPr lIns="0" tIns="0" rIns="0" bIns="0" rtlCol="0" anchor="t">
            <a:spAutoFit/>
          </a:bodyPr>
          <a:lstStyle/>
          <a:p>
            <a:pPr marL="502176" lvl="1" indent="-251088" algn="l">
              <a:lnSpc>
                <a:spcPts val="3954"/>
              </a:lnSpc>
              <a:buFont typeface="Arial"/>
              <a:buChar char="•"/>
            </a:pPr>
            <a:r>
              <a:rPr lang="en-US" sz="2325">
                <a:solidFill>
                  <a:srgbClr val="303642"/>
                </a:solidFill>
                <a:latin typeface="Poppins"/>
                <a:ea typeface="Poppins"/>
                <a:cs typeface="Poppins"/>
                <a:sym typeface="Poppins"/>
              </a:rPr>
              <a:t>CXS is a high-speed, low-latency, streaming interface protocol mainly used for die-to-die communication, NoC connectivity, and chiplet architectures. It is designed to move large amounts of data efficiently between blocks, IPs.</a:t>
            </a:r>
          </a:p>
          <a:p>
            <a:pPr algn="l">
              <a:lnSpc>
                <a:spcPts val="3954"/>
              </a:lnSpc>
            </a:pPr>
            <a:endParaRPr lang="en-US" sz="2325">
              <a:solidFill>
                <a:srgbClr val="303642"/>
              </a:solidFill>
              <a:latin typeface="Poppins"/>
              <a:ea typeface="Poppins"/>
              <a:cs typeface="Poppins"/>
              <a:sym typeface="Poppins"/>
            </a:endParaRPr>
          </a:p>
        </p:txBody>
      </p:sp>
      <p:sp>
        <p:nvSpPr>
          <p:cNvPr id="8" name="TextBox 8"/>
          <p:cNvSpPr txBox="1"/>
          <p:nvPr/>
        </p:nvSpPr>
        <p:spPr>
          <a:xfrm>
            <a:off x="1701538" y="5010150"/>
            <a:ext cx="9541073" cy="4018343"/>
          </a:xfrm>
          <a:prstGeom prst="rect">
            <a:avLst/>
          </a:prstGeom>
        </p:spPr>
        <p:txBody>
          <a:bodyPr lIns="0" tIns="0" rIns="0" bIns="0" rtlCol="0" anchor="t">
            <a:spAutoFit/>
          </a:bodyPr>
          <a:lstStyle/>
          <a:p>
            <a:pPr marL="502176" lvl="1" indent="-251088" algn="l">
              <a:lnSpc>
                <a:spcPts val="4000"/>
              </a:lnSpc>
              <a:buFont typeface="Arial"/>
              <a:buChar char="•"/>
            </a:pPr>
            <a:r>
              <a:rPr lang="en-US" sz="2325">
                <a:solidFill>
                  <a:srgbClr val="303642"/>
                </a:solidFill>
                <a:latin typeface="Poppins"/>
                <a:ea typeface="Poppins"/>
                <a:cs typeface="Poppins"/>
                <a:sym typeface="Poppins"/>
              </a:rPr>
              <a:t>High bandwidth with scalable data width (32 to 1024 bits)</a:t>
            </a:r>
          </a:p>
          <a:p>
            <a:pPr marL="502176" lvl="1" indent="-251088" algn="l">
              <a:lnSpc>
                <a:spcPts val="4000"/>
              </a:lnSpc>
              <a:buFont typeface="Arial"/>
              <a:buChar char="•"/>
            </a:pPr>
            <a:r>
              <a:rPr lang="en-US" sz="2325">
                <a:solidFill>
                  <a:srgbClr val="303642"/>
                </a:solidFill>
                <a:latin typeface="Poppins"/>
                <a:ea typeface="Poppins"/>
                <a:cs typeface="Poppins"/>
                <a:sym typeface="Poppins"/>
              </a:rPr>
              <a:t>Low latency, minimal overhead</a:t>
            </a:r>
          </a:p>
          <a:p>
            <a:pPr marL="502176" lvl="1" indent="-251088" algn="l">
              <a:lnSpc>
                <a:spcPts val="4000"/>
              </a:lnSpc>
              <a:buFont typeface="Arial"/>
              <a:buChar char="•"/>
            </a:pPr>
            <a:r>
              <a:rPr lang="en-US" sz="2325">
                <a:solidFill>
                  <a:srgbClr val="303642"/>
                </a:solidFill>
                <a:latin typeface="Poppins"/>
                <a:ea typeface="Poppins"/>
                <a:cs typeface="Poppins"/>
                <a:sym typeface="Poppins"/>
              </a:rPr>
              <a:t>Supports packetized and raw streaming data</a:t>
            </a:r>
          </a:p>
          <a:p>
            <a:pPr marL="502176" lvl="1" indent="-251088" algn="l">
              <a:lnSpc>
                <a:spcPts val="4000"/>
              </a:lnSpc>
              <a:buFont typeface="Arial"/>
              <a:buChar char="•"/>
            </a:pPr>
            <a:r>
              <a:rPr lang="en-US" sz="2325">
                <a:solidFill>
                  <a:srgbClr val="303642"/>
                </a:solidFill>
                <a:latin typeface="Poppins"/>
                <a:ea typeface="Poppins"/>
                <a:cs typeface="Poppins"/>
                <a:sym typeface="Poppins"/>
              </a:rPr>
              <a:t>Supports flow control, backpressure, credits</a:t>
            </a:r>
          </a:p>
          <a:p>
            <a:pPr marL="502176" lvl="1" indent="-251088" algn="l">
              <a:lnSpc>
                <a:spcPts val="4000"/>
              </a:lnSpc>
              <a:buFont typeface="Arial"/>
              <a:buChar char="•"/>
            </a:pPr>
            <a:r>
              <a:rPr lang="en-US" sz="2325">
                <a:solidFill>
                  <a:srgbClr val="303642"/>
                </a:solidFill>
                <a:latin typeface="Poppins"/>
                <a:ea typeface="Poppins"/>
                <a:cs typeface="Poppins"/>
                <a:sym typeface="Poppins"/>
              </a:rPr>
              <a:t>Designed for multi-die / chiplet interconnects</a:t>
            </a:r>
          </a:p>
          <a:p>
            <a:pPr marL="502176" lvl="1" indent="-251088" algn="l">
              <a:lnSpc>
                <a:spcPts val="4000"/>
              </a:lnSpc>
              <a:buFont typeface="Arial"/>
              <a:buChar char="•"/>
            </a:pPr>
            <a:r>
              <a:rPr lang="en-US" sz="2325">
                <a:solidFill>
                  <a:srgbClr val="303642"/>
                </a:solidFill>
                <a:latin typeface="Poppins"/>
                <a:ea typeface="Poppins"/>
                <a:cs typeface="Poppins"/>
                <a:sym typeface="Poppins"/>
              </a:rPr>
              <a:t>Works with high-speed PHY (like BoW, UCIe, proprietary interfaces)</a:t>
            </a:r>
          </a:p>
          <a:p>
            <a:pPr algn="l">
              <a:lnSpc>
                <a:spcPts val="4000"/>
              </a:lnSpc>
            </a:pPr>
            <a:endParaRPr lang="en-US" sz="2325">
              <a:solidFill>
                <a:srgbClr val="303642"/>
              </a:solidFill>
              <a:latin typeface="Poppins"/>
              <a:ea typeface="Poppins"/>
              <a:cs typeface="Poppins"/>
              <a:sym typeface="Poppins"/>
            </a:endParaRPr>
          </a:p>
        </p:txBody>
      </p:sp>
      <p:sp>
        <p:nvSpPr>
          <p:cNvPr id="9" name="TextBox 9"/>
          <p:cNvSpPr txBox="1"/>
          <p:nvPr/>
        </p:nvSpPr>
        <p:spPr>
          <a:xfrm>
            <a:off x="766275" y="3864727"/>
            <a:ext cx="16000084" cy="738290"/>
          </a:xfrm>
          <a:prstGeom prst="rect">
            <a:avLst/>
          </a:prstGeom>
        </p:spPr>
        <p:txBody>
          <a:bodyPr lIns="0" tIns="0" rIns="0" bIns="0" rtlCol="0" anchor="t">
            <a:spAutoFit/>
          </a:bodyPr>
          <a:lstStyle/>
          <a:p>
            <a:pPr algn="l">
              <a:lnSpc>
                <a:spcPts val="6031"/>
              </a:lnSpc>
            </a:pPr>
            <a:r>
              <a:rPr lang="en-US" sz="4308">
                <a:solidFill>
                  <a:srgbClr val="303642"/>
                </a:solidFill>
                <a:latin typeface="League Spartan"/>
                <a:ea typeface="League Spartan"/>
                <a:cs typeface="League Spartan"/>
                <a:sym typeface="League Spartan"/>
              </a:rPr>
              <a:t>MAIN GOALS OF CXS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260433" y="732166"/>
            <a:ext cx="13828680" cy="7184850"/>
          </a:xfrm>
          <a:prstGeom prst="rect">
            <a:avLst/>
          </a:prstGeom>
        </p:spPr>
        <p:txBody>
          <a:bodyPr lIns="0" tIns="0" rIns="0" bIns="0" rtlCol="0" anchor="t">
            <a:spAutoFit/>
          </a:bodyPr>
          <a:lstStyle/>
          <a:p>
            <a:pPr marL="509759" lvl="1" indent="-254880" algn="l">
              <a:lnSpc>
                <a:spcPts val="4084"/>
              </a:lnSpc>
              <a:buFont typeface="Arial"/>
              <a:buChar char="•"/>
            </a:pPr>
            <a:r>
              <a:rPr lang="en-US" sz="2361" b="1">
                <a:solidFill>
                  <a:srgbClr val="000000"/>
                </a:solidFill>
                <a:latin typeface="Poppins Bold"/>
                <a:ea typeface="Poppins Bold"/>
                <a:cs typeface="Poppins Bold"/>
                <a:sym typeface="Poppins Bold"/>
              </a:rPr>
              <a:t>Credit Extensible Stream (CXS)</a:t>
            </a:r>
            <a:r>
              <a:rPr lang="en-US" sz="2361">
                <a:solidFill>
                  <a:srgbClr val="000000"/>
                </a:solidFill>
                <a:latin typeface="Poppins"/>
                <a:ea typeface="Poppins"/>
                <a:cs typeface="Poppins"/>
                <a:sym typeface="Poppins"/>
              </a:rPr>
              <a:t>  is a high-speed data transfer protocol that uses “credits” from the receiver to control how much data the transmitter can send.</a:t>
            </a:r>
          </a:p>
          <a:p>
            <a:pPr marL="509759" lvl="1" indent="-254880" algn="l">
              <a:lnSpc>
                <a:spcPts val="4084"/>
              </a:lnSpc>
              <a:buFont typeface="Arial"/>
              <a:buChar char="•"/>
            </a:pPr>
            <a:r>
              <a:rPr lang="en-US" sz="2361">
                <a:solidFill>
                  <a:srgbClr val="000000"/>
                </a:solidFill>
                <a:latin typeface="Poppins"/>
                <a:ea typeface="Poppins"/>
                <a:cs typeface="Poppins"/>
                <a:sym typeface="Poppins"/>
              </a:rPr>
              <a:t>The CXS protocol can be used for any point-to-point packetized communication that can support sharing a common CXS link between different protocols.</a:t>
            </a:r>
          </a:p>
          <a:p>
            <a:pPr marL="509759" lvl="1" indent="-254880" algn="l">
              <a:lnSpc>
                <a:spcPts val="4084"/>
              </a:lnSpc>
              <a:buFont typeface="Arial"/>
              <a:buChar char="•"/>
            </a:pPr>
            <a:r>
              <a:rPr lang="en-US" sz="2361">
                <a:solidFill>
                  <a:srgbClr val="000000"/>
                </a:solidFill>
                <a:latin typeface="Poppins"/>
                <a:ea typeface="Poppins"/>
                <a:cs typeface="Poppins"/>
                <a:sym typeface="Poppins"/>
              </a:rPr>
              <a:t> Specifically optimized for wide interfaces. </a:t>
            </a:r>
          </a:p>
          <a:p>
            <a:pPr marL="509759" lvl="1" indent="-254880" algn="l">
              <a:lnSpc>
                <a:spcPts val="4084"/>
              </a:lnSpc>
              <a:buFont typeface="Arial"/>
              <a:buChar char="•"/>
            </a:pPr>
            <a:r>
              <a:rPr lang="en-US" sz="2361">
                <a:solidFill>
                  <a:srgbClr val="000000"/>
                </a:solidFill>
                <a:latin typeface="Poppins"/>
                <a:ea typeface="Poppins"/>
                <a:cs typeface="Poppins"/>
                <a:sym typeface="Poppins"/>
              </a:rPr>
              <a:t>The availability of a wide interface permits merging of multiple packets into a single transfer.</a:t>
            </a:r>
          </a:p>
          <a:p>
            <a:pPr marL="509759" lvl="1" indent="-254880" algn="l">
              <a:lnSpc>
                <a:spcPts val="4084"/>
              </a:lnSpc>
              <a:buFont typeface="Arial"/>
              <a:buChar char="•"/>
            </a:pPr>
            <a:r>
              <a:rPr lang="en-US" sz="2361">
                <a:solidFill>
                  <a:srgbClr val="000000"/>
                </a:solidFill>
                <a:latin typeface="Poppins"/>
                <a:ea typeface="Poppins"/>
                <a:cs typeface="Poppins"/>
                <a:sym typeface="Poppins"/>
              </a:rPr>
              <a:t>We use it to avoid overflow, maintain reliable data transfer, and support very high bandwidth communication between chips or modules.</a:t>
            </a:r>
          </a:p>
          <a:p>
            <a:pPr marL="509759" lvl="1" indent="-254880" algn="l">
              <a:lnSpc>
                <a:spcPts val="4084"/>
              </a:lnSpc>
              <a:buFont typeface="Arial"/>
              <a:buChar char="•"/>
            </a:pPr>
            <a:r>
              <a:rPr lang="en-US" sz="2361">
                <a:solidFill>
                  <a:srgbClr val="000000"/>
                </a:solidFill>
                <a:latin typeface="Poppins"/>
                <a:ea typeface="Poppins"/>
                <a:cs typeface="Poppins"/>
                <a:sym typeface="Poppins"/>
              </a:rPr>
              <a:t>he primary use case for a CXS interface is to transport packets between an on-chip interconnect and PCIe controller.</a:t>
            </a:r>
          </a:p>
          <a:p>
            <a:pPr marL="509759" lvl="1" indent="-254880" algn="l">
              <a:lnSpc>
                <a:spcPts val="4084"/>
              </a:lnSpc>
              <a:buFont typeface="Arial"/>
              <a:buChar char="•"/>
            </a:pPr>
            <a:r>
              <a:rPr lang="en-US" sz="2361">
                <a:solidFill>
                  <a:srgbClr val="000000"/>
                </a:solidFill>
                <a:latin typeface="Poppins"/>
                <a:ea typeface="Poppins"/>
                <a:cs typeface="Poppins"/>
                <a:sym typeface="Poppins"/>
              </a:rPr>
              <a:t> Data transfer in CXS is unidirectional, so it is typical to have a pair of CXS interfaces between communicating blocks. </a:t>
            </a:r>
          </a:p>
          <a:p>
            <a:pPr algn="l">
              <a:lnSpc>
                <a:spcPts val="4084"/>
              </a:lnSpc>
            </a:pPr>
            <a:endParaRPr lang="en-US" sz="2361">
              <a:solidFill>
                <a:srgbClr val="000000"/>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260433" y="732166"/>
            <a:ext cx="13828680" cy="4098750"/>
          </a:xfrm>
          <a:prstGeom prst="rect">
            <a:avLst/>
          </a:prstGeom>
        </p:spPr>
        <p:txBody>
          <a:bodyPr lIns="0" tIns="0" rIns="0" bIns="0" rtlCol="0" anchor="t">
            <a:spAutoFit/>
          </a:bodyPr>
          <a:lstStyle/>
          <a:p>
            <a:pPr marL="509759" lvl="1" indent="-254880" algn="l">
              <a:lnSpc>
                <a:spcPts val="4084"/>
              </a:lnSpc>
              <a:buFont typeface="Arial"/>
              <a:buChar char="•"/>
            </a:pPr>
            <a:r>
              <a:rPr lang="en-US" sz="2361" b="1">
                <a:solidFill>
                  <a:srgbClr val="000000"/>
                </a:solidFill>
                <a:latin typeface="Poppins Bold"/>
                <a:ea typeface="Poppins Bold"/>
                <a:cs typeface="Poppins Bold"/>
                <a:sym typeface="Poppins Bold"/>
              </a:rPr>
              <a:t>Protocol operation </a:t>
            </a:r>
          </a:p>
          <a:p>
            <a:pPr marL="509759" lvl="1" indent="-254880" algn="l">
              <a:lnSpc>
                <a:spcPts val="4084"/>
              </a:lnSpc>
              <a:buFont typeface="Arial"/>
              <a:buChar char="•"/>
            </a:pPr>
            <a:r>
              <a:rPr lang="en-US" sz="2361">
                <a:solidFill>
                  <a:srgbClr val="000000"/>
                </a:solidFill>
                <a:latin typeface="Poppins"/>
                <a:ea typeface="Poppins"/>
                <a:cs typeface="Poppins"/>
                <a:sym typeface="Poppins"/>
              </a:rPr>
              <a:t>A single instance of the interface has one Transmitter (TX) connected to one Receiver (RX). </a:t>
            </a:r>
          </a:p>
          <a:p>
            <a:pPr marL="509759" lvl="1" indent="-254880" algn="l">
              <a:lnSpc>
                <a:spcPts val="4084"/>
              </a:lnSpc>
              <a:buFont typeface="Arial"/>
              <a:buChar char="•"/>
            </a:pPr>
            <a:r>
              <a:rPr lang="en-US" sz="2361">
                <a:solidFill>
                  <a:srgbClr val="000000"/>
                </a:solidFill>
                <a:latin typeface="Poppins"/>
                <a:ea typeface="Poppins"/>
                <a:cs typeface="Poppins"/>
                <a:sym typeface="Poppins"/>
              </a:rPr>
              <a:t>The data is sent in one direction. </a:t>
            </a:r>
          </a:p>
          <a:p>
            <a:pPr marL="509759" lvl="1" indent="-254880" algn="l">
              <a:lnSpc>
                <a:spcPts val="4084"/>
              </a:lnSpc>
              <a:buFont typeface="Arial"/>
              <a:buChar char="•"/>
            </a:pPr>
            <a:r>
              <a:rPr lang="en-US" sz="2361">
                <a:solidFill>
                  <a:srgbClr val="000000"/>
                </a:solidFill>
                <a:latin typeface="Poppins"/>
                <a:ea typeface="Poppins"/>
                <a:cs typeface="Poppins"/>
                <a:sym typeface="Poppins"/>
              </a:rPr>
              <a:t>The data that is transferred in one cycle is known as a flit. A packet can occupy one or more flits.</a:t>
            </a:r>
          </a:p>
          <a:p>
            <a:pPr algn="l">
              <a:lnSpc>
                <a:spcPts val="4084"/>
              </a:lnSpc>
            </a:pPr>
            <a:endParaRPr lang="en-US" sz="2361">
              <a:solidFill>
                <a:srgbClr val="000000"/>
              </a:solidFill>
              <a:latin typeface="Poppins"/>
              <a:ea typeface="Poppins"/>
              <a:cs typeface="Poppins"/>
              <a:sym typeface="Poppins"/>
            </a:endParaRPr>
          </a:p>
          <a:p>
            <a:pPr algn="l">
              <a:lnSpc>
                <a:spcPts val="4084"/>
              </a:lnSpc>
            </a:pPr>
            <a:endParaRPr lang="en-US" sz="2361">
              <a:solidFill>
                <a:srgbClr val="000000"/>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1028700" y="580214"/>
            <a:ext cx="13828680" cy="2504076"/>
          </a:xfrm>
          <a:prstGeom prst="rect">
            <a:avLst/>
          </a:prstGeom>
        </p:spPr>
        <p:txBody>
          <a:bodyPr lIns="0" tIns="0" rIns="0" bIns="0" rtlCol="0" anchor="t">
            <a:spAutoFit/>
          </a:bodyPr>
          <a:lstStyle/>
          <a:p>
            <a:pPr algn="l">
              <a:lnSpc>
                <a:spcPts val="7717"/>
              </a:lnSpc>
            </a:pPr>
            <a:r>
              <a:rPr lang="en-US" sz="4461" b="1">
                <a:solidFill>
                  <a:srgbClr val="000000"/>
                </a:solidFill>
                <a:latin typeface="Poppins Bold"/>
                <a:ea typeface="Poppins Bold"/>
                <a:cs typeface="Poppins Bold"/>
                <a:sym typeface="Poppins Bold"/>
              </a:rPr>
              <a:t>Clock and reset</a:t>
            </a:r>
          </a:p>
          <a:p>
            <a:pPr algn="l">
              <a:lnSpc>
                <a:spcPts val="7717"/>
              </a:lnSpc>
            </a:pPr>
            <a:endParaRPr lang="en-US" sz="4461" b="1">
              <a:solidFill>
                <a:srgbClr val="000000"/>
              </a:solidFill>
              <a:latin typeface="Poppins Bold"/>
              <a:ea typeface="Poppins Bold"/>
              <a:cs typeface="Poppins Bold"/>
              <a:sym typeface="Poppins Bold"/>
            </a:endParaRPr>
          </a:p>
          <a:p>
            <a:pPr algn="l">
              <a:lnSpc>
                <a:spcPts val="4084"/>
              </a:lnSpc>
            </a:pPr>
            <a:endParaRPr lang="en-US" sz="4461" b="1">
              <a:solidFill>
                <a:srgbClr val="000000"/>
              </a:solidFill>
              <a:latin typeface="Poppins Bold"/>
              <a:ea typeface="Poppins Bold"/>
              <a:cs typeface="Poppins Bold"/>
              <a:sym typeface="Poppins Bold"/>
            </a:endParaRPr>
          </a:p>
        </p:txBody>
      </p:sp>
      <p:sp>
        <p:nvSpPr>
          <p:cNvPr id="4" name="TextBox 4"/>
          <p:cNvSpPr txBox="1"/>
          <p:nvPr/>
        </p:nvSpPr>
        <p:spPr>
          <a:xfrm>
            <a:off x="1270531" y="1837015"/>
            <a:ext cx="17017469" cy="6536986"/>
          </a:xfrm>
          <a:prstGeom prst="rect">
            <a:avLst/>
          </a:prstGeom>
        </p:spPr>
        <p:txBody>
          <a:bodyPr lIns="0" tIns="0" rIns="0" bIns="0" rtlCol="0" anchor="t">
            <a:spAutoFit/>
          </a:bodyPr>
          <a:lstStyle/>
          <a:p>
            <a:pPr marL="500837" lvl="1" indent="-250419" algn="l">
              <a:lnSpc>
                <a:spcPts val="4036"/>
              </a:lnSpc>
              <a:buFont typeface="Arial"/>
              <a:buChar char="•"/>
            </a:pPr>
            <a:r>
              <a:rPr lang="en-US" sz="2319" b="1">
                <a:solidFill>
                  <a:srgbClr val="000000"/>
                </a:solidFill>
                <a:latin typeface="Poppins Bold"/>
                <a:ea typeface="Poppins Bold"/>
                <a:cs typeface="Poppins Bold"/>
                <a:sym typeface="Poppins Bold"/>
              </a:rPr>
              <a:t>The following rules apply to the clock and reset:</a:t>
            </a:r>
          </a:p>
          <a:p>
            <a:pPr marL="500837" lvl="1" indent="-250419" algn="l">
              <a:lnSpc>
                <a:spcPts val="4036"/>
              </a:lnSpc>
              <a:buFont typeface="Arial"/>
              <a:buChar char="•"/>
            </a:pPr>
            <a:r>
              <a:rPr lang="en-US" sz="2319">
                <a:solidFill>
                  <a:srgbClr val="000000"/>
                </a:solidFill>
                <a:latin typeface="Poppins"/>
                <a:ea typeface="Poppins"/>
                <a:cs typeface="Poppins"/>
                <a:sym typeface="Poppins"/>
              </a:rPr>
              <a:t> All input signals are sampled on the rising edge of CLK.</a:t>
            </a:r>
          </a:p>
          <a:p>
            <a:pPr marL="500837" lvl="1" indent="-250419" algn="l">
              <a:lnSpc>
                <a:spcPts val="4036"/>
              </a:lnSpc>
              <a:buFont typeface="Arial"/>
              <a:buChar char="•"/>
            </a:pPr>
            <a:r>
              <a:rPr lang="en-US" sz="2319">
                <a:solidFill>
                  <a:srgbClr val="000000"/>
                </a:solidFill>
                <a:latin typeface="Poppins"/>
                <a:ea typeface="Poppins"/>
                <a:cs typeface="Poppins"/>
                <a:sym typeface="Poppins"/>
              </a:rPr>
              <a:t>All output signal changes can only occur after the rising edge of CLK.</a:t>
            </a:r>
          </a:p>
          <a:p>
            <a:pPr marL="500837" lvl="1" indent="-250419" algn="l">
              <a:lnSpc>
                <a:spcPts val="4036"/>
              </a:lnSpc>
              <a:buFont typeface="Arial"/>
              <a:buChar char="•"/>
            </a:pPr>
            <a:r>
              <a:rPr lang="en-US" sz="2319">
                <a:solidFill>
                  <a:srgbClr val="000000"/>
                </a:solidFill>
                <a:latin typeface="Poppins"/>
                <a:ea typeface="Poppins"/>
                <a:cs typeface="Poppins"/>
                <a:sym typeface="Poppins"/>
              </a:rPr>
              <a:t>There must be no combinatorial paths between input and output signals on an interface.</a:t>
            </a:r>
          </a:p>
          <a:p>
            <a:pPr marL="500837" lvl="1" indent="-250419" algn="l">
              <a:lnSpc>
                <a:spcPts val="4036"/>
              </a:lnSpc>
              <a:buFont typeface="Arial"/>
              <a:buChar char="•"/>
            </a:pPr>
            <a:r>
              <a:rPr lang="en-US" sz="2319">
                <a:solidFill>
                  <a:srgbClr val="000000"/>
                </a:solidFill>
                <a:latin typeface="Poppins"/>
                <a:ea typeface="Poppins"/>
                <a:cs typeface="Poppins"/>
                <a:sym typeface="Poppins"/>
              </a:rPr>
              <a:t>The reset signal RESETn is active-LOW and can be asserted asynchronously, but deassertion can only be synchronous with a rising edge of CLK.</a:t>
            </a:r>
          </a:p>
          <a:p>
            <a:pPr marL="500837" lvl="1" indent="-250419" algn="l">
              <a:lnSpc>
                <a:spcPts val="4036"/>
              </a:lnSpc>
              <a:buFont typeface="Arial"/>
              <a:buChar char="•"/>
            </a:pPr>
            <a:r>
              <a:rPr lang="en-US" sz="2319">
                <a:solidFill>
                  <a:srgbClr val="000000"/>
                </a:solidFill>
                <a:latin typeface="Poppins"/>
                <a:ea typeface="Poppins"/>
                <a:cs typeface="Poppins"/>
                <a:sym typeface="Poppins"/>
              </a:rPr>
              <a:t> During reset the following control signals, if present, must be deasserted: </a:t>
            </a:r>
          </a:p>
          <a:p>
            <a:pPr marL="500837" lvl="1" indent="-250419" algn="l">
              <a:lnSpc>
                <a:spcPts val="4036"/>
              </a:lnSpc>
              <a:buFont typeface="Arial"/>
              <a:buChar char="•"/>
            </a:pPr>
            <a:r>
              <a:rPr lang="en-US" sz="2319">
                <a:solidFill>
                  <a:srgbClr val="000000"/>
                </a:solidFill>
                <a:latin typeface="Poppins"/>
                <a:ea typeface="Poppins"/>
                <a:cs typeface="Poppins"/>
                <a:sym typeface="Poppins"/>
              </a:rPr>
              <a:t>CXSVALID</a:t>
            </a:r>
          </a:p>
          <a:p>
            <a:pPr marL="500837" lvl="1" indent="-250419" algn="l">
              <a:lnSpc>
                <a:spcPts val="4036"/>
              </a:lnSpc>
              <a:buFont typeface="Arial"/>
              <a:buChar char="•"/>
            </a:pPr>
            <a:r>
              <a:rPr lang="en-US" sz="2319">
                <a:solidFill>
                  <a:srgbClr val="000000"/>
                </a:solidFill>
                <a:latin typeface="Poppins"/>
                <a:ea typeface="Poppins"/>
                <a:cs typeface="Poppins"/>
                <a:sym typeface="Poppins"/>
              </a:rPr>
              <a:t>CXSCRDGNT</a:t>
            </a:r>
          </a:p>
          <a:p>
            <a:pPr marL="500837" lvl="1" indent="-250419" algn="l">
              <a:lnSpc>
                <a:spcPts val="4036"/>
              </a:lnSpc>
              <a:buFont typeface="Arial"/>
              <a:buChar char="•"/>
            </a:pPr>
            <a:r>
              <a:rPr lang="en-US" sz="2319">
                <a:solidFill>
                  <a:srgbClr val="000000"/>
                </a:solidFill>
                <a:latin typeface="Poppins"/>
                <a:ea typeface="Poppins"/>
                <a:cs typeface="Poppins"/>
                <a:sym typeface="Poppins"/>
              </a:rPr>
              <a:t>CXSCRDRTN </a:t>
            </a:r>
          </a:p>
          <a:p>
            <a:pPr marL="500837" lvl="1" indent="-250419" algn="l">
              <a:lnSpc>
                <a:spcPts val="4036"/>
              </a:lnSpc>
              <a:buFont typeface="Arial"/>
              <a:buChar char="•"/>
            </a:pPr>
            <a:r>
              <a:rPr lang="en-US" sz="2319">
                <a:solidFill>
                  <a:srgbClr val="000000"/>
                </a:solidFill>
                <a:latin typeface="Poppins"/>
                <a:ea typeface="Poppins"/>
                <a:cs typeface="Poppins"/>
                <a:sym typeface="Poppins"/>
              </a:rPr>
              <a:t>CXSACTIVEREQ </a:t>
            </a:r>
          </a:p>
          <a:p>
            <a:pPr marL="500837" lvl="1" indent="-250419" algn="l">
              <a:lnSpc>
                <a:spcPts val="4036"/>
              </a:lnSpc>
              <a:buFont typeface="Arial"/>
              <a:buChar char="•"/>
            </a:pPr>
            <a:r>
              <a:rPr lang="en-US" sz="2319">
                <a:solidFill>
                  <a:srgbClr val="000000"/>
                </a:solidFill>
                <a:latin typeface="Poppins"/>
                <a:ea typeface="Poppins"/>
                <a:cs typeface="Poppins"/>
                <a:sym typeface="Poppins"/>
              </a:rPr>
              <a:t>CXSACTIVEACK </a:t>
            </a:r>
          </a:p>
          <a:p>
            <a:pPr marL="500837" lvl="1" indent="-250419" algn="l">
              <a:lnSpc>
                <a:spcPts val="4036"/>
              </a:lnSpc>
              <a:buFont typeface="Arial"/>
              <a:buChar char="•"/>
            </a:pPr>
            <a:r>
              <a:rPr lang="en-US" sz="2319">
                <a:solidFill>
                  <a:srgbClr val="000000"/>
                </a:solidFill>
                <a:latin typeface="Poppins"/>
                <a:ea typeface="Poppins"/>
                <a:cs typeface="Poppins"/>
                <a:sym typeface="Poppins"/>
              </a:rPr>
              <a:t>CXSDEACTHINT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1028700" y="580214"/>
            <a:ext cx="13828680" cy="1532526"/>
          </a:xfrm>
          <a:prstGeom prst="rect">
            <a:avLst/>
          </a:prstGeom>
        </p:spPr>
        <p:txBody>
          <a:bodyPr lIns="0" tIns="0" rIns="0" bIns="0" rtlCol="0" anchor="t">
            <a:spAutoFit/>
          </a:bodyPr>
          <a:lstStyle/>
          <a:p>
            <a:pPr algn="l">
              <a:lnSpc>
                <a:spcPts val="7717"/>
              </a:lnSpc>
            </a:pPr>
            <a:r>
              <a:rPr lang="en-US" sz="4461" b="1">
                <a:solidFill>
                  <a:srgbClr val="000000"/>
                </a:solidFill>
                <a:latin typeface="Poppins Bold"/>
                <a:ea typeface="Poppins Bold"/>
                <a:cs typeface="Poppins Bold"/>
                <a:sym typeface="Poppins Bold"/>
              </a:rPr>
              <a:t> Credit exchange mechanism </a:t>
            </a:r>
          </a:p>
          <a:p>
            <a:pPr algn="l">
              <a:lnSpc>
                <a:spcPts val="4084"/>
              </a:lnSpc>
            </a:pPr>
            <a:endParaRPr lang="en-US" sz="4461" b="1">
              <a:solidFill>
                <a:srgbClr val="000000"/>
              </a:solidFill>
              <a:latin typeface="Poppins Bold"/>
              <a:ea typeface="Poppins Bold"/>
              <a:cs typeface="Poppins Bold"/>
              <a:sym typeface="Poppins Bold"/>
            </a:endParaRPr>
          </a:p>
        </p:txBody>
      </p:sp>
      <p:sp>
        <p:nvSpPr>
          <p:cNvPr id="4" name="TextBox 4"/>
          <p:cNvSpPr txBox="1"/>
          <p:nvPr/>
        </p:nvSpPr>
        <p:spPr>
          <a:xfrm>
            <a:off x="1270531" y="1837015"/>
            <a:ext cx="17017469" cy="6781968"/>
          </a:xfrm>
          <a:prstGeom prst="rect">
            <a:avLst/>
          </a:prstGeom>
        </p:spPr>
        <p:txBody>
          <a:bodyPr lIns="0" tIns="0" rIns="0" bIns="0" rtlCol="0" anchor="t">
            <a:spAutoFit/>
          </a:bodyPr>
          <a:lstStyle/>
          <a:p>
            <a:pPr marL="479248" lvl="1" indent="-239624" algn="l">
              <a:lnSpc>
                <a:spcPts val="3862"/>
              </a:lnSpc>
              <a:buFont typeface="Arial"/>
              <a:buChar char="•"/>
            </a:pPr>
            <a:r>
              <a:rPr lang="en-US" sz="2219">
                <a:solidFill>
                  <a:srgbClr val="000000"/>
                </a:solidFill>
                <a:latin typeface="Poppins"/>
                <a:ea typeface="Poppins"/>
                <a:cs typeface="Poppins"/>
                <a:sym typeface="Poppins"/>
              </a:rPr>
              <a:t>The Transmitter transfers data by driving CXSDATA, placing packet control information on CXSCNTL, and asserting the CXSVALID signal. </a:t>
            </a:r>
          </a:p>
          <a:p>
            <a:pPr marL="479248" lvl="1" indent="-239624" algn="l">
              <a:lnSpc>
                <a:spcPts val="3862"/>
              </a:lnSpc>
              <a:buFont typeface="Arial"/>
              <a:buChar char="•"/>
            </a:pPr>
            <a:r>
              <a:rPr lang="en-US" sz="2219">
                <a:solidFill>
                  <a:srgbClr val="000000"/>
                </a:solidFill>
                <a:latin typeface="Poppins"/>
                <a:ea typeface="Poppins"/>
                <a:cs typeface="Poppins"/>
                <a:sym typeface="Poppins"/>
              </a:rPr>
              <a:t>Flow control on the interface is implemented through a credit exchange mechanism. The rules of the credit mechanism are:</a:t>
            </a:r>
          </a:p>
          <a:p>
            <a:pPr marL="479248" lvl="1" indent="-239624" algn="l">
              <a:lnSpc>
                <a:spcPts val="3862"/>
              </a:lnSpc>
              <a:buFont typeface="Arial"/>
              <a:buChar char="•"/>
            </a:pPr>
            <a:r>
              <a:rPr lang="en-US" sz="2219">
                <a:solidFill>
                  <a:srgbClr val="000000"/>
                </a:solidFill>
                <a:latin typeface="Poppins"/>
                <a:ea typeface="Poppins"/>
                <a:cs typeface="Poppins"/>
                <a:sym typeface="Poppins"/>
              </a:rPr>
              <a:t>Data can only be sent when the Transmitter has at least one credit from the Receiver. </a:t>
            </a:r>
          </a:p>
          <a:p>
            <a:pPr marL="479248" lvl="1" indent="-239624" algn="l">
              <a:lnSpc>
                <a:spcPts val="3862"/>
              </a:lnSpc>
              <a:buFont typeface="Arial"/>
              <a:buChar char="•"/>
            </a:pPr>
            <a:r>
              <a:rPr lang="en-US" sz="2219">
                <a:solidFill>
                  <a:srgbClr val="000000"/>
                </a:solidFill>
                <a:latin typeface="Poppins"/>
                <a:ea typeface="Poppins"/>
                <a:cs typeface="Poppins"/>
                <a:sym typeface="Poppins"/>
              </a:rPr>
              <a:t>When the interface is reset or first activated, the Transmitter has no credits and therefore cannot send data across the interface.</a:t>
            </a:r>
          </a:p>
          <a:p>
            <a:pPr marL="479248" lvl="1" indent="-239624" algn="l">
              <a:lnSpc>
                <a:spcPts val="3862"/>
              </a:lnSpc>
              <a:buFont typeface="Arial"/>
              <a:buChar char="•"/>
            </a:pPr>
            <a:r>
              <a:rPr lang="en-US" sz="2219">
                <a:solidFill>
                  <a:srgbClr val="000000"/>
                </a:solidFill>
                <a:latin typeface="Poppins"/>
                <a:ea typeface="Poppins"/>
                <a:cs typeface="Poppins"/>
                <a:sym typeface="Poppins"/>
              </a:rPr>
              <a:t>Credits are transferred to the Transmitter using the CXSCRDGNT signal.</a:t>
            </a:r>
          </a:p>
          <a:p>
            <a:pPr marL="479248" lvl="1" indent="-239624" algn="l">
              <a:lnSpc>
                <a:spcPts val="3862"/>
              </a:lnSpc>
              <a:buFont typeface="Arial"/>
              <a:buChar char="•"/>
            </a:pPr>
            <a:r>
              <a:rPr lang="en-US" sz="2219">
                <a:solidFill>
                  <a:srgbClr val="000000"/>
                </a:solidFill>
                <a:latin typeface="Poppins"/>
                <a:ea typeface="Poppins"/>
                <a:cs typeface="Poppins"/>
                <a:sym typeface="Poppins"/>
              </a:rPr>
              <a:t>When the CXSCRDGNT signal is asserted, one credit is transferred to the Transmitter every cycle. Each credit permits one flit of data transfer.</a:t>
            </a:r>
          </a:p>
          <a:p>
            <a:pPr marL="479248" lvl="1" indent="-239624" algn="l">
              <a:lnSpc>
                <a:spcPts val="3862"/>
              </a:lnSpc>
              <a:buFont typeface="Arial"/>
              <a:buChar char="•"/>
            </a:pPr>
            <a:r>
              <a:rPr lang="en-US" sz="2219">
                <a:solidFill>
                  <a:srgbClr val="000000"/>
                </a:solidFill>
                <a:latin typeface="Poppins"/>
                <a:ea typeface="Poppins"/>
                <a:cs typeface="Poppins"/>
                <a:sym typeface="Poppins"/>
              </a:rPr>
              <a:t>The Receiver must guarantee that it can receive one flit of data for each credit that it grants.</a:t>
            </a:r>
          </a:p>
          <a:p>
            <a:pPr marL="479248" lvl="1" indent="-239624" algn="l">
              <a:lnSpc>
                <a:spcPts val="3862"/>
              </a:lnSpc>
              <a:buFont typeface="Arial"/>
              <a:buChar char="•"/>
            </a:pPr>
            <a:r>
              <a:rPr lang="en-US" sz="2219">
                <a:solidFill>
                  <a:srgbClr val="000000"/>
                </a:solidFill>
                <a:latin typeface="Poppins"/>
                <a:ea typeface="Poppins"/>
                <a:cs typeface="Poppins"/>
                <a:sym typeface="Poppins"/>
              </a:rPr>
              <a:t>The Transmitter sends one flit of data for each cycle when the CXSVALID signal is asserted, which consumes one credit. </a:t>
            </a:r>
          </a:p>
          <a:p>
            <a:pPr algn="l">
              <a:lnSpc>
                <a:spcPts val="3862"/>
              </a:lnSpc>
            </a:pPr>
            <a:endParaRPr lang="en-US" sz="2219">
              <a:solidFill>
                <a:srgbClr val="000000"/>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1028700" y="580214"/>
            <a:ext cx="13828680" cy="1532526"/>
          </a:xfrm>
          <a:prstGeom prst="rect">
            <a:avLst/>
          </a:prstGeom>
        </p:spPr>
        <p:txBody>
          <a:bodyPr lIns="0" tIns="0" rIns="0" bIns="0" rtlCol="0" anchor="t">
            <a:spAutoFit/>
          </a:bodyPr>
          <a:lstStyle/>
          <a:p>
            <a:pPr algn="l">
              <a:lnSpc>
                <a:spcPts val="7717"/>
              </a:lnSpc>
            </a:pPr>
            <a:r>
              <a:rPr lang="en-US" sz="4461" b="1">
                <a:solidFill>
                  <a:srgbClr val="000000"/>
                </a:solidFill>
                <a:latin typeface="Poppins Bold"/>
                <a:ea typeface="Poppins Bold"/>
                <a:cs typeface="Poppins Bold"/>
                <a:sym typeface="Poppins Bold"/>
              </a:rPr>
              <a:t> Credit exchange mechanism </a:t>
            </a:r>
          </a:p>
          <a:p>
            <a:pPr algn="l">
              <a:lnSpc>
                <a:spcPts val="4084"/>
              </a:lnSpc>
            </a:pPr>
            <a:endParaRPr lang="en-US" sz="4461" b="1">
              <a:solidFill>
                <a:srgbClr val="000000"/>
              </a:solidFill>
              <a:latin typeface="Poppins Bold"/>
              <a:ea typeface="Poppins Bold"/>
              <a:cs typeface="Poppins Bold"/>
              <a:sym typeface="Poppins Bold"/>
            </a:endParaRPr>
          </a:p>
        </p:txBody>
      </p:sp>
      <p:sp>
        <p:nvSpPr>
          <p:cNvPr id="4" name="TextBox 4"/>
          <p:cNvSpPr txBox="1"/>
          <p:nvPr/>
        </p:nvSpPr>
        <p:spPr>
          <a:xfrm>
            <a:off x="1270531" y="1837015"/>
            <a:ext cx="17017469" cy="4353093"/>
          </a:xfrm>
          <a:prstGeom prst="rect">
            <a:avLst/>
          </a:prstGeom>
        </p:spPr>
        <p:txBody>
          <a:bodyPr lIns="0" tIns="0" rIns="0" bIns="0" rtlCol="0" anchor="t">
            <a:spAutoFit/>
          </a:bodyPr>
          <a:lstStyle/>
          <a:p>
            <a:pPr marL="479248" lvl="1" indent="-239624" algn="l">
              <a:lnSpc>
                <a:spcPts val="3862"/>
              </a:lnSpc>
              <a:buFont typeface="Arial"/>
              <a:buChar char="•"/>
            </a:pPr>
            <a:r>
              <a:rPr lang="en-US" sz="2219">
                <a:solidFill>
                  <a:srgbClr val="000000"/>
                </a:solidFill>
                <a:latin typeface="Poppins"/>
                <a:ea typeface="Poppins"/>
                <a:cs typeface="Poppins"/>
                <a:sym typeface="Poppins"/>
              </a:rPr>
              <a:t>The maximum number of credits that a Receiver can grant a Transmitter is specified using the CXS_MAX_CREDIT property. </a:t>
            </a:r>
          </a:p>
          <a:p>
            <a:pPr marL="479248" lvl="1" indent="-239624" algn="l">
              <a:lnSpc>
                <a:spcPts val="3862"/>
              </a:lnSpc>
              <a:buFont typeface="Arial"/>
              <a:buChar char="•"/>
            </a:pPr>
            <a:r>
              <a:rPr lang="en-US" sz="2219">
                <a:solidFill>
                  <a:srgbClr val="000000"/>
                </a:solidFill>
                <a:latin typeface="Poppins"/>
                <a:ea typeface="Poppins"/>
                <a:cs typeface="Poppins"/>
                <a:sym typeface="Poppins"/>
              </a:rPr>
              <a:t>If the interface is configurable, the Transmitter must be able to track up to CXS_MAX_CREDIT number of credits.</a:t>
            </a:r>
          </a:p>
          <a:p>
            <a:pPr marL="479248" lvl="1" indent="-239624" algn="l">
              <a:lnSpc>
                <a:spcPts val="3862"/>
              </a:lnSpc>
              <a:buFont typeface="Arial"/>
              <a:buChar char="•"/>
            </a:pPr>
            <a:r>
              <a:rPr lang="en-US" sz="2219">
                <a:solidFill>
                  <a:srgbClr val="000000"/>
                </a:solidFill>
                <a:latin typeface="Poppins"/>
                <a:ea typeface="Poppins"/>
                <a:cs typeface="Poppins"/>
                <a:sym typeface="Poppins"/>
              </a:rPr>
              <a:t>If the interface is not configurable, the Transmitter must be able to track 15 credits.</a:t>
            </a:r>
          </a:p>
          <a:p>
            <a:pPr marL="479248" lvl="1" indent="-239624" algn="l">
              <a:lnSpc>
                <a:spcPts val="3862"/>
              </a:lnSpc>
              <a:buFont typeface="Arial"/>
              <a:buChar char="•"/>
            </a:pPr>
            <a:r>
              <a:rPr lang="en-US" sz="2219">
                <a:solidFill>
                  <a:srgbClr val="000000"/>
                </a:solidFill>
                <a:latin typeface="Poppins"/>
                <a:ea typeface="Poppins"/>
                <a:cs typeface="Poppins"/>
                <a:sym typeface="Poppins"/>
              </a:rPr>
              <a:t>A Transmitter cannot use a credit to send a flit until the cycle after the CXSCRDGNT signal is asserted.</a:t>
            </a:r>
          </a:p>
          <a:p>
            <a:pPr marL="479248" lvl="1" indent="-239624" algn="l">
              <a:lnSpc>
                <a:spcPts val="3862"/>
              </a:lnSpc>
              <a:buFont typeface="Arial"/>
              <a:buChar char="•"/>
            </a:pPr>
            <a:r>
              <a:rPr lang="en-US" sz="2219">
                <a:solidFill>
                  <a:srgbClr val="000000"/>
                </a:solidFill>
                <a:latin typeface="Poppins"/>
                <a:ea typeface="Poppins"/>
                <a:cs typeface="Poppins"/>
                <a:sym typeface="Poppins"/>
              </a:rPr>
              <a:t>Optionally, credits can be returned to the Receiver without a flit transfer, using the CXSCRDRTN signal.When the CXSCRDRTN signal is asserted, one credit is returned to the Receiver every cycle.</a:t>
            </a:r>
          </a:p>
          <a:p>
            <a:pPr marL="479248" lvl="1" indent="-239624" algn="l">
              <a:lnSpc>
                <a:spcPts val="3862"/>
              </a:lnSpc>
              <a:buFont typeface="Arial"/>
              <a:buChar char="•"/>
            </a:pPr>
            <a:r>
              <a:rPr lang="en-US" sz="2219">
                <a:solidFill>
                  <a:srgbClr val="000000"/>
                </a:solidFill>
                <a:latin typeface="Poppins"/>
                <a:ea typeface="Poppins"/>
                <a:cs typeface="Poppins"/>
                <a:sym typeface="Poppins"/>
              </a:rPr>
              <a:t>The CXSCRDRTN and CXSVALID signals must not be asserted in the same cycle.</a:t>
            </a:r>
          </a:p>
          <a:p>
            <a:pPr algn="l">
              <a:lnSpc>
                <a:spcPts val="3862"/>
              </a:lnSpc>
            </a:pPr>
            <a:endParaRPr lang="en-US" sz="2219">
              <a:solidFill>
                <a:srgbClr val="000000"/>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4436751" y="4732783"/>
            <a:ext cx="10685028" cy="3659493"/>
          </a:xfrm>
          <a:custGeom>
            <a:avLst/>
            <a:gdLst/>
            <a:ahLst/>
            <a:cxnLst/>
            <a:rect l="l" t="t" r="r" b="b"/>
            <a:pathLst>
              <a:path w="10685028" h="3659493">
                <a:moveTo>
                  <a:pt x="0" y="0"/>
                </a:moveTo>
                <a:lnTo>
                  <a:pt x="10685029" y="0"/>
                </a:lnTo>
                <a:lnTo>
                  <a:pt x="10685029" y="3659493"/>
                </a:lnTo>
                <a:lnTo>
                  <a:pt x="0" y="3659493"/>
                </a:lnTo>
                <a:lnTo>
                  <a:pt x="0" y="0"/>
                </a:lnTo>
                <a:close/>
              </a:path>
            </a:pathLst>
          </a:custGeom>
          <a:blipFill>
            <a:blip r:embed="rId3"/>
            <a:stretch>
              <a:fillRect/>
            </a:stretch>
          </a:blipFill>
        </p:spPr>
      </p:sp>
      <p:sp>
        <p:nvSpPr>
          <p:cNvPr id="4" name="TextBox 4"/>
          <p:cNvSpPr txBox="1"/>
          <p:nvPr/>
        </p:nvSpPr>
        <p:spPr>
          <a:xfrm>
            <a:off x="1028700" y="580214"/>
            <a:ext cx="13828680" cy="1532526"/>
          </a:xfrm>
          <a:prstGeom prst="rect">
            <a:avLst/>
          </a:prstGeom>
        </p:spPr>
        <p:txBody>
          <a:bodyPr lIns="0" tIns="0" rIns="0" bIns="0" rtlCol="0" anchor="t">
            <a:spAutoFit/>
          </a:bodyPr>
          <a:lstStyle/>
          <a:p>
            <a:pPr algn="l">
              <a:lnSpc>
                <a:spcPts val="7717"/>
              </a:lnSpc>
            </a:pPr>
            <a:r>
              <a:rPr lang="en-US" sz="4461" b="1">
                <a:solidFill>
                  <a:srgbClr val="000000"/>
                </a:solidFill>
                <a:latin typeface="Poppins Bold"/>
                <a:ea typeface="Poppins Bold"/>
                <a:cs typeface="Poppins Bold"/>
                <a:sym typeface="Poppins Bold"/>
              </a:rPr>
              <a:t> Credit exchange mechanism </a:t>
            </a:r>
          </a:p>
          <a:p>
            <a:pPr algn="l">
              <a:lnSpc>
                <a:spcPts val="4084"/>
              </a:lnSpc>
            </a:pPr>
            <a:endParaRPr lang="en-US" sz="4461" b="1">
              <a:solidFill>
                <a:srgbClr val="000000"/>
              </a:solidFill>
              <a:latin typeface="Poppins Bold"/>
              <a:ea typeface="Poppins Bold"/>
              <a:cs typeface="Poppins Bold"/>
              <a:sym typeface="Poppins Bold"/>
            </a:endParaRPr>
          </a:p>
        </p:txBody>
      </p:sp>
      <p:sp>
        <p:nvSpPr>
          <p:cNvPr id="5" name="TextBox 5"/>
          <p:cNvSpPr txBox="1"/>
          <p:nvPr/>
        </p:nvSpPr>
        <p:spPr>
          <a:xfrm>
            <a:off x="1270531" y="1837015"/>
            <a:ext cx="17017469" cy="2895768"/>
          </a:xfrm>
          <a:prstGeom prst="rect">
            <a:avLst/>
          </a:prstGeom>
        </p:spPr>
        <p:txBody>
          <a:bodyPr lIns="0" tIns="0" rIns="0" bIns="0" rtlCol="0" anchor="t">
            <a:spAutoFit/>
          </a:bodyPr>
          <a:lstStyle/>
          <a:p>
            <a:pPr marL="479248" lvl="1" indent="-239624" algn="l">
              <a:lnSpc>
                <a:spcPts val="3862"/>
              </a:lnSpc>
              <a:buFont typeface="Arial"/>
              <a:buChar char="•"/>
            </a:pPr>
            <a:r>
              <a:rPr lang="en-US" sz="2219">
                <a:solidFill>
                  <a:srgbClr val="000000"/>
                </a:solidFill>
                <a:latin typeface="Poppins"/>
                <a:ea typeface="Poppins"/>
                <a:cs typeface="Poppins"/>
                <a:sym typeface="Poppins"/>
              </a:rPr>
              <a:t>An example of flit transfers on a channel is shown in Figure. In this example, the receiver has two credits available. </a:t>
            </a:r>
          </a:p>
          <a:p>
            <a:pPr marL="479248" lvl="1" indent="-239624" algn="l">
              <a:lnSpc>
                <a:spcPts val="3862"/>
              </a:lnSpc>
              <a:buFont typeface="Arial"/>
              <a:buChar char="•"/>
            </a:pPr>
            <a:r>
              <a:rPr lang="en-US" sz="2219">
                <a:solidFill>
                  <a:srgbClr val="000000"/>
                </a:solidFill>
                <a:latin typeface="Poppins"/>
                <a:ea typeface="Poppins"/>
                <a:cs typeface="Poppins"/>
                <a:sym typeface="Poppins"/>
              </a:rPr>
              <a:t>At reset, the transmitter has no credits.</a:t>
            </a:r>
          </a:p>
          <a:p>
            <a:pPr marL="479248" lvl="1" indent="-239624" algn="l">
              <a:lnSpc>
                <a:spcPts val="3862"/>
              </a:lnSpc>
              <a:buFont typeface="Arial"/>
              <a:buChar char="•"/>
            </a:pPr>
            <a:r>
              <a:rPr lang="en-US" sz="2219">
                <a:solidFill>
                  <a:srgbClr val="000000"/>
                </a:solidFill>
                <a:latin typeface="Poppins"/>
                <a:ea typeface="Poppins"/>
                <a:cs typeface="Poppins"/>
                <a:sym typeface="Poppins"/>
              </a:rPr>
              <a:t>One credit is issued by the receiver at b and a second one in the next cycle.</a:t>
            </a:r>
          </a:p>
          <a:p>
            <a:pPr marL="479248" lvl="1" indent="-239624" algn="l">
              <a:lnSpc>
                <a:spcPts val="3862"/>
              </a:lnSpc>
              <a:buFont typeface="Arial"/>
              <a:buChar char="•"/>
            </a:pPr>
            <a:r>
              <a:rPr lang="en-US" sz="2219">
                <a:solidFill>
                  <a:srgbClr val="000000"/>
                </a:solidFill>
                <a:latin typeface="Poppins"/>
                <a:ea typeface="Poppins"/>
                <a:cs typeface="Poppins"/>
                <a:sym typeface="Poppins"/>
              </a:rPr>
              <a:t>One credit is used by the transmitter at c to transfer flit f1 and one is used to transfer flit f2 in the next cycle. A credit is reissued by the receiver at d.</a:t>
            </a:r>
          </a:p>
          <a:p>
            <a:pPr algn="l">
              <a:lnSpc>
                <a:spcPts val="3862"/>
              </a:lnSpc>
            </a:pPr>
            <a:endParaRPr lang="en-US" sz="2219">
              <a:solidFill>
                <a:srgbClr val="000000"/>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1023322" y="1091794"/>
            <a:ext cx="14139846" cy="794805"/>
          </a:xfrm>
          <a:prstGeom prst="rect">
            <a:avLst/>
          </a:prstGeom>
        </p:spPr>
        <p:txBody>
          <a:bodyPr lIns="0" tIns="0" rIns="0" bIns="0" rtlCol="0" anchor="t">
            <a:spAutoFit/>
          </a:bodyPr>
          <a:lstStyle/>
          <a:p>
            <a:pPr algn="r">
              <a:lnSpc>
                <a:spcPts val="6591"/>
              </a:lnSpc>
            </a:pPr>
            <a:r>
              <a:rPr lang="en-US" sz="4708" b="1">
                <a:solidFill>
                  <a:srgbClr val="303642"/>
                </a:solidFill>
                <a:latin typeface="League Spartan"/>
                <a:ea typeface="League Spartan"/>
                <a:cs typeface="League Spartan"/>
                <a:sym typeface="League Spartan"/>
              </a:rPr>
              <a:t>MANDATORY AND OPTIONAL CXS SIGNALS</a:t>
            </a:r>
          </a:p>
        </p:txBody>
      </p:sp>
      <p:graphicFrame>
        <p:nvGraphicFramePr>
          <p:cNvPr id="4" name="Table 4"/>
          <p:cNvGraphicFramePr>
            <a:graphicFrameLocks noGrp="1"/>
          </p:cNvGraphicFramePr>
          <p:nvPr/>
        </p:nvGraphicFramePr>
        <p:xfrm>
          <a:off x="3722235" y="2147032"/>
          <a:ext cx="10459213" cy="7975607"/>
        </p:xfrm>
        <a:graphic>
          <a:graphicData uri="http://schemas.openxmlformats.org/drawingml/2006/table">
            <a:tbl>
              <a:tblPr/>
              <a:tblGrid>
                <a:gridCol w="2091843">
                  <a:extLst>
                    <a:ext uri="{9D8B030D-6E8A-4147-A177-3AD203B41FA5}">
                      <a16:colId xmlns:a16="http://schemas.microsoft.com/office/drawing/2014/main" val="20000"/>
                    </a:ext>
                  </a:extLst>
                </a:gridCol>
                <a:gridCol w="2091843">
                  <a:extLst>
                    <a:ext uri="{9D8B030D-6E8A-4147-A177-3AD203B41FA5}">
                      <a16:colId xmlns:a16="http://schemas.microsoft.com/office/drawing/2014/main" val="20001"/>
                    </a:ext>
                  </a:extLst>
                </a:gridCol>
                <a:gridCol w="2091843">
                  <a:extLst>
                    <a:ext uri="{9D8B030D-6E8A-4147-A177-3AD203B41FA5}">
                      <a16:colId xmlns:a16="http://schemas.microsoft.com/office/drawing/2014/main" val="20002"/>
                    </a:ext>
                  </a:extLst>
                </a:gridCol>
                <a:gridCol w="2091843">
                  <a:extLst>
                    <a:ext uri="{9D8B030D-6E8A-4147-A177-3AD203B41FA5}">
                      <a16:colId xmlns:a16="http://schemas.microsoft.com/office/drawing/2014/main" val="20003"/>
                    </a:ext>
                  </a:extLst>
                </a:gridCol>
                <a:gridCol w="2091843">
                  <a:extLst>
                    <a:ext uri="{9D8B030D-6E8A-4147-A177-3AD203B41FA5}">
                      <a16:colId xmlns:a16="http://schemas.microsoft.com/office/drawing/2014/main" val="20004"/>
                    </a:ext>
                  </a:extLst>
                </a:gridCol>
              </a:tblGrid>
              <a:tr h="613508">
                <a:tc>
                  <a:txBody>
                    <a:bodyPr/>
                    <a:lstStyle/>
                    <a:p>
                      <a:pPr algn="l">
                        <a:lnSpc>
                          <a:spcPts val="2100"/>
                        </a:lnSpc>
                        <a:defRPr/>
                      </a:pPr>
                      <a:r>
                        <a:rPr lang="en-US" sz="1500" b="1">
                          <a:solidFill>
                            <a:srgbClr val="000000"/>
                          </a:solidFill>
                          <a:latin typeface="Canva Sans Bold"/>
                          <a:ea typeface="Canva Sans Bold"/>
                          <a:cs typeface="Canva Sans Bold"/>
                          <a:sym typeface="Canva Sans Bold"/>
                        </a:rPr>
                        <a:t>Signal Name</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b="1">
                          <a:solidFill>
                            <a:srgbClr val="000000"/>
                          </a:solidFill>
                          <a:latin typeface="Canva Sans Bold"/>
                          <a:ea typeface="Canva Sans Bold"/>
                          <a:cs typeface="Canva Sans Bold"/>
                          <a:sym typeface="Canva Sans Bold"/>
                        </a:rPr>
                        <a:t>Width</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b="1">
                          <a:solidFill>
                            <a:srgbClr val="000000"/>
                          </a:solidFill>
                          <a:latin typeface="Canva Sans Bold"/>
                          <a:ea typeface="Canva Sans Bold"/>
                          <a:cs typeface="Canva Sans Bold"/>
                          <a:sym typeface="Canva Sans Bold"/>
                        </a:rPr>
                        <a:t>Optional</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b="1">
                          <a:solidFill>
                            <a:srgbClr val="000000"/>
                          </a:solidFill>
                          <a:latin typeface="Canva Sans Bold"/>
                          <a:ea typeface="Canva Sans Bold"/>
                          <a:cs typeface="Canva Sans Bold"/>
                          <a:sym typeface="Canva Sans Bold"/>
                        </a:rPr>
                        <a:t>Property</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b="1">
                          <a:solidFill>
                            <a:srgbClr val="000000"/>
                          </a:solidFill>
                          <a:latin typeface="Canva Sans Bold"/>
                          <a:ea typeface="Canva Sans Bold"/>
                          <a:cs typeface="Canva Sans Bold"/>
                          <a:sym typeface="Canva Sans Bold"/>
                        </a:rPr>
                        <a:t>Description</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0"/>
                  </a:ext>
                </a:extLst>
              </a:tr>
              <a:tr h="613508">
                <a:tc>
                  <a:txBody>
                    <a:bodyPr/>
                    <a:lstStyle/>
                    <a:p>
                      <a:pPr algn="l">
                        <a:lnSpc>
                          <a:spcPts val="2100"/>
                        </a:lnSpc>
                        <a:defRPr/>
                      </a:pPr>
                      <a:r>
                        <a:rPr lang="en-US" sz="1500" b="1">
                          <a:solidFill>
                            <a:srgbClr val="000000"/>
                          </a:solidFill>
                          <a:latin typeface="Canva Sans Bold"/>
                          <a:ea typeface="Canva Sans Bold"/>
                          <a:cs typeface="Canva Sans Bold"/>
                          <a:sym typeface="Canva Sans Bold"/>
                        </a:rPr>
                        <a:t>CLK</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100"/>
                        </a:lnSpc>
                        <a:defRPr/>
                      </a:pPr>
                      <a:r>
                        <a:rPr lang="en-US" sz="1500">
                          <a:solidFill>
                            <a:srgbClr val="000000"/>
                          </a:solidFill>
                          <a:latin typeface="Canva Sans"/>
                          <a:ea typeface="Canva Sans"/>
                          <a:cs typeface="Canva Sans"/>
                          <a:sym typeface="Canva Sans"/>
                        </a:rPr>
                        <a:t>1</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Canva Sans"/>
                          <a:ea typeface="Canva Sans"/>
                          <a:cs typeface="Canva Sans"/>
                          <a:sym typeface="Canva Sans"/>
                        </a:rPr>
                        <a:t>No</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Canva Sans"/>
                          <a:ea typeface="Canva Sans"/>
                          <a:cs typeface="Canva Sans"/>
                          <a:sym typeface="Canva Sans"/>
                        </a:rPr>
                        <a:t>—</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Canva Sans"/>
                          <a:ea typeface="Canva Sans"/>
                          <a:cs typeface="Canva Sans"/>
                          <a:sym typeface="Canva Sans"/>
                        </a:rPr>
                        <a:t>External clock signal.</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613508">
                <a:tc>
                  <a:txBody>
                    <a:bodyPr/>
                    <a:lstStyle/>
                    <a:p>
                      <a:pPr algn="l">
                        <a:lnSpc>
                          <a:spcPts val="2100"/>
                        </a:lnSpc>
                        <a:defRPr/>
                      </a:pPr>
                      <a:r>
                        <a:rPr lang="en-US" sz="1500" b="1">
                          <a:solidFill>
                            <a:srgbClr val="000000"/>
                          </a:solidFill>
                          <a:latin typeface="Canva Sans Bold"/>
                          <a:ea typeface="Canva Sans Bold"/>
                          <a:cs typeface="Canva Sans Bold"/>
                          <a:sym typeface="Canva Sans Bold"/>
                        </a:rPr>
                        <a:t>RESETn</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100"/>
                        </a:lnSpc>
                        <a:defRPr/>
                      </a:pPr>
                      <a:r>
                        <a:rPr lang="en-US" sz="1500">
                          <a:solidFill>
                            <a:srgbClr val="000000"/>
                          </a:solidFill>
                          <a:latin typeface="Canva Sans"/>
                          <a:ea typeface="Canva Sans"/>
                          <a:cs typeface="Canva Sans"/>
                          <a:sym typeface="Canva Sans"/>
                        </a:rPr>
                        <a:t>1</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Canva Sans"/>
                          <a:ea typeface="Canva Sans"/>
                          <a:cs typeface="Canva Sans"/>
                          <a:sym typeface="Canva Sans"/>
                        </a:rPr>
                        <a:t>No</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Canva Sans"/>
                          <a:ea typeface="Canva Sans"/>
                          <a:cs typeface="Canva Sans"/>
                          <a:sym typeface="Canva Sans"/>
                        </a:rPr>
                        <a:t>—</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Canva Sans"/>
                          <a:ea typeface="Canva Sans"/>
                          <a:cs typeface="Canva Sans"/>
                          <a:sym typeface="Canva Sans"/>
                        </a:rPr>
                        <a:t>External active-low reset.</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613508">
                <a:tc>
                  <a:txBody>
                    <a:bodyPr/>
                    <a:lstStyle/>
                    <a:p>
                      <a:pPr algn="l">
                        <a:lnSpc>
                          <a:spcPts val="2100"/>
                        </a:lnSpc>
                        <a:defRPr/>
                      </a:pPr>
                      <a:r>
                        <a:rPr lang="en-US" sz="1500" b="1">
                          <a:solidFill>
                            <a:srgbClr val="000000"/>
                          </a:solidFill>
                          <a:latin typeface="Canva Sans Bold"/>
                          <a:ea typeface="Canva Sans Bold"/>
                          <a:cs typeface="Canva Sans Bold"/>
                          <a:sym typeface="Canva Sans Bold"/>
                        </a:rPr>
                        <a:t>CXSVALID</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100"/>
                        </a:lnSpc>
                        <a:defRPr/>
                      </a:pPr>
                      <a:r>
                        <a:rPr lang="en-US" sz="1500">
                          <a:solidFill>
                            <a:srgbClr val="000000"/>
                          </a:solidFill>
                          <a:latin typeface="Canva Sans"/>
                          <a:ea typeface="Canva Sans"/>
                          <a:cs typeface="Canva Sans"/>
                          <a:sym typeface="Canva Sans"/>
                        </a:rPr>
                        <a:t>1</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Canva Sans"/>
                          <a:ea typeface="Canva Sans"/>
                          <a:cs typeface="Canva Sans"/>
                          <a:sym typeface="Canva Sans"/>
                        </a:rPr>
                        <a:t>No</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Canva Sans"/>
                          <a:ea typeface="Canva Sans"/>
                          <a:cs typeface="Canva Sans"/>
                          <a:sym typeface="Canva Sans"/>
                        </a:rPr>
                        <a:t>—</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Canva Sans"/>
                          <a:ea typeface="Canva Sans"/>
                          <a:cs typeface="Canva Sans"/>
                          <a:sym typeface="Canva Sans"/>
                        </a:rPr>
                        <a:t>Indicates that the current cycle contains a valid data flit.</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613508">
                <a:tc>
                  <a:txBody>
                    <a:bodyPr/>
                    <a:lstStyle/>
                    <a:p>
                      <a:pPr algn="l">
                        <a:lnSpc>
                          <a:spcPts val="2100"/>
                        </a:lnSpc>
                        <a:defRPr/>
                      </a:pPr>
                      <a:r>
                        <a:rPr lang="en-US" sz="1500" b="1">
                          <a:solidFill>
                            <a:srgbClr val="000000"/>
                          </a:solidFill>
                          <a:latin typeface="Canva Sans Bold"/>
                          <a:ea typeface="Canva Sans Bold"/>
                          <a:cs typeface="Canva Sans Bold"/>
                          <a:sym typeface="Canva Sans Bold"/>
                        </a:rPr>
                        <a:t>CXSDATA</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Canva Sans"/>
                          <a:ea typeface="Canva Sans"/>
                          <a:cs typeface="Canva Sans"/>
                          <a:sym typeface="Canva Sans"/>
                        </a:rPr>
                        <a:t>8 to 2048</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Canva Sans"/>
                          <a:ea typeface="Canva Sans"/>
                          <a:cs typeface="Canva Sans"/>
                          <a:sym typeface="Canva Sans"/>
                        </a:rPr>
                        <a:t>No</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b="1">
                          <a:solidFill>
                            <a:srgbClr val="000000"/>
                          </a:solidFill>
                          <a:latin typeface="Canva Sans Bold"/>
                          <a:ea typeface="Canva Sans Bold"/>
                          <a:cs typeface="Canva Sans Bold"/>
                          <a:sym typeface="Canva Sans Bold"/>
                        </a:rPr>
                        <a:t>CXSDATAFLITWIDTH</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Canva Sans"/>
                          <a:ea typeface="Canva Sans"/>
                          <a:cs typeface="Canva Sans"/>
                          <a:sym typeface="Canva Sans"/>
                        </a:rPr>
                        <a:t>Data flit being transmitted (width depends on implementation).</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r h="613508">
                <a:tc>
                  <a:txBody>
                    <a:bodyPr/>
                    <a:lstStyle/>
                    <a:p>
                      <a:pPr algn="l">
                        <a:lnSpc>
                          <a:spcPts val="2100"/>
                        </a:lnSpc>
                        <a:defRPr/>
                      </a:pPr>
                      <a:r>
                        <a:rPr lang="en-US" sz="1500" b="1">
                          <a:solidFill>
                            <a:srgbClr val="000000"/>
                          </a:solidFill>
                          <a:latin typeface="Canva Sans Bold"/>
                          <a:ea typeface="Canva Sans Bold"/>
                          <a:cs typeface="Canva Sans Bold"/>
                          <a:sym typeface="Canva Sans Bold"/>
                        </a:rPr>
                        <a:t>CXSCNTL</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Canva Sans"/>
                          <a:ea typeface="Canva Sans"/>
                          <a:cs typeface="Canva Sans"/>
                          <a:sym typeface="Canva Sans"/>
                        </a:rPr>
                        <a:t>0, 14, 18, 22, 27, 33, 36, 44</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Canva Sans"/>
                          <a:ea typeface="Canva Sans"/>
                          <a:cs typeface="Canva Sans"/>
                          <a:sym typeface="Canva Sans"/>
                        </a:rPr>
                        <a:t>Depends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b="1">
                          <a:solidFill>
                            <a:srgbClr val="000000"/>
                          </a:solidFill>
                          <a:latin typeface="Canva Sans Bold"/>
                          <a:ea typeface="Canva Sans Bold"/>
                          <a:cs typeface="Canva Sans Bold"/>
                          <a:sym typeface="Canva Sans Bold"/>
                        </a:rPr>
                        <a:t>CXSCNTLWIDTH</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Canva Sans"/>
                          <a:ea typeface="Canva Sans"/>
                          <a:cs typeface="Canva Sans"/>
                          <a:sym typeface="Canva Sans"/>
                        </a:rPr>
                        <a:t>Contains start/end/error information for packets. If width = 0, this signal is not present.</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5"/>
                  </a:ext>
                </a:extLst>
              </a:tr>
              <a:tr h="613508">
                <a:tc>
                  <a:txBody>
                    <a:bodyPr/>
                    <a:lstStyle/>
                    <a:p>
                      <a:pPr algn="l">
                        <a:lnSpc>
                          <a:spcPts val="2100"/>
                        </a:lnSpc>
                        <a:defRPr/>
                      </a:pPr>
                      <a:r>
                        <a:rPr lang="en-US" sz="1500" b="1">
                          <a:solidFill>
                            <a:srgbClr val="000000"/>
                          </a:solidFill>
                          <a:latin typeface="Canva Sans Bold"/>
                          <a:ea typeface="Canva Sans Bold"/>
                          <a:cs typeface="Canva Sans Bold"/>
                          <a:sym typeface="Canva Sans Bold"/>
                        </a:rPr>
                        <a:t>CXSLAST</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100"/>
                        </a:lnSpc>
                        <a:defRPr/>
                      </a:pPr>
                      <a:r>
                        <a:rPr lang="en-US" sz="1500">
                          <a:solidFill>
                            <a:srgbClr val="000000"/>
                          </a:solidFill>
                          <a:latin typeface="Canva Sans"/>
                          <a:ea typeface="Canva Sans"/>
                          <a:cs typeface="Canva Sans"/>
                          <a:sym typeface="Canva Sans"/>
                        </a:rPr>
                        <a:t>1</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Canva Sans"/>
                          <a:ea typeface="Canva Sans"/>
                          <a:cs typeface="Canva Sans"/>
                          <a:sym typeface="Canva Sans"/>
                        </a:rPr>
                        <a:t>Yes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b="1">
                          <a:solidFill>
                            <a:srgbClr val="000000"/>
                          </a:solidFill>
                          <a:latin typeface="Canva Sans Bold"/>
                          <a:ea typeface="Canva Sans Bold"/>
                          <a:cs typeface="Canva Sans Bold"/>
                          <a:sym typeface="Canva Sans Bold"/>
                        </a:rPr>
                        <a:t>CXS_LAST</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Canva Sans"/>
                          <a:ea typeface="Canva Sans"/>
                          <a:cs typeface="Canva Sans"/>
                          <a:sym typeface="Canva Sans"/>
                        </a:rPr>
                        <a:t>Indicates that a packet boundary occurs and new flits may follow in the next cycle.</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6"/>
                  </a:ext>
                </a:extLst>
              </a:tr>
              <a:tr h="613508">
                <a:tc>
                  <a:txBody>
                    <a:bodyPr/>
                    <a:lstStyle/>
                    <a:p>
                      <a:pPr algn="l">
                        <a:lnSpc>
                          <a:spcPts val="2100"/>
                        </a:lnSpc>
                        <a:defRPr/>
                      </a:pPr>
                      <a:r>
                        <a:rPr lang="en-US" sz="1500" b="1">
                          <a:solidFill>
                            <a:srgbClr val="000000"/>
                          </a:solidFill>
                          <a:latin typeface="Canva Sans Bold"/>
                          <a:ea typeface="Canva Sans Bold"/>
                          <a:cs typeface="Canva Sans Bold"/>
                          <a:sym typeface="Canva Sans Bold"/>
                        </a:rPr>
                        <a:t>CXSPRCLTYPE</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100"/>
                        </a:lnSpc>
                        <a:defRPr/>
                      </a:pPr>
                      <a:r>
                        <a:rPr lang="en-US" sz="1500">
                          <a:solidFill>
                            <a:srgbClr val="000000"/>
                          </a:solidFill>
                          <a:latin typeface="Canva Sans"/>
                          <a:ea typeface="Canva Sans"/>
                          <a:cs typeface="Canva Sans"/>
                          <a:sym typeface="Canva Sans"/>
                        </a:rPr>
                        <a:t>3</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Canva Sans"/>
                          <a:ea typeface="Canva Sans"/>
                          <a:cs typeface="Canva Sans"/>
                          <a:sym typeface="Canva Sans"/>
                        </a:rPr>
                        <a:t>Yes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b="1">
                          <a:solidFill>
                            <a:srgbClr val="000000"/>
                          </a:solidFill>
                          <a:latin typeface="Canva Sans Bold"/>
                          <a:ea typeface="Canva Sans Bold"/>
                          <a:cs typeface="Canva Sans Bold"/>
                          <a:sym typeface="Canva Sans Bold"/>
                        </a:rPr>
                        <a:t>CXS_PROTOCOL_TYPE</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Canva Sans"/>
                          <a:ea typeface="Canva Sans"/>
                          <a:cs typeface="Canva Sans"/>
                          <a:sym typeface="Canva Sans"/>
                        </a:rPr>
                        <a:t>Specifies the protocol type of the flit.</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7"/>
                  </a:ext>
                </a:extLst>
              </a:tr>
              <a:tr h="613508">
                <a:tc>
                  <a:txBody>
                    <a:bodyPr/>
                    <a:lstStyle/>
                    <a:p>
                      <a:pPr algn="l">
                        <a:lnSpc>
                          <a:spcPts val="2100"/>
                        </a:lnSpc>
                        <a:defRPr/>
                      </a:pPr>
                      <a:r>
                        <a:rPr lang="en-US" sz="1500" b="1">
                          <a:solidFill>
                            <a:srgbClr val="000000"/>
                          </a:solidFill>
                          <a:latin typeface="Canva Sans Bold"/>
                          <a:ea typeface="Canva Sans Bold"/>
                          <a:cs typeface="Canva Sans Bold"/>
                          <a:sym typeface="Canva Sans Bold"/>
                        </a:rPr>
                        <a:t>CXSCRDGNT</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100"/>
                        </a:lnSpc>
                        <a:defRPr/>
                      </a:pPr>
                      <a:r>
                        <a:rPr lang="en-US" sz="1500">
                          <a:solidFill>
                            <a:srgbClr val="000000"/>
                          </a:solidFill>
                          <a:latin typeface="Canva Sans"/>
                          <a:ea typeface="Canva Sans"/>
                          <a:cs typeface="Canva Sans"/>
                          <a:sym typeface="Canva Sans"/>
                        </a:rPr>
                        <a:t>1</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Canva Sans"/>
                          <a:ea typeface="Canva Sans"/>
                          <a:cs typeface="Canva Sans"/>
                          <a:sym typeface="Canva Sans"/>
                        </a:rPr>
                        <a:t>No</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Canva Sans"/>
                          <a:ea typeface="Canva Sans"/>
                          <a:cs typeface="Canva Sans"/>
                          <a:sym typeface="Canva Sans"/>
                        </a:rPr>
                        <a:t>—</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Canva Sans"/>
                          <a:ea typeface="Canva Sans"/>
                          <a:cs typeface="Canva Sans"/>
                          <a:sym typeface="Canva Sans"/>
                        </a:rPr>
                        <a:t>Grants a single credit to the transmitter (credit-based flow control).</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8"/>
                  </a:ext>
                </a:extLst>
              </a:tr>
              <a:tr h="613508">
                <a:tc>
                  <a:txBody>
                    <a:bodyPr/>
                    <a:lstStyle/>
                    <a:p>
                      <a:pPr algn="l">
                        <a:lnSpc>
                          <a:spcPts val="2100"/>
                        </a:lnSpc>
                        <a:defRPr/>
                      </a:pPr>
                      <a:r>
                        <a:rPr lang="en-US" sz="1500" b="1">
                          <a:solidFill>
                            <a:srgbClr val="000000"/>
                          </a:solidFill>
                          <a:latin typeface="Canva Sans Bold"/>
                          <a:ea typeface="Canva Sans Bold"/>
                          <a:cs typeface="Canva Sans Bold"/>
                          <a:sym typeface="Canva Sans Bold"/>
                        </a:rPr>
                        <a:t>CXSCRDRTN</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100"/>
                        </a:lnSpc>
                        <a:defRPr/>
                      </a:pPr>
                      <a:r>
                        <a:rPr lang="en-US" sz="1500">
                          <a:solidFill>
                            <a:srgbClr val="000000"/>
                          </a:solidFill>
                          <a:latin typeface="Canva Sans"/>
                          <a:ea typeface="Canva Sans"/>
                          <a:cs typeface="Canva Sans"/>
                          <a:sym typeface="Canva Sans"/>
                        </a:rPr>
                        <a:t>1</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Canva Sans"/>
                          <a:ea typeface="Canva Sans"/>
                          <a:cs typeface="Canva Sans"/>
                          <a:sym typeface="Canva Sans"/>
                        </a:rPr>
                        <a:t>Yes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b="1">
                          <a:solidFill>
                            <a:srgbClr val="000000"/>
                          </a:solidFill>
                          <a:latin typeface="Canva Sans Bold"/>
                          <a:ea typeface="Canva Sans Bold"/>
                          <a:cs typeface="Canva Sans Bold"/>
                          <a:sym typeface="Canva Sans Bold"/>
                        </a:rPr>
                        <a:t>CXSLINKCONTROL</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Canva Sans"/>
                          <a:ea typeface="Canva Sans"/>
                          <a:cs typeface="Canva Sans"/>
                          <a:sym typeface="Canva Sans"/>
                        </a:rPr>
                        <a:t>Returns a credit to the receiver.</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9"/>
                  </a:ext>
                </a:extLst>
              </a:tr>
              <a:tr h="613508">
                <a:tc>
                  <a:txBody>
                    <a:bodyPr/>
                    <a:lstStyle/>
                    <a:p>
                      <a:pPr algn="l">
                        <a:lnSpc>
                          <a:spcPts val="2100"/>
                        </a:lnSpc>
                        <a:defRPr/>
                      </a:pPr>
                      <a:r>
                        <a:rPr lang="en-US" sz="1500" b="1">
                          <a:solidFill>
                            <a:srgbClr val="000000"/>
                          </a:solidFill>
                          <a:latin typeface="Canva Sans Bold"/>
                          <a:ea typeface="Canva Sans Bold"/>
                          <a:cs typeface="Canva Sans Bold"/>
                          <a:sym typeface="Canva Sans Bold"/>
                        </a:rPr>
                        <a:t>CXSACTIVEREQ</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100"/>
                        </a:lnSpc>
                        <a:defRPr/>
                      </a:pPr>
                      <a:r>
                        <a:rPr lang="en-US" sz="1500">
                          <a:solidFill>
                            <a:srgbClr val="000000"/>
                          </a:solidFill>
                          <a:latin typeface="Canva Sans"/>
                          <a:ea typeface="Canva Sans"/>
                          <a:cs typeface="Canva Sans"/>
                          <a:sym typeface="Canva Sans"/>
                        </a:rPr>
                        <a:t>1</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Canva Sans"/>
                          <a:ea typeface="Canva Sans"/>
                          <a:cs typeface="Canva Sans"/>
                          <a:sym typeface="Canva Sans"/>
                        </a:rPr>
                        <a:t>Yes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b="1">
                          <a:solidFill>
                            <a:srgbClr val="000000"/>
                          </a:solidFill>
                          <a:latin typeface="Canva Sans Bold"/>
                          <a:ea typeface="Canva Sans Bold"/>
                          <a:cs typeface="Canva Sans Bold"/>
                          <a:sym typeface="Canva Sans Bold"/>
                        </a:rPr>
                        <a:t>CXSLINKCONTROL</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Canva Sans"/>
                          <a:ea typeface="Canva Sans"/>
                          <a:cs typeface="Canva Sans"/>
                          <a:sym typeface="Canva Sans"/>
                        </a:rPr>
                        <a:t>Link activation/deactivation request.</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10"/>
                  </a:ext>
                </a:extLst>
              </a:tr>
              <a:tr h="613508">
                <a:tc>
                  <a:txBody>
                    <a:bodyPr/>
                    <a:lstStyle/>
                    <a:p>
                      <a:pPr algn="l">
                        <a:lnSpc>
                          <a:spcPts val="2100"/>
                        </a:lnSpc>
                        <a:defRPr/>
                      </a:pPr>
                      <a:r>
                        <a:rPr lang="en-US" sz="1500" b="1">
                          <a:solidFill>
                            <a:srgbClr val="000000"/>
                          </a:solidFill>
                          <a:latin typeface="Canva Sans Bold"/>
                          <a:ea typeface="Canva Sans Bold"/>
                          <a:cs typeface="Canva Sans Bold"/>
                          <a:sym typeface="Canva Sans Bold"/>
                        </a:rPr>
                        <a:t>CXSACTIVEACK</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100"/>
                        </a:lnSpc>
                        <a:defRPr/>
                      </a:pPr>
                      <a:r>
                        <a:rPr lang="en-US" sz="1500">
                          <a:solidFill>
                            <a:srgbClr val="000000"/>
                          </a:solidFill>
                          <a:latin typeface="Canva Sans"/>
                          <a:ea typeface="Canva Sans"/>
                          <a:cs typeface="Canva Sans"/>
                          <a:sym typeface="Canva Sans"/>
                        </a:rPr>
                        <a:t>1</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Canva Sans"/>
                          <a:ea typeface="Canva Sans"/>
                          <a:cs typeface="Canva Sans"/>
                          <a:sym typeface="Canva Sans"/>
                        </a:rPr>
                        <a:t>Yes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b="1">
                          <a:solidFill>
                            <a:srgbClr val="000000"/>
                          </a:solidFill>
                          <a:latin typeface="Canva Sans Bold"/>
                          <a:ea typeface="Canva Sans Bold"/>
                          <a:cs typeface="Canva Sans Bold"/>
                          <a:sym typeface="Canva Sans Bold"/>
                        </a:rPr>
                        <a:t>CXSLINKCONTROL</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Canva Sans"/>
                          <a:ea typeface="Canva Sans"/>
                          <a:cs typeface="Canva Sans"/>
                          <a:sym typeface="Canva Sans"/>
                        </a:rPr>
                        <a:t>Acknowledges link activation/deactivation.</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11"/>
                  </a:ext>
                </a:extLst>
              </a:tr>
              <a:tr h="613508">
                <a:tc>
                  <a:txBody>
                    <a:bodyPr/>
                    <a:lstStyle/>
                    <a:p>
                      <a:pPr algn="l">
                        <a:lnSpc>
                          <a:spcPts val="2100"/>
                        </a:lnSpc>
                        <a:defRPr/>
                      </a:pPr>
                      <a:r>
                        <a:rPr lang="en-US" sz="1500" b="1">
                          <a:solidFill>
                            <a:srgbClr val="000000"/>
                          </a:solidFill>
                          <a:latin typeface="Canva Sans Bold"/>
                          <a:ea typeface="Canva Sans Bold"/>
                          <a:cs typeface="Canva Sans Bold"/>
                          <a:sym typeface="Canva Sans Bold"/>
                        </a:rPr>
                        <a:t>CXSDEACTHINT</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100"/>
                        </a:lnSpc>
                        <a:defRPr/>
                      </a:pPr>
                      <a:r>
                        <a:rPr lang="en-US" sz="1500">
                          <a:solidFill>
                            <a:srgbClr val="000000"/>
                          </a:solidFill>
                          <a:latin typeface="Canva Sans"/>
                          <a:ea typeface="Canva Sans"/>
                          <a:cs typeface="Canva Sans"/>
                          <a:sym typeface="Canva Sans"/>
                        </a:rPr>
                        <a:t>1</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Canva Sans"/>
                          <a:ea typeface="Canva Sans"/>
                          <a:cs typeface="Canva Sans"/>
                          <a:sym typeface="Canva Sans"/>
                        </a:rPr>
                        <a:t>Yes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b="1">
                          <a:solidFill>
                            <a:srgbClr val="000000"/>
                          </a:solidFill>
                          <a:latin typeface="Canva Sans Bold"/>
                          <a:ea typeface="Canva Sans Bold"/>
                          <a:cs typeface="Canva Sans Bold"/>
                          <a:sym typeface="Canva Sans Bold"/>
                        </a:rPr>
                        <a:t>CXSLINKCONTROL</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Canva Sans"/>
                          <a:ea typeface="Canva Sans"/>
                          <a:cs typeface="Canva Sans"/>
                          <a:sym typeface="Canva Sans"/>
                        </a:rPr>
                        <a:t>Indicates receiver wishes to deactivate the link.</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4167864" y="737728"/>
            <a:ext cx="15127457" cy="960831"/>
          </a:xfrm>
          <a:prstGeom prst="rect">
            <a:avLst/>
          </a:prstGeom>
        </p:spPr>
        <p:txBody>
          <a:bodyPr lIns="0" tIns="0" rIns="0" bIns="0" rtlCol="0" anchor="t">
            <a:spAutoFit/>
          </a:bodyPr>
          <a:lstStyle/>
          <a:p>
            <a:pPr algn="ctr">
              <a:lnSpc>
                <a:spcPts val="7940"/>
              </a:lnSpc>
            </a:pPr>
            <a:r>
              <a:rPr lang="en-US" sz="5672">
                <a:solidFill>
                  <a:srgbClr val="000000"/>
                </a:solidFill>
                <a:latin typeface="League Spartan"/>
                <a:ea typeface="League Spartan"/>
                <a:cs typeface="League Spartan"/>
                <a:sym typeface="League Spartan"/>
              </a:rPr>
              <a:t>CXS PACKETS</a:t>
            </a:r>
          </a:p>
        </p:txBody>
      </p:sp>
      <p:sp>
        <p:nvSpPr>
          <p:cNvPr id="4" name="TextBox 4"/>
          <p:cNvSpPr txBox="1"/>
          <p:nvPr/>
        </p:nvSpPr>
        <p:spPr>
          <a:xfrm>
            <a:off x="1498791" y="1565209"/>
            <a:ext cx="16789209" cy="1441262"/>
          </a:xfrm>
          <a:prstGeom prst="rect">
            <a:avLst/>
          </a:prstGeom>
        </p:spPr>
        <p:txBody>
          <a:bodyPr lIns="0" tIns="0" rIns="0" bIns="0" rtlCol="0" anchor="t">
            <a:spAutoFit/>
          </a:bodyPr>
          <a:lstStyle/>
          <a:p>
            <a:pPr marL="479248" lvl="1" indent="-239624" algn="l">
              <a:lnSpc>
                <a:spcPts val="3840"/>
              </a:lnSpc>
              <a:buFont typeface="Arial"/>
              <a:buChar char="•"/>
            </a:pPr>
            <a:r>
              <a:rPr lang="en-US" sz="2219">
                <a:solidFill>
                  <a:srgbClr val="303642"/>
                </a:solidFill>
                <a:latin typeface="Poppins"/>
                <a:ea typeface="Poppins"/>
                <a:cs typeface="Poppins"/>
                <a:sym typeface="Poppins"/>
              </a:rPr>
              <a:t>The data that is transmitted on the CXS interface is organized into packets. When the property CXSMAXPKTPERFLIT is greater than 1, there can be multiple packets per flit. This chapter describes how multiple packets are packed into a CXS flit. In CCIX or PCIe terminology, this is a Transaction Layer Packet (TLP).</a:t>
            </a:r>
          </a:p>
        </p:txBody>
      </p:sp>
      <p:sp>
        <p:nvSpPr>
          <p:cNvPr id="5" name="TextBox 5"/>
          <p:cNvSpPr txBox="1"/>
          <p:nvPr/>
        </p:nvSpPr>
        <p:spPr>
          <a:xfrm>
            <a:off x="613879" y="3961632"/>
            <a:ext cx="16789209" cy="1181868"/>
          </a:xfrm>
          <a:prstGeom prst="rect">
            <a:avLst/>
          </a:prstGeom>
        </p:spPr>
        <p:txBody>
          <a:bodyPr lIns="0" tIns="0" rIns="0" bIns="0" rtlCol="0" anchor="t">
            <a:spAutoFit/>
          </a:bodyPr>
          <a:lstStyle/>
          <a:p>
            <a:pPr algn="just">
              <a:lnSpc>
                <a:spcPts val="3107"/>
              </a:lnSpc>
            </a:pPr>
            <a:r>
              <a:rPr lang="en-US" sz="2219" b="1">
                <a:solidFill>
                  <a:srgbClr val="303642"/>
                </a:solidFill>
                <a:latin typeface="Poppins Bold"/>
                <a:ea typeface="Poppins Bold"/>
                <a:cs typeface="Poppins Bold"/>
                <a:sym typeface="Poppins Bold"/>
              </a:rPr>
              <a:t>         The CXS packets are described in the following sections</a:t>
            </a:r>
          </a:p>
          <a:p>
            <a:pPr algn="just">
              <a:lnSpc>
                <a:spcPts val="3107"/>
              </a:lnSpc>
            </a:pPr>
            <a:endParaRPr lang="en-US" sz="2219" b="1">
              <a:solidFill>
                <a:srgbClr val="303642"/>
              </a:solidFill>
              <a:latin typeface="Poppins Bold"/>
              <a:ea typeface="Poppins Bold"/>
              <a:cs typeface="Poppins Bold"/>
              <a:sym typeface="Poppins Bold"/>
            </a:endParaRPr>
          </a:p>
          <a:p>
            <a:pPr algn="just">
              <a:lnSpc>
                <a:spcPts val="3107"/>
              </a:lnSpc>
            </a:pPr>
            <a:endParaRPr lang="en-US" sz="2219" b="1">
              <a:solidFill>
                <a:srgbClr val="303642"/>
              </a:solidFill>
              <a:latin typeface="Poppins Bold"/>
              <a:ea typeface="Poppins Bold"/>
              <a:cs typeface="Poppins Bold"/>
              <a:sym typeface="Poppins Bold"/>
            </a:endParaRPr>
          </a:p>
        </p:txBody>
      </p:sp>
      <p:sp>
        <p:nvSpPr>
          <p:cNvPr id="6" name="TextBox 6"/>
          <p:cNvSpPr txBox="1"/>
          <p:nvPr/>
        </p:nvSpPr>
        <p:spPr>
          <a:xfrm>
            <a:off x="1660912" y="4462079"/>
            <a:ext cx="15877693" cy="1887870"/>
          </a:xfrm>
          <a:prstGeom prst="rect">
            <a:avLst/>
          </a:prstGeom>
        </p:spPr>
        <p:txBody>
          <a:bodyPr lIns="0" tIns="0" rIns="0" bIns="0" rtlCol="0" anchor="t">
            <a:spAutoFit/>
          </a:bodyPr>
          <a:lstStyle/>
          <a:p>
            <a:pPr marL="479248" lvl="1" indent="-239624" algn="l">
              <a:lnSpc>
                <a:spcPts val="3773"/>
              </a:lnSpc>
              <a:buFont typeface="Arial"/>
              <a:buChar char="•"/>
            </a:pPr>
            <a:r>
              <a:rPr lang="en-US" sz="2219">
                <a:solidFill>
                  <a:srgbClr val="303642"/>
                </a:solidFill>
                <a:latin typeface="Poppins"/>
                <a:ea typeface="Poppins"/>
                <a:cs typeface="Poppins"/>
                <a:sym typeface="Poppins"/>
              </a:rPr>
              <a:t>Packet Position Constraints</a:t>
            </a:r>
          </a:p>
          <a:p>
            <a:pPr marL="479248" lvl="1" indent="-239624" algn="l">
              <a:lnSpc>
                <a:spcPts val="3773"/>
              </a:lnSpc>
              <a:buFont typeface="Arial"/>
              <a:buChar char="•"/>
            </a:pPr>
            <a:r>
              <a:rPr lang="en-US" sz="2219">
                <a:solidFill>
                  <a:srgbClr val="303642"/>
                </a:solidFill>
                <a:latin typeface="Poppins"/>
                <a:ea typeface="Poppins"/>
                <a:cs typeface="Poppins"/>
                <a:sym typeface="Poppins"/>
              </a:rPr>
              <a:t>Packet Control Signal</a:t>
            </a:r>
          </a:p>
          <a:p>
            <a:pPr marL="479248" lvl="1" indent="-239624" algn="l">
              <a:lnSpc>
                <a:spcPts val="3773"/>
              </a:lnSpc>
              <a:buFont typeface="Arial"/>
              <a:buChar char="•"/>
            </a:pPr>
            <a:r>
              <a:rPr lang="en-US" sz="2219">
                <a:solidFill>
                  <a:srgbClr val="303642"/>
                </a:solidFill>
                <a:latin typeface="Poppins"/>
                <a:ea typeface="Poppins"/>
                <a:cs typeface="Poppins"/>
                <a:sym typeface="Poppins"/>
              </a:rPr>
              <a:t>Packet Size Constraints</a:t>
            </a:r>
          </a:p>
          <a:p>
            <a:pPr marL="479248" lvl="1" indent="-239624" algn="l">
              <a:lnSpc>
                <a:spcPts val="3773"/>
              </a:lnSpc>
              <a:buFont typeface="Arial"/>
              <a:buChar char="•"/>
            </a:pPr>
            <a:r>
              <a:rPr lang="en-US" sz="2219">
                <a:solidFill>
                  <a:srgbClr val="303642"/>
                </a:solidFill>
                <a:latin typeface="Poppins"/>
                <a:ea typeface="Poppins"/>
                <a:cs typeface="Poppins"/>
                <a:sym typeface="Poppins"/>
              </a:rPr>
              <a:t>Packet Examples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768267" y="596089"/>
            <a:ext cx="12428427" cy="912915"/>
          </a:xfrm>
          <a:prstGeom prst="rect">
            <a:avLst/>
          </a:prstGeom>
        </p:spPr>
        <p:txBody>
          <a:bodyPr lIns="0" tIns="0" rIns="0" bIns="0" rtlCol="0" anchor="t">
            <a:spAutoFit/>
          </a:bodyPr>
          <a:lstStyle/>
          <a:p>
            <a:pPr algn="l">
              <a:lnSpc>
                <a:spcPts val="7431"/>
              </a:lnSpc>
            </a:pPr>
            <a:r>
              <a:rPr lang="en-US" sz="5308" b="1">
                <a:solidFill>
                  <a:srgbClr val="000000"/>
                </a:solidFill>
                <a:latin typeface="League Spartan"/>
                <a:ea typeface="League Spartan"/>
                <a:cs typeface="League Spartan"/>
                <a:sym typeface="League Spartan"/>
              </a:rPr>
              <a:t> PACKET POSITION CONSTRAINTS</a:t>
            </a:r>
          </a:p>
        </p:txBody>
      </p:sp>
      <p:sp>
        <p:nvSpPr>
          <p:cNvPr id="4" name="TextBox 4"/>
          <p:cNvSpPr txBox="1"/>
          <p:nvPr/>
        </p:nvSpPr>
        <p:spPr>
          <a:xfrm>
            <a:off x="1158917" y="1745609"/>
            <a:ext cx="14042849" cy="1572235"/>
          </a:xfrm>
          <a:prstGeom prst="rect">
            <a:avLst/>
          </a:prstGeom>
        </p:spPr>
        <p:txBody>
          <a:bodyPr lIns="0" tIns="0" rIns="0" bIns="0" rtlCol="0" anchor="t">
            <a:spAutoFit/>
          </a:bodyPr>
          <a:lstStyle/>
          <a:p>
            <a:pPr algn="l">
              <a:lnSpc>
                <a:spcPts val="3116"/>
              </a:lnSpc>
            </a:pPr>
            <a:r>
              <a:rPr lang="en-US" sz="2225">
                <a:solidFill>
                  <a:srgbClr val="000000"/>
                </a:solidFill>
                <a:latin typeface="Poppins"/>
                <a:ea typeface="Poppins"/>
                <a:cs typeface="Poppins"/>
                <a:sym typeface="Poppins"/>
              </a:rPr>
              <a:t>CXSMAXPKTPERFLIT specifies the maximum number of packets that can have bytes in a flit. There can be up to CXSMAXPKTPERFLIT new packets starting in a flit, and up to CXSMAXPKTPERFLIT packets ending in a flit. This defines the maximum packets per flit, including any packet started in previous flits and any packet started in this flit which will be completed in subsequent flits.</a:t>
            </a:r>
          </a:p>
        </p:txBody>
      </p:sp>
      <p:sp>
        <p:nvSpPr>
          <p:cNvPr id="5" name="TextBox 5"/>
          <p:cNvSpPr txBox="1"/>
          <p:nvPr/>
        </p:nvSpPr>
        <p:spPr>
          <a:xfrm>
            <a:off x="1158917" y="5168925"/>
            <a:ext cx="14042849" cy="4089375"/>
          </a:xfrm>
          <a:prstGeom prst="rect">
            <a:avLst/>
          </a:prstGeom>
        </p:spPr>
        <p:txBody>
          <a:bodyPr lIns="0" tIns="0" rIns="0" bIns="0" rtlCol="0" anchor="t">
            <a:spAutoFit/>
          </a:bodyPr>
          <a:lstStyle/>
          <a:p>
            <a:pPr algn="l">
              <a:lnSpc>
                <a:spcPts val="2976"/>
              </a:lnSpc>
            </a:pPr>
            <a:r>
              <a:rPr lang="en-US" sz="2125" b="1">
                <a:solidFill>
                  <a:srgbClr val="000000"/>
                </a:solidFill>
                <a:latin typeface="Poppins Bold"/>
                <a:ea typeface="Poppins Bold"/>
                <a:cs typeface="Poppins Bold"/>
                <a:sym typeface="Poppins Bold"/>
              </a:rPr>
              <a:t> When CXSMAXPKTPERFLIT is greater than 1: </a:t>
            </a:r>
          </a:p>
          <a:p>
            <a:pPr algn="l">
              <a:lnSpc>
                <a:spcPts val="2976"/>
              </a:lnSpc>
            </a:pPr>
            <a:r>
              <a:rPr lang="en-US" sz="2125">
                <a:solidFill>
                  <a:srgbClr val="000000"/>
                </a:solidFill>
                <a:latin typeface="Poppins"/>
                <a:ea typeface="Poppins"/>
                <a:cs typeface="Poppins"/>
                <a:sym typeface="Poppins"/>
              </a:rPr>
              <a:t>• The first byte of a packet must be placed on an aligned 16-byte boundary.</a:t>
            </a:r>
          </a:p>
          <a:p>
            <a:pPr algn="l">
              <a:lnSpc>
                <a:spcPts val="2976"/>
              </a:lnSpc>
            </a:pPr>
            <a:r>
              <a:rPr lang="en-US" sz="2125">
                <a:solidFill>
                  <a:srgbClr val="000000"/>
                </a:solidFill>
                <a:latin typeface="Poppins"/>
                <a:ea typeface="Poppins"/>
                <a:cs typeface="Poppins"/>
                <a:sym typeface="Poppins"/>
              </a:rPr>
              <a:t>• Subsequent bytes of the packet occupy subsequent bytes of the flit. </a:t>
            </a:r>
          </a:p>
          <a:p>
            <a:pPr algn="l">
              <a:lnSpc>
                <a:spcPts val="2976"/>
              </a:lnSpc>
            </a:pPr>
            <a:r>
              <a:rPr lang="en-US" sz="2125">
                <a:solidFill>
                  <a:srgbClr val="000000"/>
                </a:solidFill>
                <a:latin typeface="Poppins"/>
                <a:ea typeface="Poppins"/>
                <a:cs typeface="Poppins"/>
                <a:sym typeface="Poppins"/>
              </a:rPr>
              <a:t>• Packets can end on any four-byte aligned boundary.</a:t>
            </a:r>
          </a:p>
          <a:p>
            <a:pPr algn="l">
              <a:lnSpc>
                <a:spcPts val="2976"/>
              </a:lnSpc>
            </a:pPr>
            <a:r>
              <a:rPr lang="en-US" sz="2125">
                <a:solidFill>
                  <a:srgbClr val="000000"/>
                </a:solidFill>
                <a:latin typeface="Poppins"/>
                <a:ea typeface="Poppins"/>
                <a:cs typeface="Poppins"/>
                <a:sym typeface="Poppins"/>
              </a:rPr>
              <a:t>• The packet that starts at a byte position will occupy every subsequent byte in that flit until the packet  ends or the flit ends. </a:t>
            </a:r>
          </a:p>
          <a:p>
            <a:pPr algn="l">
              <a:lnSpc>
                <a:spcPts val="2976"/>
              </a:lnSpc>
            </a:pPr>
            <a:r>
              <a:rPr lang="en-US" sz="2125">
                <a:solidFill>
                  <a:srgbClr val="000000"/>
                </a:solidFill>
                <a:latin typeface="Poppins"/>
                <a:ea typeface="Poppins"/>
                <a:cs typeface="Poppins"/>
                <a:sym typeface="Poppins"/>
              </a:rPr>
              <a:t>• If there are remaining bytes in the packet when the flit ends, that packet will start at byte[0] of the next            flit and occupy every subsequent byte position until the packet ends or the flit ends.</a:t>
            </a:r>
          </a:p>
          <a:p>
            <a:pPr algn="l">
              <a:lnSpc>
                <a:spcPts val="2976"/>
              </a:lnSpc>
            </a:pPr>
            <a:r>
              <a:rPr lang="en-US" sz="2125">
                <a:solidFill>
                  <a:srgbClr val="000000"/>
                </a:solidFill>
                <a:latin typeface="Poppins"/>
                <a:ea typeface="Poppins"/>
                <a:cs typeface="Poppins"/>
                <a:sym typeface="Poppins"/>
              </a:rPr>
              <a:t>• When a packet ends within a flit, the remaining bytes in the flit can be unused. </a:t>
            </a:r>
          </a:p>
          <a:p>
            <a:pPr algn="l">
              <a:lnSpc>
                <a:spcPts val="2976"/>
              </a:lnSpc>
              <a:spcBef>
                <a:spcPct val="0"/>
              </a:spcBef>
            </a:pPr>
            <a:r>
              <a:rPr lang="en-US" sz="2125">
                <a:solidFill>
                  <a:srgbClr val="000000"/>
                </a:solidFill>
                <a:latin typeface="Poppins"/>
                <a:ea typeface="Poppins"/>
                <a:cs typeface="Poppins"/>
                <a:sym typeface="Poppins"/>
              </a:rPr>
              <a:t>• Any packet in a flit must begin at the first available 16-byte boundary relative to the start of the flit or the ending of a previous packet</a:t>
            </a:r>
          </a:p>
        </p:txBody>
      </p:sp>
      <p:sp>
        <p:nvSpPr>
          <p:cNvPr id="6" name="TextBox 6"/>
          <p:cNvSpPr txBox="1"/>
          <p:nvPr/>
        </p:nvSpPr>
        <p:spPr>
          <a:xfrm>
            <a:off x="1158917" y="3471048"/>
            <a:ext cx="14439787" cy="1535149"/>
          </a:xfrm>
          <a:prstGeom prst="rect">
            <a:avLst/>
          </a:prstGeom>
        </p:spPr>
        <p:txBody>
          <a:bodyPr lIns="0" tIns="0" rIns="0" bIns="0" rtlCol="0" anchor="t">
            <a:spAutoFit/>
          </a:bodyPr>
          <a:lstStyle/>
          <a:p>
            <a:pPr algn="l">
              <a:lnSpc>
                <a:spcPts val="3060"/>
              </a:lnSpc>
            </a:pPr>
            <a:r>
              <a:rPr lang="en-US" sz="2186" b="1">
                <a:solidFill>
                  <a:srgbClr val="000000"/>
                </a:solidFill>
                <a:latin typeface="Poppins Bold"/>
                <a:ea typeface="Poppins Bold"/>
                <a:cs typeface="Poppins Bold"/>
                <a:sym typeface="Poppins Bold"/>
              </a:rPr>
              <a:t> When CXSMAXPKTPERFLIT is 1: </a:t>
            </a:r>
          </a:p>
          <a:p>
            <a:pPr algn="l">
              <a:lnSpc>
                <a:spcPts val="3060"/>
              </a:lnSpc>
            </a:pPr>
            <a:r>
              <a:rPr lang="en-US" sz="2186">
                <a:solidFill>
                  <a:srgbClr val="000000"/>
                </a:solidFill>
                <a:latin typeface="Poppins"/>
                <a:ea typeface="Poppins"/>
                <a:cs typeface="Poppins"/>
                <a:sym typeface="Poppins"/>
              </a:rPr>
              <a:t>• Packets start on the first byte of CXSDATA.</a:t>
            </a:r>
          </a:p>
          <a:p>
            <a:pPr algn="l">
              <a:lnSpc>
                <a:spcPts val="3060"/>
              </a:lnSpc>
            </a:pPr>
            <a:r>
              <a:rPr lang="en-US" sz="2186">
                <a:solidFill>
                  <a:srgbClr val="000000"/>
                </a:solidFill>
                <a:latin typeface="Poppins"/>
                <a:ea typeface="Poppins"/>
                <a:cs typeface="Poppins"/>
                <a:sym typeface="Poppins"/>
              </a:rPr>
              <a:t> • Packets end on the last byte of CXSDATA. </a:t>
            </a:r>
          </a:p>
          <a:p>
            <a:pPr algn="l">
              <a:lnSpc>
                <a:spcPts val="3060"/>
              </a:lnSpc>
              <a:spcBef>
                <a:spcPct val="0"/>
              </a:spcBef>
            </a:pPr>
            <a:r>
              <a:rPr lang="en-US" sz="2186">
                <a:solidFill>
                  <a:srgbClr val="000000"/>
                </a:solidFill>
                <a:latin typeface="Poppins"/>
                <a:ea typeface="Poppins"/>
                <a:cs typeface="Poppins"/>
                <a:sym typeface="Poppins"/>
              </a:rPr>
              <a:t>• Packets do not span across multiple flits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467577" y="397620"/>
            <a:ext cx="14846736" cy="912915"/>
          </a:xfrm>
          <a:prstGeom prst="rect">
            <a:avLst/>
          </a:prstGeom>
        </p:spPr>
        <p:txBody>
          <a:bodyPr lIns="0" tIns="0" rIns="0" bIns="0" rtlCol="0" anchor="t">
            <a:spAutoFit/>
          </a:bodyPr>
          <a:lstStyle/>
          <a:p>
            <a:pPr algn="l">
              <a:lnSpc>
                <a:spcPts val="7431"/>
              </a:lnSpc>
            </a:pPr>
            <a:r>
              <a:rPr lang="en-US" sz="5308">
                <a:solidFill>
                  <a:srgbClr val="000000"/>
                </a:solidFill>
                <a:latin typeface="League Spartan"/>
                <a:ea typeface="League Spartan"/>
                <a:cs typeface="League Spartan"/>
                <a:sym typeface="League Spartan"/>
              </a:rPr>
              <a:t>PACKET CONTROL SIGNAL</a:t>
            </a:r>
          </a:p>
        </p:txBody>
      </p:sp>
      <p:sp>
        <p:nvSpPr>
          <p:cNvPr id="4" name="TextBox 4"/>
          <p:cNvSpPr txBox="1"/>
          <p:nvPr/>
        </p:nvSpPr>
        <p:spPr>
          <a:xfrm>
            <a:off x="672203" y="1420291"/>
            <a:ext cx="11624540" cy="817220"/>
          </a:xfrm>
          <a:prstGeom prst="rect">
            <a:avLst/>
          </a:prstGeom>
        </p:spPr>
        <p:txBody>
          <a:bodyPr lIns="0" tIns="0" rIns="0" bIns="0" rtlCol="0" anchor="t">
            <a:spAutoFit/>
          </a:bodyPr>
          <a:lstStyle/>
          <a:p>
            <a:pPr algn="l">
              <a:lnSpc>
                <a:spcPts val="3256"/>
              </a:lnSpc>
              <a:spcBef>
                <a:spcPct val="0"/>
              </a:spcBef>
            </a:pPr>
            <a:r>
              <a:rPr lang="en-US" sz="2325">
                <a:solidFill>
                  <a:srgbClr val="000000"/>
                </a:solidFill>
                <a:latin typeface="Poppins"/>
                <a:ea typeface="Poppins"/>
                <a:cs typeface="Poppins"/>
                <a:sym typeface="Poppins"/>
              </a:rPr>
              <a:t>The control fields of a CXS packet are signaled using CXSCNTL. This section describes the fields and positioning within the CXSCNTL signal</a:t>
            </a:r>
          </a:p>
        </p:txBody>
      </p:sp>
      <p:sp>
        <p:nvSpPr>
          <p:cNvPr id="5" name="TextBox 5"/>
          <p:cNvSpPr txBox="1"/>
          <p:nvPr/>
        </p:nvSpPr>
        <p:spPr>
          <a:xfrm>
            <a:off x="672203" y="3477733"/>
            <a:ext cx="12554659" cy="982822"/>
          </a:xfrm>
          <a:prstGeom prst="rect">
            <a:avLst/>
          </a:prstGeom>
        </p:spPr>
        <p:txBody>
          <a:bodyPr lIns="0" tIns="0" rIns="0" bIns="0" rtlCol="0" anchor="t">
            <a:spAutoFit/>
          </a:bodyPr>
          <a:lstStyle/>
          <a:p>
            <a:pPr algn="l">
              <a:lnSpc>
                <a:spcPts val="3977"/>
              </a:lnSpc>
            </a:pPr>
            <a:r>
              <a:rPr lang="en-US" sz="2325">
                <a:solidFill>
                  <a:srgbClr val="000000"/>
                </a:solidFill>
                <a:latin typeface="Poppins"/>
                <a:ea typeface="Poppins"/>
                <a:cs typeface="Poppins"/>
                <a:sym typeface="Poppins"/>
              </a:rPr>
              <a:t>The CXSCNTL signal contains five fields. The widths of each field, and therefore the bit position of each field, vary with the properties of the interface</a:t>
            </a:r>
          </a:p>
        </p:txBody>
      </p:sp>
      <p:sp>
        <p:nvSpPr>
          <p:cNvPr id="6" name="TextBox 6"/>
          <p:cNvSpPr txBox="1"/>
          <p:nvPr/>
        </p:nvSpPr>
        <p:spPr>
          <a:xfrm>
            <a:off x="672203" y="2736674"/>
            <a:ext cx="14846736" cy="455079"/>
          </a:xfrm>
          <a:prstGeom prst="rect">
            <a:avLst/>
          </a:prstGeom>
        </p:spPr>
        <p:txBody>
          <a:bodyPr lIns="0" tIns="0" rIns="0" bIns="0" rtlCol="0" anchor="t">
            <a:spAutoFit/>
          </a:bodyPr>
          <a:lstStyle/>
          <a:p>
            <a:pPr algn="l">
              <a:lnSpc>
                <a:spcPts val="3791"/>
              </a:lnSpc>
            </a:pPr>
            <a:r>
              <a:rPr lang="en-US" sz="2708">
                <a:solidFill>
                  <a:srgbClr val="000000"/>
                </a:solidFill>
                <a:latin typeface="League Spartan"/>
                <a:ea typeface="League Spartan"/>
                <a:cs typeface="League Spartan"/>
                <a:sym typeface="League Spartan"/>
              </a:rPr>
              <a:t> PACKET CONTROL FIELDS </a:t>
            </a:r>
          </a:p>
        </p:txBody>
      </p:sp>
      <p:sp>
        <p:nvSpPr>
          <p:cNvPr id="7" name="TextBox 7"/>
          <p:cNvSpPr txBox="1"/>
          <p:nvPr/>
        </p:nvSpPr>
        <p:spPr>
          <a:xfrm>
            <a:off x="672203" y="4757233"/>
            <a:ext cx="12554659" cy="4935664"/>
          </a:xfrm>
          <a:prstGeom prst="rect">
            <a:avLst/>
          </a:prstGeom>
        </p:spPr>
        <p:txBody>
          <a:bodyPr lIns="0" tIns="0" rIns="0" bIns="0" rtlCol="0" anchor="t">
            <a:spAutoFit/>
          </a:bodyPr>
          <a:lstStyle/>
          <a:p>
            <a:pPr algn="l">
              <a:lnSpc>
                <a:spcPts val="4516"/>
              </a:lnSpc>
            </a:pPr>
            <a:r>
              <a:rPr lang="en-US" sz="2625" b="1">
                <a:solidFill>
                  <a:srgbClr val="000000"/>
                </a:solidFill>
                <a:latin typeface="Poppins Bold"/>
                <a:ea typeface="Poppins Bold"/>
                <a:cs typeface="Poppins Bold"/>
                <a:sym typeface="Poppins Bold"/>
              </a:rPr>
              <a:t>1.START Field</a:t>
            </a:r>
          </a:p>
          <a:p>
            <a:pPr marL="480587" lvl="1" indent="-240293" algn="l">
              <a:lnSpc>
                <a:spcPts val="3828"/>
              </a:lnSpc>
              <a:buFont typeface="Arial"/>
              <a:buChar char="•"/>
            </a:pPr>
            <a:r>
              <a:rPr lang="en-US" sz="2225">
                <a:solidFill>
                  <a:srgbClr val="000000"/>
                </a:solidFill>
                <a:latin typeface="Poppins"/>
                <a:ea typeface="Poppins"/>
                <a:cs typeface="Poppins"/>
                <a:sym typeface="Poppins"/>
              </a:rPr>
              <a:t>Indicates how many packets start in the current flit.</a:t>
            </a:r>
          </a:p>
          <a:p>
            <a:pPr marL="480587" lvl="1" indent="-240293" algn="l">
              <a:lnSpc>
                <a:spcPts val="3828"/>
              </a:lnSpc>
              <a:buFont typeface="Arial"/>
              <a:buChar char="•"/>
            </a:pPr>
            <a:r>
              <a:rPr lang="en-US" sz="2225">
                <a:solidFill>
                  <a:srgbClr val="000000"/>
                </a:solidFill>
                <a:latin typeface="Poppins"/>
                <a:ea typeface="Poppins"/>
                <a:cs typeface="Poppins"/>
                <a:sym typeface="Poppins"/>
              </a:rPr>
              <a:t>Width = CXSMAXPKTPERFLIT.</a:t>
            </a:r>
          </a:p>
          <a:p>
            <a:pPr marL="480587" lvl="1" indent="-240293" algn="l">
              <a:lnSpc>
                <a:spcPts val="3828"/>
              </a:lnSpc>
              <a:buFont typeface="Arial"/>
              <a:buChar char="•"/>
            </a:pPr>
            <a:r>
              <a:rPr lang="en-US" sz="2225">
                <a:solidFill>
                  <a:srgbClr val="000000"/>
                </a:solidFill>
                <a:latin typeface="Poppins"/>
                <a:ea typeface="Poppins"/>
                <a:cs typeface="Poppins"/>
                <a:sym typeface="Poppins"/>
              </a:rPr>
              <a:t>Rule: If START[N] = 1, then all lower bits START[N-1:0] must be 1.</a:t>
            </a:r>
          </a:p>
          <a:p>
            <a:pPr marL="480587" lvl="1" indent="-240293" algn="l">
              <a:lnSpc>
                <a:spcPts val="3828"/>
              </a:lnSpc>
              <a:buFont typeface="Arial"/>
              <a:buChar char="•"/>
            </a:pPr>
            <a:r>
              <a:rPr lang="en-US" sz="2225">
                <a:solidFill>
                  <a:srgbClr val="000000"/>
                </a:solidFill>
                <a:latin typeface="Poppins"/>
                <a:ea typeface="Poppins"/>
                <a:cs typeface="Poppins"/>
                <a:sym typeface="Poppins"/>
              </a:rPr>
              <a:t>Example (CXSMAXPKTPERFLIT = 4):</a:t>
            </a:r>
          </a:p>
          <a:p>
            <a:pPr marL="961174" lvl="2" indent="-320391" algn="l">
              <a:lnSpc>
                <a:spcPts val="3828"/>
              </a:lnSpc>
              <a:buFont typeface="Arial"/>
              <a:buChar char="⚬"/>
            </a:pPr>
            <a:r>
              <a:rPr lang="en-US" sz="2225">
                <a:solidFill>
                  <a:srgbClr val="000000"/>
                </a:solidFill>
                <a:latin typeface="Poppins"/>
                <a:ea typeface="Poppins"/>
                <a:cs typeface="Poppins"/>
                <a:sym typeface="Poppins"/>
              </a:rPr>
              <a:t>START[0] = 1 → at least 1 packet starts</a:t>
            </a:r>
          </a:p>
          <a:p>
            <a:pPr marL="961174" lvl="2" indent="-320391" algn="l">
              <a:lnSpc>
                <a:spcPts val="3828"/>
              </a:lnSpc>
              <a:buFont typeface="Arial"/>
              <a:buChar char="⚬"/>
            </a:pPr>
            <a:r>
              <a:rPr lang="en-US" sz="2225">
                <a:solidFill>
                  <a:srgbClr val="000000"/>
                </a:solidFill>
                <a:latin typeface="Poppins"/>
                <a:ea typeface="Poppins"/>
                <a:cs typeface="Poppins"/>
                <a:sym typeface="Poppins"/>
              </a:rPr>
              <a:t>START[1] = 1 → at least 2 packets start</a:t>
            </a:r>
          </a:p>
          <a:p>
            <a:pPr marL="961174" lvl="2" indent="-320391" algn="l">
              <a:lnSpc>
                <a:spcPts val="3828"/>
              </a:lnSpc>
              <a:buFont typeface="Arial"/>
              <a:buChar char="⚬"/>
            </a:pPr>
            <a:r>
              <a:rPr lang="en-US" sz="2225">
                <a:solidFill>
                  <a:srgbClr val="000000"/>
                </a:solidFill>
                <a:latin typeface="Poppins"/>
                <a:ea typeface="Poppins"/>
                <a:cs typeface="Poppins"/>
                <a:sym typeface="Poppins"/>
              </a:rPr>
              <a:t>START[2] = 1 → at least 3 packets start</a:t>
            </a:r>
          </a:p>
          <a:p>
            <a:pPr marL="961174" lvl="2" indent="-320391" algn="l">
              <a:lnSpc>
                <a:spcPts val="3828"/>
              </a:lnSpc>
              <a:buFont typeface="Arial"/>
              <a:buChar char="⚬"/>
            </a:pPr>
            <a:r>
              <a:rPr lang="en-US" sz="2225">
                <a:solidFill>
                  <a:srgbClr val="000000"/>
                </a:solidFill>
                <a:latin typeface="Poppins"/>
                <a:ea typeface="Poppins"/>
                <a:cs typeface="Poppins"/>
                <a:sym typeface="Poppins"/>
              </a:rPr>
              <a:t>START[3] = 1 → at least 4 packets start</a:t>
            </a:r>
          </a:p>
          <a:p>
            <a:pPr algn="l">
              <a:lnSpc>
                <a:spcPts val="3828"/>
              </a:lnSpc>
            </a:pPr>
            <a:endParaRPr lang="en-US" sz="2225">
              <a:solidFill>
                <a:srgbClr val="000000"/>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619448" y="4653012"/>
            <a:ext cx="12554659" cy="4854550"/>
          </a:xfrm>
          <a:prstGeom prst="rect">
            <a:avLst/>
          </a:prstGeom>
        </p:spPr>
        <p:txBody>
          <a:bodyPr lIns="0" tIns="0" rIns="0" bIns="0" rtlCol="0" anchor="t">
            <a:spAutoFit/>
          </a:bodyPr>
          <a:lstStyle/>
          <a:p>
            <a:pPr algn="l">
              <a:lnSpc>
                <a:spcPts val="3676"/>
              </a:lnSpc>
            </a:pPr>
            <a:r>
              <a:rPr lang="en-US" sz="2625" b="1">
                <a:solidFill>
                  <a:srgbClr val="000000"/>
                </a:solidFill>
                <a:latin typeface="Poppins Bold"/>
                <a:ea typeface="Poppins Bold"/>
                <a:cs typeface="Poppins Bold"/>
                <a:sym typeface="Poppins Bold"/>
              </a:rPr>
              <a:t>3.END </a:t>
            </a:r>
          </a:p>
          <a:p>
            <a:pPr marL="545355" lvl="1" indent="-272678" algn="l">
              <a:lnSpc>
                <a:spcPts val="3536"/>
              </a:lnSpc>
              <a:buFont typeface="Arial"/>
              <a:buChar char="•"/>
            </a:pPr>
            <a:r>
              <a:rPr lang="en-US" sz="2525">
                <a:solidFill>
                  <a:srgbClr val="000000"/>
                </a:solidFill>
                <a:latin typeface="Poppins"/>
                <a:ea typeface="Poppins"/>
                <a:cs typeface="Poppins"/>
                <a:sym typeface="Poppins"/>
              </a:rPr>
              <a:t>Indicates how many packets end in this flit.</a:t>
            </a:r>
          </a:p>
          <a:p>
            <a:pPr marL="545355" lvl="1" indent="-272678" algn="l">
              <a:lnSpc>
                <a:spcPts val="3536"/>
              </a:lnSpc>
              <a:buFont typeface="Arial"/>
              <a:buChar char="•"/>
            </a:pPr>
            <a:r>
              <a:rPr lang="en-US" sz="2525">
                <a:solidFill>
                  <a:srgbClr val="000000"/>
                </a:solidFill>
                <a:latin typeface="Poppins"/>
                <a:ea typeface="Poppins"/>
                <a:cs typeface="Poppins"/>
                <a:sym typeface="Poppins"/>
              </a:rPr>
              <a:t>Width = CXSMAXPKTPERFLIT.</a:t>
            </a:r>
          </a:p>
          <a:p>
            <a:pPr marL="545355" lvl="1" indent="-272678" algn="l">
              <a:lnSpc>
                <a:spcPts val="3536"/>
              </a:lnSpc>
              <a:buFont typeface="Arial"/>
              <a:buChar char="•"/>
            </a:pPr>
            <a:r>
              <a:rPr lang="en-US" sz="2525">
                <a:solidFill>
                  <a:srgbClr val="000000"/>
                </a:solidFill>
                <a:latin typeface="Poppins"/>
                <a:ea typeface="Poppins"/>
                <a:cs typeface="Poppins"/>
                <a:sym typeface="Poppins"/>
              </a:rPr>
              <a:t>Rule: If END[N] = 1, all lower bits END[N-1:0] must be 1.</a:t>
            </a:r>
          </a:p>
          <a:p>
            <a:pPr marL="545355" lvl="1" indent="-272678" algn="l">
              <a:lnSpc>
                <a:spcPts val="3536"/>
              </a:lnSpc>
              <a:buFont typeface="Arial"/>
              <a:buChar char="•"/>
            </a:pPr>
            <a:r>
              <a:rPr lang="en-US" sz="2525">
                <a:solidFill>
                  <a:srgbClr val="000000"/>
                </a:solidFill>
                <a:latin typeface="Poppins"/>
                <a:ea typeface="Poppins"/>
                <a:cs typeface="Poppins"/>
                <a:sym typeface="Poppins"/>
              </a:rPr>
              <a:t>Example (CXSMAXPKTPERFLIT = 4):</a:t>
            </a:r>
          </a:p>
          <a:p>
            <a:pPr marL="1090711" lvl="2" indent="-363570" algn="l">
              <a:lnSpc>
                <a:spcPts val="3536"/>
              </a:lnSpc>
              <a:buFont typeface="Arial"/>
              <a:buChar char="⚬"/>
            </a:pPr>
            <a:r>
              <a:rPr lang="en-US" sz="2525">
                <a:solidFill>
                  <a:srgbClr val="000000"/>
                </a:solidFill>
                <a:latin typeface="Poppins"/>
                <a:ea typeface="Poppins"/>
                <a:cs typeface="Poppins"/>
                <a:sym typeface="Poppins"/>
              </a:rPr>
              <a:t>END[0] = 1 → 1 packet ends</a:t>
            </a:r>
          </a:p>
          <a:p>
            <a:pPr marL="1090711" lvl="2" indent="-363570" algn="l">
              <a:lnSpc>
                <a:spcPts val="3536"/>
              </a:lnSpc>
              <a:buFont typeface="Arial"/>
              <a:buChar char="⚬"/>
            </a:pPr>
            <a:r>
              <a:rPr lang="en-US" sz="2525">
                <a:solidFill>
                  <a:srgbClr val="000000"/>
                </a:solidFill>
                <a:latin typeface="Poppins"/>
                <a:ea typeface="Poppins"/>
                <a:cs typeface="Poppins"/>
                <a:sym typeface="Poppins"/>
              </a:rPr>
              <a:t>END[1] = 1 → 2 packets end</a:t>
            </a:r>
          </a:p>
          <a:p>
            <a:pPr marL="1090711" lvl="2" indent="-363570" algn="l">
              <a:lnSpc>
                <a:spcPts val="3536"/>
              </a:lnSpc>
              <a:buFont typeface="Arial"/>
              <a:buChar char="⚬"/>
            </a:pPr>
            <a:r>
              <a:rPr lang="en-US" sz="2525">
                <a:solidFill>
                  <a:srgbClr val="000000"/>
                </a:solidFill>
                <a:latin typeface="Poppins"/>
                <a:ea typeface="Poppins"/>
                <a:cs typeface="Poppins"/>
                <a:sym typeface="Poppins"/>
              </a:rPr>
              <a:t>END[2] = 1 → 3 packets end</a:t>
            </a:r>
          </a:p>
          <a:p>
            <a:pPr marL="1090711" lvl="2" indent="-363570" algn="l">
              <a:lnSpc>
                <a:spcPts val="3536"/>
              </a:lnSpc>
              <a:buFont typeface="Arial"/>
              <a:buChar char="⚬"/>
            </a:pPr>
            <a:r>
              <a:rPr lang="en-US" sz="2525">
                <a:solidFill>
                  <a:srgbClr val="000000"/>
                </a:solidFill>
                <a:latin typeface="Poppins"/>
                <a:ea typeface="Poppins"/>
                <a:cs typeface="Poppins"/>
                <a:sym typeface="Poppins"/>
              </a:rPr>
              <a:t>END[3] = 1 → 4 packets end</a:t>
            </a:r>
          </a:p>
          <a:p>
            <a:pPr algn="l">
              <a:lnSpc>
                <a:spcPts val="3396"/>
              </a:lnSpc>
            </a:pPr>
            <a:endParaRPr lang="en-US" sz="2525">
              <a:solidFill>
                <a:srgbClr val="000000"/>
              </a:solidFill>
              <a:latin typeface="Poppins"/>
              <a:ea typeface="Poppins"/>
              <a:cs typeface="Poppins"/>
              <a:sym typeface="Poppins"/>
            </a:endParaRPr>
          </a:p>
          <a:p>
            <a:pPr algn="l">
              <a:lnSpc>
                <a:spcPts val="2976"/>
              </a:lnSpc>
              <a:spcBef>
                <a:spcPct val="0"/>
              </a:spcBef>
            </a:pPr>
            <a:endParaRPr lang="en-US" sz="2525">
              <a:solidFill>
                <a:srgbClr val="000000"/>
              </a:solidFill>
              <a:latin typeface="Poppins"/>
              <a:ea typeface="Poppins"/>
              <a:cs typeface="Poppins"/>
              <a:sym typeface="Poppins"/>
            </a:endParaRPr>
          </a:p>
        </p:txBody>
      </p:sp>
      <p:sp>
        <p:nvSpPr>
          <p:cNvPr id="4" name="TextBox 4"/>
          <p:cNvSpPr txBox="1"/>
          <p:nvPr/>
        </p:nvSpPr>
        <p:spPr>
          <a:xfrm>
            <a:off x="470629" y="759534"/>
            <a:ext cx="11303442" cy="3994686"/>
          </a:xfrm>
          <a:prstGeom prst="rect">
            <a:avLst/>
          </a:prstGeom>
        </p:spPr>
        <p:txBody>
          <a:bodyPr lIns="0" tIns="0" rIns="0" bIns="0" rtlCol="0" anchor="t">
            <a:spAutoFit/>
          </a:bodyPr>
          <a:lstStyle/>
          <a:p>
            <a:pPr algn="l">
              <a:lnSpc>
                <a:spcPts val="3707"/>
              </a:lnSpc>
            </a:pPr>
            <a:r>
              <a:rPr lang="en-US" sz="2391" b="1">
                <a:solidFill>
                  <a:srgbClr val="000000"/>
                </a:solidFill>
                <a:latin typeface="Poppins Bold"/>
                <a:ea typeface="Poppins Bold"/>
                <a:cs typeface="Poppins Bold"/>
                <a:sym typeface="Poppins Bold"/>
              </a:rPr>
              <a:t>2.START[N]PTR (Start Pointer)</a:t>
            </a:r>
          </a:p>
          <a:p>
            <a:pPr marL="557924" lvl="1" indent="-278962" algn="l">
              <a:lnSpc>
                <a:spcPts val="4005"/>
              </a:lnSpc>
              <a:buFont typeface="Arial"/>
              <a:buChar char="•"/>
            </a:pPr>
            <a:r>
              <a:rPr lang="en-US" sz="2584">
                <a:solidFill>
                  <a:srgbClr val="000000"/>
                </a:solidFill>
                <a:latin typeface="Poppins"/>
                <a:ea typeface="Poppins"/>
                <a:cs typeface="Poppins"/>
                <a:sym typeface="Poppins"/>
              </a:rPr>
              <a:t>Array of pointers for packet start positions inside the flit.</a:t>
            </a:r>
          </a:p>
          <a:p>
            <a:pPr marL="557924" lvl="1" indent="-278962" algn="l">
              <a:lnSpc>
                <a:spcPts val="4005"/>
              </a:lnSpc>
              <a:buFont typeface="Arial"/>
              <a:buChar char="•"/>
            </a:pPr>
            <a:r>
              <a:rPr lang="en-US" sz="2584">
                <a:solidFill>
                  <a:srgbClr val="000000"/>
                </a:solidFill>
                <a:latin typeface="Poppins"/>
                <a:ea typeface="Poppins"/>
                <a:cs typeface="Poppins"/>
                <a:sym typeface="Poppins"/>
              </a:rPr>
              <a:t>Pointer valid only if matching START[N] = 1.</a:t>
            </a:r>
          </a:p>
          <a:p>
            <a:pPr marL="557924" lvl="1" indent="-278962" algn="l">
              <a:lnSpc>
                <a:spcPts val="4005"/>
              </a:lnSpc>
              <a:buFont typeface="Arial"/>
              <a:buChar char="•"/>
            </a:pPr>
            <a:r>
              <a:rPr lang="en-US" sz="2584">
                <a:solidFill>
                  <a:srgbClr val="000000"/>
                </a:solidFill>
                <a:latin typeface="Poppins"/>
                <a:ea typeface="Poppins"/>
                <a:cs typeface="Poppins"/>
                <a:sym typeface="Poppins"/>
              </a:rPr>
              <a:t>All packet starts are 16-byte aligned.</a:t>
            </a:r>
          </a:p>
          <a:p>
            <a:pPr marL="557924" lvl="1" indent="-278962" algn="l">
              <a:lnSpc>
                <a:spcPts val="4005"/>
              </a:lnSpc>
              <a:buFont typeface="Arial"/>
              <a:buChar char="•"/>
            </a:pPr>
            <a:r>
              <a:rPr lang="en-US" sz="2584">
                <a:solidFill>
                  <a:srgbClr val="000000"/>
                </a:solidFill>
                <a:latin typeface="Poppins"/>
                <a:ea typeface="Poppins"/>
                <a:cs typeface="Poppins"/>
                <a:sym typeface="Poppins"/>
              </a:rPr>
              <a:t>Pointer width = log₂(CXSDATAFLITWIDTH / 128) bits.</a:t>
            </a:r>
          </a:p>
          <a:p>
            <a:pPr marL="557924" lvl="1" indent="-278962" algn="l">
              <a:lnSpc>
                <a:spcPts val="4005"/>
              </a:lnSpc>
              <a:buFont typeface="Arial"/>
              <a:buChar char="•"/>
            </a:pPr>
            <a:r>
              <a:rPr lang="en-US" sz="2584">
                <a:solidFill>
                  <a:srgbClr val="000000"/>
                </a:solidFill>
                <a:latin typeface="Poppins"/>
                <a:ea typeface="Poppins"/>
                <a:cs typeface="Poppins"/>
                <a:sym typeface="Poppins"/>
              </a:rPr>
              <a:t>Actual start byte = (START[N]PTR &lt;&lt; 4).</a:t>
            </a:r>
          </a:p>
          <a:p>
            <a:pPr marL="557924" lvl="1" indent="-278962" algn="l">
              <a:lnSpc>
                <a:spcPts val="4005"/>
              </a:lnSpc>
              <a:buFont typeface="Arial"/>
              <a:buChar char="•"/>
            </a:pPr>
            <a:r>
              <a:rPr lang="en-US" sz="2584">
                <a:solidFill>
                  <a:srgbClr val="000000"/>
                </a:solidFill>
                <a:latin typeface="Poppins"/>
                <a:ea typeface="Poppins"/>
                <a:cs typeface="Poppins"/>
                <a:sym typeface="Poppins"/>
              </a:rPr>
              <a:t>Pointers must be monotonically increasing</a:t>
            </a:r>
          </a:p>
          <a:p>
            <a:pPr marL="557924" lvl="1" indent="-278962" algn="l">
              <a:lnSpc>
                <a:spcPts val="4005"/>
              </a:lnSpc>
              <a:buFont typeface="Arial"/>
              <a:buChar char="•"/>
            </a:pPr>
            <a:r>
              <a:rPr lang="en-US" sz="2584">
                <a:solidFill>
                  <a:srgbClr val="000000"/>
                </a:solidFill>
                <a:latin typeface="Poppins"/>
                <a:ea typeface="Poppins"/>
                <a:cs typeface="Poppins"/>
                <a:sym typeface="Poppins"/>
              </a:rPr>
              <a:t> (START1PTR &gt; START0PTR).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470629" y="788109"/>
            <a:ext cx="11303442" cy="2865331"/>
          </a:xfrm>
          <a:prstGeom prst="rect">
            <a:avLst/>
          </a:prstGeom>
        </p:spPr>
        <p:txBody>
          <a:bodyPr lIns="0" tIns="0" rIns="0" bIns="0" rtlCol="0" anchor="t">
            <a:spAutoFit/>
          </a:bodyPr>
          <a:lstStyle/>
          <a:p>
            <a:pPr algn="l">
              <a:lnSpc>
                <a:spcPts val="3768"/>
              </a:lnSpc>
            </a:pPr>
            <a:r>
              <a:rPr lang="en-US" sz="2691" b="1">
                <a:solidFill>
                  <a:srgbClr val="000000"/>
                </a:solidFill>
                <a:latin typeface="Poppins Bold"/>
                <a:ea typeface="Poppins Bold"/>
                <a:cs typeface="Poppins Bold"/>
                <a:sym typeface="Poppins Bold"/>
              </a:rPr>
              <a:t>4.ENDERROR </a:t>
            </a:r>
          </a:p>
          <a:p>
            <a:pPr marL="581134" lvl="1" indent="-290567" algn="l">
              <a:lnSpc>
                <a:spcPts val="3768"/>
              </a:lnSpc>
              <a:buFont typeface="Arial"/>
              <a:buChar char="•"/>
            </a:pPr>
            <a:r>
              <a:rPr lang="en-US" sz="2691">
                <a:solidFill>
                  <a:srgbClr val="000000"/>
                </a:solidFill>
                <a:latin typeface="Poppins"/>
                <a:ea typeface="Poppins"/>
                <a:cs typeface="Poppins"/>
                <a:sym typeface="Poppins"/>
              </a:rPr>
              <a:t>Indicates error on packets ending in this flit.</a:t>
            </a:r>
          </a:p>
          <a:p>
            <a:pPr marL="581134" lvl="1" indent="-290567" algn="l">
              <a:lnSpc>
                <a:spcPts val="3768"/>
              </a:lnSpc>
              <a:buFont typeface="Arial"/>
              <a:buChar char="•"/>
            </a:pPr>
            <a:r>
              <a:rPr lang="en-US" sz="2691">
                <a:solidFill>
                  <a:srgbClr val="000000"/>
                </a:solidFill>
                <a:latin typeface="Poppins"/>
                <a:ea typeface="Poppins"/>
                <a:cs typeface="Poppins"/>
                <a:sym typeface="Poppins"/>
              </a:rPr>
              <a:t>Width = same as END.</a:t>
            </a:r>
          </a:p>
          <a:p>
            <a:pPr marL="581134" lvl="1" indent="-290567" algn="l">
              <a:lnSpc>
                <a:spcPts val="3768"/>
              </a:lnSpc>
              <a:buFont typeface="Arial"/>
              <a:buChar char="•"/>
            </a:pPr>
            <a:r>
              <a:rPr lang="en-US" sz="2691">
                <a:solidFill>
                  <a:srgbClr val="000000"/>
                </a:solidFill>
                <a:latin typeface="Poppins"/>
                <a:ea typeface="Poppins"/>
                <a:cs typeface="Poppins"/>
                <a:sym typeface="Poppins"/>
              </a:rPr>
              <a:t>ENDERROR[N] = 1 → Nth ending packet has error.</a:t>
            </a:r>
          </a:p>
          <a:p>
            <a:pPr marL="581134" lvl="1" indent="-290567" algn="l">
              <a:lnSpc>
                <a:spcPts val="3768"/>
              </a:lnSpc>
              <a:buFont typeface="Arial"/>
              <a:buChar char="•"/>
            </a:pPr>
            <a:r>
              <a:rPr lang="en-US" sz="2691">
                <a:solidFill>
                  <a:srgbClr val="000000"/>
                </a:solidFill>
                <a:latin typeface="Poppins"/>
                <a:ea typeface="Poppins"/>
                <a:cs typeface="Poppins"/>
                <a:sym typeface="Poppins"/>
              </a:rPr>
              <a:t>Rule: If ENDERROR[N] = 1, then END[N] must be 1.</a:t>
            </a:r>
          </a:p>
          <a:p>
            <a:pPr algn="l">
              <a:lnSpc>
                <a:spcPts val="3768"/>
              </a:lnSpc>
              <a:spcBef>
                <a:spcPct val="0"/>
              </a:spcBef>
            </a:pPr>
            <a:endParaRPr lang="en-US" sz="2691">
              <a:solidFill>
                <a:srgbClr val="000000"/>
              </a:solidFill>
              <a:latin typeface="Poppins"/>
              <a:ea typeface="Poppins"/>
              <a:cs typeface="Poppins"/>
              <a:sym typeface="Poppins"/>
            </a:endParaRPr>
          </a:p>
        </p:txBody>
      </p:sp>
      <p:sp>
        <p:nvSpPr>
          <p:cNvPr id="4" name="TextBox 4"/>
          <p:cNvSpPr txBox="1"/>
          <p:nvPr/>
        </p:nvSpPr>
        <p:spPr>
          <a:xfrm>
            <a:off x="604426" y="3963171"/>
            <a:ext cx="11303442" cy="3845136"/>
          </a:xfrm>
          <a:prstGeom prst="rect">
            <a:avLst/>
          </a:prstGeom>
        </p:spPr>
        <p:txBody>
          <a:bodyPr lIns="0" tIns="0" rIns="0" bIns="0" rtlCol="0" anchor="t">
            <a:spAutoFit/>
          </a:bodyPr>
          <a:lstStyle/>
          <a:p>
            <a:pPr algn="l">
              <a:lnSpc>
                <a:spcPts val="3908"/>
              </a:lnSpc>
            </a:pPr>
            <a:r>
              <a:rPr lang="en-US" sz="2791" b="1">
                <a:solidFill>
                  <a:srgbClr val="000000"/>
                </a:solidFill>
                <a:latin typeface="Poppins Bold"/>
                <a:ea typeface="Poppins Bold"/>
                <a:cs typeface="Poppins Bold"/>
                <a:sym typeface="Poppins Bold"/>
              </a:rPr>
              <a:t>5.END[N]PTR (End Pointer)</a:t>
            </a:r>
          </a:p>
          <a:p>
            <a:pPr marL="581134" lvl="1" indent="-290567" algn="l">
              <a:lnSpc>
                <a:spcPts val="3768"/>
              </a:lnSpc>
              <a:buFont typeface="Arial"/>
              <a:buChar char="•"/>
            </a:pPr>
            <a:r>
              <a:rPr lang="en-US" sz="2691">
                <a:solidFill>
                  <a:srgbClr val="000000"/>
                </a:solidFill>
                <a:latin typeface="Poppins"/>
                <a:ea typeface="Poppins"/>
                <a:cs typeface="Poppins"/>
                <a:sym typeface="Poppins"/>
              </a:rPr>
              <a:t>Pointer to the last 4 bytes of packet ending in this flit.</a:t>
            </a:r>
          </a:p>
          <a:p>
            <a:pPr marL="581134" lvl="1" indent="-290567" algn="l">
              <a:lnSpc>
                <a:spcPts val="3768"/>
              </a:lnSpc>
              <a:buFont typeface="Arial"/>
              <a:buChar char="•"/>
            </a:pPr>
            <a:r>
              <a:rPr lang="en-US" sz="2691">
                <a:solidFill>
                  <a:srgbClr val="000000"/>
                </a:solidFill>
                <a:latin typeface="Poppins"/>
                <a:ea typeface="Poppins"/>
                <a:cs typeface="Poppins"/>
                <a:sym typeface="Poppins"/>
              </a:rPr>
              <a:t>Valid only if END[N] = 1.</a:t>
            </a:r>
          </a:p>
          <a:p>
            <a:pPr marL="581134" lvl="1" indent="-290567" algn="l">
              <a:lnSpc>
                <a:spcPts val="3768"/>
              </a:lnSpc>
              <a:buFont typeface="Arial"/>
              <a:buChar char="•"/>
            </a:pPr>
            <a:r>
              <a:rPr lang="en-US" sz="2691">
                <a:solidFill>
                  <a:srgbClr val="000000"/>
                </a:solidFill>
                <a:latin typeface="Poppins"/>
                <a:ea typeface="Poppins"/>
                <a:cs typeface="Poppins"/>
                <a:sym typeface="Poppins"/>
              </a:rPr>
              <a:t>All packet ends are 4-byte aligned.</a:t>
            </a:r>
          </a:p>
          <a:p>
            <a:pPr marL="581134" lvl="1" indent="-290567" algn="l">
              <a:lnSpc>
                <a:spcPts val="3768"/>
              </a:lnSpc>
              <a:buFont typeface="Arial"/>
              <a:buChar char="•"/>
            </a:pPr>
            <a:r>
              <a:rPr lang="en-US" sz="2691">
                <a:solidFill>
                  <a:srgbClr val="000000"/>
                </a:solidFill>
                <a:latin typeface="Poppins"/>
                <a:ea typeface="Poppins"/>
                <a:cs typeface="Poppins"/>
                <a:sym typeface="Poppins"/>
              </a:rPr>
              <a:t>Pointer width = log₂(CXSDATAFLITWIDTH / 32) bits.</a:t>
            </a:r>
          </a:p>
          <a:p>
            <a:pPr marL="581134" lvl="1" indent="-290567" algn="l">
              <a:lnSpc>
                <a:spcPts val="3768"/>
              </a:lnSpc>
              <a:buFont typeface="Arial"/>
              <a:buChar char="•"/>
            </a:pPr>
            <a:r>
              <a:rPr lang="en-US" sz="2691">
                <a:solidFill>
                  <a:srgbClr val="000000"/>
                </a:solidFill>
                <a:latin typeface="Poppins"/>
                <a:ea typeface="Poppins"/>
                <a:cs typeface="Poppins"/>
                <a:sym typeface="Poppins"/>
              </a:rPr>
              <a:t>Pointers must be monotonically increasing</a:t>
            </a:r>
          </a:p>
          <a:p>
            <a:pPr marL="581134" lvl="1" indent="-290567" algn="l">
              <a:lnSpc>
                <a:spcPts val="3768"/>
              </a:lnSpc>
              <a:buFont typeface="Arial"/>
              <a:buChar char="•"/>
            </a:pPr>
            <a:r>
              <a:rPr lang="en-US" sz="2691">
                <a:solidFill>
                  <a:srgbClr val="000000"/>
                </a:solidFill>
                <a:latin typeface="Poppins"/>
                <a:ea typeface="Poppins"/>
                <a:cs typeface="Poppins"/>
                <a:sym typeface="Poppins"/>
              </a:rPr>
              <a:t> (END1PTR &gt; END0PTR).</a:t>
            </a:r>
          </a:p>
          <a:p>
            <a:pPr algn="l">
              <a:lnSpc>
                <a:spcPts val="3768"/>
              </a:lnSpc>
              <a:spcBef>
                <a:spcPct val="0"/>
              </a:spcBef>
            </a:pPr>
            <a:endParaRPr lang="en-US" sz="2691">
              <a:solidFill>
                <a:srgbClr val="000000"/>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aphicFrame>
        <p:nvGraphicFramePr>
          <p:cNvPr id="3" name="Object 3"/>
          <p:cNvGraphicFramePr/>
          <p:nvPr/>
        </p:nvGraphicFramePr>
        <p:xfrm>
          <a:off x="1205167" y="2489794"/>
          <a:ext cx="7543800" cy="5029200"/>
        </p:xfrm>
        <a:graphic>
          <a:graphicData uri="http://schemas.openxmlformats.org/presentationml/2006/ole">
            <mc:AlternateContent xmlns:mc="http://schemas.openxmlformats.org/markup-compatibility/2006">
              <mc:Choice xmlns:v="urn:schemas-microsoft-com:vml" Requires="v">
                <p:oleObj name="Worksheet" r:id="rId3" imgW="9042400" imgH="6527800" progId="Excel.Sheet.12">
                  <p:embed/>
                </p:oleObj>
              </mc:Choice>
              <mc:Fallback>
                <p:oleObj name="Worksheet" r:id="rId3" imgW="9042400" imgH="6527800" progId="Excel.Sheet.12">
                  <p:embed/>
                  <p:pic>
                    <p:nvPicPr>
                      <p:cNvPr id="0" name=""/>
                      <p:cNvPicPr/>
                      <p:nvPr/>
                    </p:nvPicPr>
                    <p:blipFill>
                      <a:blip r:embed="rId4"/>
                      <a:stretch>
                        <a:fillRect/>
                      </a:stretch>
                    </p:blipFill>
                    <p:spPr>
                      <a:xfrm>
                        <a:off x="1205167" y="2489794"/>
                        <a:ext cx="7543800" cy="5029200"/>
                      </a:xfrm>
                      <a:prstGeom prst="rect">
                        <a:avLst/>
                      </a:prstGeom>
                    </p:spPr>
                  </p:pic>
                </p:oleObj>
              </mc:Fallback>
            </mc:AlternateContent>
          </a:graphicData>
        </a:graphic>
      </p:graphicFrame>
      <p:sp>
        <p:nvSpPr>
          <p:cNvPr id="4" name="TextBox 4"/>
          <p:cNvSpPr txBox="1"/>
          <p:nvPr/>
        </p:nvSpPr>
        <p:spPr>
          <a:xfrm>
            <a:off x="500503" y="275542"/>
            <a:ext cx="14195653" cy="912915"/>
          </a:xfrm>
          <a:prstGeom prst="rect">
            <a:avLst/>
          </a:prstGeom>
        </p:spPr>
        <p:txBody>
          <a:bodyPr lIns="0" tIns="0" rIns="0" bIns="0" rtlCol="0" anchor="t">
            <a:spAutoFit/>
          </a:bodyPr>
          <a:lstStyle/>
          <a:p>
            <a:pPr algn="l">
              <a:lnSpc>
                <a:spcPts val="7431"/>
              </a:lnSpc>
            </a:pPr>
            <a:r>
              <a:rPr lang="en-US" sz="5308">
                <a:solidFill>
                  <a:srgbClr val="000000"/>
                </a:solidFill>
                <a:latin typeface="League Spartan"/>
                <a:ea typeface="League Spartan"/>
                <a:cs typeface="League Spartan"/>
                <a:sym typeface="League Spartan"/>
              </a:rPr>
              <a:t> PACKET CONTROL FIELD STRUCTURE</a:t>
            </a:r>
          </a:p>
        </p:txBody>
      </p:sp>
      <p:sp>
        <p:nvSpPr>
          <p:cNvPr id="5" name="TextBox 5"/>
          <p:cNvSpPr txBox="1"/>
          <p:nvPr/>
        </p:nvSpPr>
        <p:spPr>
          <a:xfrm>
            <a:off x="1028700" y="1438894"/>
            <a:ext cx="5634574" cy="746100"/>
          </a:xfrm>
          <a:prstGeom prst="rect">
            <a:avLst/>
          </a:prstGeom>
        </p:spPr>
        <p:txBody>
          <a:bodyPr lIns="0" tIns="0" rIns="0" bIns="0" rtlCol="0" anchor="t">
            <a:spAutoFit/>
          </a:bodyPr>
          <a:lstStyle/>
          <a:p>
            <a:pPr algn="l">
              <a:lnSpc>
                <a:spcPts val="2976"/>
              </a:lnSpc>
              <a:spcBef>
                <a:spcPct val="0"/>
              </a:spcBef>
            </a:pPr>
            <a:r>
              <a:rPr lang="en-US" sz="2125">
                <a:solidFill>
                  <a:srgbClr val="000000"/>
                </a:solidFill>
                <a:latin typeface="Poppins"/>
                <a:ea typeface="Poppins"/>
                <a:cs typeface="Poppins"/>
                <a:sym typeface="Poppins"/>
              </a:rPr>
              <a:t>CXSMAXPKTPERFLIT = 2, CXSDATAFLITWIDTH = 256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1028700" y="4634655"/>
            <a:ext cx="10548944" cy="912915"/>
          </a:xfrm>
          <a:prstGeom prst="rect">
            <a:avLst/>
          </a:prstGeom>
        </p:spPr>
        <p:txBody>
          <a:bodyPr lIns="0" tIns="0" rIns="0" bIns="0" rtlCol="0" anchor="t">
            <a:spAutoFit/>
          </a:bodyPr>
          <a:lstStyle/>
          <a:p>
            <a:pPr algn="l">
              <a:lnSpc>
                <a:spcPts val="7431"/>
              </a:lnSpc>
            </a:pPr>
            <a:r>
              <a:rPr lang="en-US" sz="5308" b="1">
                <a:solidFill>
                  <a:srgbClr val="000000"/>
                </a:solidFill>
                <a:latin typeface="League Spartan"/>
                <a:ea typeface="League Spartan"/>
                <a:cs typeface="League Spartan"/>
                <a:sym typeface="League Spartan"/>
              </a:rPr>
              <a:t> PACKET SIZE CONSTRAINTS</a:t>
            </a:r>
          </a:p>
        </p:txBody>
      </p:sp>
      <p:sp>
        <p:nvSpPr>
          <p:cNvPr id="4" name="TextBox 4"/>
          <p:cNvSpPr txBox="1"/>
          <p:nvPr/>
        </p:nvSpPr>
        <p:spPr>
          <a:xfrm>
            <a:off x="1884409" y="5665079"/>
            <a:ext cx="7829655" cy="1860525"/>
          </a:xfrm>
          <a:prstGeom prst="rect">
            <a:avLst/>
          </a:prstGeom>
        </p:spPr>
        <p:txBody>
          <a:bodyPr lIns="0" tIns="0" rIns="0" bIns="0" rtlCol="0" anchor="t">
            <a:spAutoFit/>
          </a:bodyPr>
          <a:lstStyle/>
          <a:p>
            <a:pPr algn="l">
              <a:lnSpc>
                <a:spcPts val="2976"/>
              </a:lnSpc>
            </a:pPr>
            <a:r>
              <a:rPr lang="en-US" sz="2125">
                <a:solidFill>
                  <a:srgbClr val="000000"/>
                </a:solidFill>
                <a:latin typeface="Poppins"/>
                <a:ea typeface="Poppins"/>
                <a:cs typeface="Poppins"/>
                <a:sym typeface="Poppins"/>
              </a:rPr>
              <a:t> A CXS interface transmits packets of data that meet the                 following requirements: </a:t>
            </a:r>
          </a:p>
          <a:p>
            <a:pPr algn="l">
              <a:lnSpc>
                <a:spcPts val="2976"/>
              </a:lnSpc>
            </a:pPr>
            <a:r>
              <a:rPr lang="en-US" sz="2125">
                <a:solidFill>
                  <a:srgbClr val="000000"/>
                </a:solidFill>
                <a:latin typeface="Poppins"/>
                <a:ea typeface="Poppins"/>
                <a:cs typeface="Poppins"/>
                <a:sym typeface="Poppins"/>
              </a:rPr>
              <a:t>• At least 4 bytes in size</a:t>
            </a:r>
          </a:p>
          <a:p>
            <a:pPr algn="l">
              <a:lnSpc>
                <a:spcPts val="2976"/>
              </a:lnSpc>
            </a:pPr>
            <a:r>
              <a:rPr lang="en-US" sz="2125">
                <a:solidFill>
                  <a:srgbClr val="000000"/>
                </a:solidFill>
                <a:latin typeface="Poppins"/>
                <a:ea typeface="Poppins"/>
                <a:cs typeface="Poppins"/>
                <a:sym typeface="Poppins"/>
              </a:rPr>
              <a:t> • A multiple of 4 bytes in size</a:t>
            </a:r>
          </a:p>
          <a:p>
            <a:pPr algn="l">
              <a:lnSpc>
                <a:spcPts val="2976"/>
              </a:lnSpc>
              <a:spcBef>
                <a:spcPct val="0"/>
              </a:spcBef>
            </a:pPr>
            <a:r>
              <a:rPr lang="en-US" sz="2125">
                <a:solidFill>
                  <a:srgbClr val="000000"/>
                </a:solidFill>
                <a:latin typeface="Poppins"/>
                <a:ea typeface="Poppins"/>
                <a:cs typeface="Poppins"/>
                <a:sym typeface="Poppins"/>
              </a:rPr>
              <a:t> • No upper limit on packet size</a:t>
            </a:r>
          </a:p>
        </p:txBody>
      </p:sp>
      <p:sp>
        <p:nvSpPr>
          <p:cNvPr id="5" name="AutoShape 5"/>
          <p:cNvSpPr/>
          <p:nvPr/>
        </p:nvSpPr>
        <p:spPr>
          <a:xfrm flipH="1">
            <a:off x="13938963" y="2414041"/>
            <a:ext cx="0" cy="1209190"/>
          </a:xfrm>
          <a:prstGeom prst="line">
            <a:avLst/>
          </a:prstGeom>
          <a:ln w="38100" cap="flat">
            <a:solidFill>
              <a:srgbClr val="000000"/>
            </a:solidFill>
            <a:prstDash val="solid"/>
            <a:headEnd type="none" w="sm" len="sm"/>
            <a:tailEnd type="none" w="sm" len="sm"/>
          </a:ln>
        </p:spPr>
      </p:sp>
      <p:sp>
        <p:nvSpPr>
          <p:cNvPr id="6" name="TextBox 6"/>
          <p:cNvSpPr txBox="1"/>
          <p:nvPr/>
        </p:nvSpPr>
        <p:spPr>
          <a:xfrm>
            <a:off x="15226288" y="1726784"/>
            <a:ext cx="187404" cy="481329"/>
          </a:xfrm>
          <a:prstGeom prst="rect">
            <a:avLst/>
          </a:prstGeom>
        </p:spPr>
        <p:txBody>
          <a:bodyPr lIns="0" tIns="0" rIns="0" bIns="0" rtlCol="0" anchor="t">
            <a:spAutoFit/>
          </a:bodyPr>
          <a:lstStyle/>
          <a:p>
            <a:pPr algn="ctr">
              <a:lnSpc>
                <a:spcPts val="3920"/>
              </a:lnSpc>
            </a:pPr>
            <a:r>
              <a:rPr lang="en-US" sz="2800" b="1">
                <a:solidFill>
                  <a:srgbClr val="000000"/>
                </a:solidFill>
                <a:latin typeface="Canva Sans Bold"/>
                <a:ea typeface="Canva Sans Bold"/>
                <a:cs typeface="Canva Sans Bold"/>
                <a:sym typeface="Canva Sans Bold"/>
              </a:rPr>
              <a:t>1</a:t>
            </a:r>
          </a:p>
        </p:txBody>
      </p:sp>
      <p:sp>
        <p:nvSpPr>
          <p:cNvPr id="7" name="TextBox 7"/>
          <p:cNvSpPr txBox="1"/>
          <p:nvPr/>
        </p:nvSpPr>
        <p:spPr>
          <a:xfrm>
            <a:off x="14182778" y="1726784"/>
            <a:ext cx="198120" cy="481329"/>
          </a:xfrm>
          <a:prstGeom prst="rect">
            <a:avLst/>
          </a:prstGeom>
        </p:spPr>
        <p:txBody>
          <a:bodyPr lIns="0" tIns="0" rIns="0" bIns="0" rtlCol="0" anchor="t">
            <a:spAutoFit/>
          </a:bodyPr>
          <a:lstStyle/>
          <a:p>
            <a:pPr algn="ctr">
              <a:lnSpc>
                <a:spcPts val="3920"/>
              </a:lnSpc>
            </a:pPr>
            <a:r>
              <a:rPr lang="en-US" sz="2800" b="1">
                <a:solidFill>
                  <a:srgbClr val="000000"/>
                </a:solidFill>
                <a:latin typeface="Canva Sans Bold"/>
                <a:ea typeface="Canva Sans Bold"/>
                <a:cs typeface="Canva Sans Bold"/>
                <a:sym typeface="Canva Sans Bold"/>
              </a:rPr>
              <a:t>2</a:t>
            </a:r>
          </a:p>
        </p:txBody>
      </p:sp>
      <p:sp>
        <p:nvSpPr>
          <p:cNvPr id="8" name="TextBox 8"/>
          <p:cNvSpPr txBox="1"/>
          <p:nvPr/>
        </p:nvSpPr>
        <p:spPr>
          <a:xfrm>
            <a:off x="12729360" y="1726784"/>
            <a:ext cx="210145" cy="481329"/>
          </a:xfrm>
          <a:prstGeom prst="rect">
            <a:avLst/>
          </a:prstGeom>
        </p:spPr>
        <p:txBody>
          <a:bodyPr lIns="0" tIns="0" rIns="0" bIns="0" rtlCol="0" anchor="t">
            <a:spAutoFit/>
          </a:bodyPr>
          <a:lstStyle/>
          <a:p>
            <a:pPr algn="ctr">
              <a:lnSpc>
                <a:spcPts val="3920"/>
              </a:lnSpc>
            </a:pPr>
            <a:r>
              <a:rPr lang="en-US" sz="2800" b="1">
                <a:solidFill>
                  <a:srgbClr val="000000"/>
                </a:solidFill>
                <a:latin typeface="Canva Sans Bold"/>
                <a:ea typeface="Canva Sans Bold"/>
                <a:cs typeface="Canva Sans Bold"/>
                <a:sym typeface="Canva Sans Bold"/>
              </a:rPr>
              <a:t>3</a:t>
            </a:r>
          </a:p>
        </p:txBody>
      </p:sp>
      <p:sp>
        <p:nvSpPr>
          <p:cNvPr id="9" name="TextBox 9"/>
          <p:cNvSpPr txBox="1"/>
          <p:nvPr/>
        </p:nvSpPr>
        <p:spPr>
          <a:xfrm>
            <a:off x="11462443" y="1726784"/>
            <a:ext cx="221218" cy="481329"/>
          </a:xfrm>
          <a:prstGeom prst="rect">
            <a:avLst/>
          </a:prstGeom>
        </p:spPr>
        <p:txBody>
          <a:bodyPr lIns="0" tIns="0" rIns="0" bIns="0" rtlCol="0" anchor="t">
            <a:spAutoFit/>
          </a:bodyPr>
          <a:lstStyle/>
          <a:p>
            <a:pPr algn="ctr">
              <a:lnSpc>
                <a:spcPts val="3920"/>
              </a:lnSpc>
            </a:pPr>
            <a:r>
              <a:rPr lang="en-US" sz="2800" b="1">
                <a:solidFill>
                  <a:srgbClr val="000000"/>
                </a:solidFill>
                <a:latin typeface="Canva Sans Bold"/>
                <a:ea typeface="Canva Sans Bold"/>
                <a:cs typeface="Canva Sans Bold"/>
                <a:sym typeface="Canva Sans Bold"/>
              </a:rPr>
              <a:t>4</a:t>
            </a:r>
          </a:p>
        </p:txBody>
      </p:sp>
      <p:sp>
        <p:nvSpPr>
          <p:cNvPr id="10" name="TextBox 10"/>
          <p:cNvSpPr txBox="1"/>
          <p:nvPr/>
        </p:nvSpPr>
        <p:spPr>
          <a:xfrm>
            <a:off x="10214013" y="1726784"/>
            <a:ext cx="213955" cy="481329"/>
          </a:xfrm>
          <a:prstGeom prst="rect">
            <a:avLst/>
          </a:prstGeom>
        </p:spPr>
        <p:txBody>
          <a:bodyPr lIns="0" tIns="0" rIns="0" bIns="0" rtlCol="0" anchor="t">
            <a:spAutoFit/>
          </a:bodyPr>
          <a:lstStyle/>
          <a:p>
            <a:pPr algn="ctr">
              <a:lnSpc>
                <a:spcPts val="3920"/>
              </a:lnSpc>
            </a:pPr>
            <a:r>
              <a:rPr lang="en-US" sz="2800" b="1">
                <a:solidFill>
                  <a:srgbClr val="000000"/>
                </a:solidFill>
                <a:latin typeface="Canva Sans Bold"/>
                <a:ea typeface="Canva Sans Bold"/>
                <a:cs typeface="Canva Sans Bold"/>
                <a:sym typeface="Canva Sans Bold"/>
              </a:rPr>
              <a:t>5</a:t>
            </a:r>
          </a:p>
        </p:txBody>
      </p:sp>
      <p:sp>
        <p:nvSpPr>
          <p:cNvPr id="11" name="TextBox 11"/>
          <p:cNvSpPr txBox="1"/>
          <p:nvPr/>
        </p:nvSpPr>
        <p:spPr>
          <a:xfrm>
            <a:off x="9157274" y="1726784"/>
            <a:ext cx="230624" cy="481329"/>
          </a:xfrm>
          <a:prstGeom prst="rect">
            <a:avLst/>
          </a:prstGeom>
        </p:spPr>
        <p:txBody>
          <a:bodyPr lIns="0" tIns="0" rIns="0" bIns="0" rtlCol="0" anchor="t">
            <a:spAutoFit/>
          </a:bodyPr>
          <a:lstStyle/>
          <a:p>
            <a:pPr algn="ctr">
              <a:lnSpc>
                <a:spcPts val="3920"/>
              </a:lnSpc>
            </a:pPr>
            <a:r>
              <a:rPr lang="en-US" sz="2800" b="1">
                <a:solidFill>
                  <a:srgbClr val="000000"/>
                </a:solidFill>
                <a:latin typeface="Canva Sans Bold"/>
                <a:ea typeface="Canva Sans Bold"/>
                <a:cs typeface="Canva Sans Bold"/>
                <a:sym typeface="Canva Sans Bold"/>
              </a:rPr>
              <a:t>6</a:t>
            </a:r>
          </a:p>
        </p:txBody>
      </p:sp>
      <p:sp>
        <p:nvSpPr>
          <p:cNvPr id="12" name="TextBox 12"/>
          <p:cNvSpPr txBox="1"/>
          <p:nvPr/>
        </p:nvSpPr>
        <p:spPr>
          <a:xfrm>
            <a:off x="7925751" y="1726784"/>
            <a:ext cx="180142" cy="481329"/>
          </a:xfrm>
          <a:prstGeom prst="rect">
            <a:avLst/>
          </a:prstGeom>
        </p:spPr>
        <p:txBody>
          <a:bodyPr lIns="0" tIns="0" rIns="0" bIns="0" rtlCol="0" anchor="t">
            <a:spAutoFit/>
          </a:bodyPr>
          <a:lstStyle/>
          <a:p>
            <a:pPr algn="ctr">
              <a:lnSpc>
                <a:spcPts val="3920"/>
              </a:lnSpc>
            </a:pPr>
            <a:r>
              <a:rPr lang="en-US" sz="2800" b="1">
                <a:solidFill>
                  <a:srgbClr val="000000"/>
                </a:solidFill>
                <a:latin typeface="Canva Sans Bold"/>
                <a:ea typeface="Canva Sans Bold"/>
                <a:cs typeface="Canva Sans Bold"/>
                <a:sym typeface="Canva Sans Bold"/>
              </a:rPr>
              <a:t>7</a:t>
            </a:r>
          </a:p>
        </p:txBody>
      </p:sp>
      <p:sp>
        <p:nvSpPr>
          <p:cNvPr id="13" name="TextBox 13"/>
          <p:cNvSpPr txBox="1"/>
          <p:nvPr/>
        </p:nvSpPr>
        <p:spPr>
          <a:xfrm>
            <a:off x="5331706" y="1726784"/>
            <a:ext cx="229553" cy="481329"/>
          </a:xfrm>
          <a:prstGeom prst="rect">
            <a:avLst/>
          </a:prstGeom>
        </p:spPr>
        <p:txBody>
          <a:bodyPr lIns="0" tIns="0" rIns="0" bIns="0" rtlCol="0" anchor="t">
            <a:spAutoFit/>
          </a:bodyPr>
          <a:lstStyle/>
          <a:p>
            <a:pPr algn="ctr">
              <a:lnSpc>
                <a:spcPts val="3920"/>
              </a:lnSpc>
            </a:pPr>
            <a:r>
              <a:rPr lang="en-US" sz="2800" b="1">
                <a:solidFill>
                  <a:srgbClr val="000000"/>
                </a:solidFill>
                <a:latin typeface="Canva Sans Bold"/>
                <a:ea typeface="Canva Sans Bold"/>
                <a:cs typeface="Canva Sans Bold"/>
                <a:sym typeface="Canva Sans Bold"/>
              </a:rPr>
              <a:t>9</a:t>
            </a:r>
          </a:p>
        </p:txBody>
      </p:sp>
      <p:sp>
        <p:nvSpPr>
          <p:cNvPr id="14" name="TextBox 14"/>
          <p:cNvSpPr txBox="1"/>
          <p:nvPr/>
        </p:nvSpPr>
        <p:spPr>
          <a:xfrm>
            <a:off x="6684941" y="1726784"/>
            <a:ext cx="217765" cy="481329"/>
          </a:xfrm>
          <a:prstGeom prst="rect">
            <a:avLst/>
          </a:prstGeom>
        </p:spPr>
        <p:txBody>
          <a:bodyPr lIns="0" tIns="0" rIns="0" bIns="0" rtlCol="0" anchor="t">
            <a:spAutoFit/>
          </a:bodyPr>
          <a:lstStyle/>
          <a:p>
            <a:pPr algn="ctr">
              <a:lnSpc>
                <a:spcPts val="3920"/>
              </a:lnSpc>
            </a:pPr>
            <a:r>
              <a:rPr lang="en-US" sz="2800" b="1">
                <a:solidFill>
                  <a:srgbClr val="000000"/>
                </a:solidFill>
                <a:latin typeface="Canva Sans Bold"/>
                <a:ea typeface="Canva Sans Bold"/>
                <a:cs typeface="Canva Sans Bold"/>
                <a:sym typeface="Canva Sans Bold"/>
              </a:rPr>
              <a:t>8</a:t>
            </a:r>
          </a:p>
        </p:txBody>
      </p:sp>
      <p:sp>
        <p:nvSpPr>
          <p:cNvPr id="15" name="TextBox 15"/>
          <p:cNvSpPr txBox="1"/>
          <p:nvPr/>
        </p:nvSpPr>
        <p:spPr>
          <a:xfrm>
            <a:off x="4175847" y="1726784"/>
            <a:ext cx="428863" cy="481329"/>
          </a:xfrm>
          <a:prstGeom prst="rect">
            <a:avLst/>
          </a:prstGeom>
        </p:spPr>
        <p:txBody>
          <a:bodyPr lIns="0" tIns="0" rIns="0" bIns="0" rtlCol="0" anchor="t">
            <a:spAutoFit/>
          </a:bodyPr>
          <a:lstStyle/>
          <a:p>
            <a:pPr algn="ctr">
              <a:lnSpc>
                <a:spcPts val="3920"/>
              </a:lnSpc>
            </a:pPr>
            <a:r>
              <a:rPr lang="en-US" sz="2800" b="1">
                <a:solidFill>
                  <a:srgbClr val="000000"/>
                </a:solidFill>
                <a:latin typeface="Canva Sans Bold"/>
                <a:ea typeface="Canva Sans Bold"/>
                <a:cs typeface="Canva Sans Bold"/>
                <a:sym typeface="Canva Sans Bold"/>
              </a:rPr>
              <a:t>10</a:t>
            </a:r>
          </a:p>
        </p:txBody>
      </p:sp>
      <p:sp>
        <p:nvSpPr>
          <p:cNvPr id="16" name="TextBox 16"/>
          <p:cNvSpPr txBox="1"/>
          <p:nvPr/>
        </p:nvSpPr>
        <p:spPr>
          <a:xfrm>
            <a:off x="1865260" y="1726784"/>
            <a:ext cx="385524" cy="481329"/>
          </a:xfrm>
          <a:prstGeom prst="rect">
            <a:avLst/>
          </a:prstGeom>
        </p:spPr>
        <p:txBody>
          <a:bodyPr lIns="0" tIns="0" rIns="0" bIns="0" rtlCol="0" anchor="t">
            <a:spAutoFit/>
          </a:bodyPr>
          <a:lstStyle/>
          <a:p>
            <a:pPr algn="ctr">
              <a:lnSpc>
                <a:spcPts val="3920"/>
              </a:lnSpc>
            </a:pPr>
            <a:r>
              <a:rPr lang="en-US" sz="2800" b="1">
                <a:solidFill>
                  <a:srgbClr val="000000"/>
                </a:solidFill>
                <a:latin typeface="Canva Sans Bold"/>
                <a:ea typeface="Canva Sans Bold"/>
                <a:cs typeface="Canva Sans Bold"/>
                <a:sym typeface="Canva Sans Bold"/>
              </a:rPr>
              <a:t>12</a:t>
            </a:r>
          </a:p>
        </p:txBody>
      </p:sp>
      <p:sp>
        <p:nvSpPr>
          <p:cNvPr id="17" name="TextBox 17"/>
          <p:cNvSpPr txBox="1"/>
          <p:nvPr/>
        </p:nvSpPr>
        <p:spPr>
          <a:xfrm>
            <a:off x="3170900" y="1726784"/>
            <a:ext cx="374690" cy="481329"/>
          </a:xfrm>
          <a:prstGeom prst="rect">
            <a:avLst/>
          </a:prstGeom>
        </p:spPr>
        <p:txBody>
          <a:bodyPr lIns="0" tIns="0" rIns="0" bIns="0" rtlCol="0" anchor="t">
            <a:spAutoFit/>
          </a:bodyPr>
          <a:lstStyle/>
          <a:p>
            <a:pPr algn="ctr">
              <a:lnSpc>
                <a:spcPts val="3920"/>
              </a:lnSpc>
            </a:pPr>
            <a:r>
              <a:rPr lang="en-US" sz="2800" b="1">
                <a:solidFill>
                  <a:srgbClr val="000000"/>
                </a:solidFill>
                <a:latin typeface="Canva Sans Bold"/>
                <a:ea typeface="Canva Sans Bold"/>
                <a:cs typeface="Canva Sans Bold"/>
                <a:sym typeface="Canva Sans Bold"/>
              </a:rPr>
              <a:t>11</a:t>
            </a:r>
          </a:p>
        </p:txBody>
      </p:sp>
      <p:sp>
        <p:nvSpPr>
          <p:cNvPr id="18" name="TextBox 18"/>
          <p:cNvSpPr txBox="1"/>
          <p:nvPr/>
        </p:nvSpPr>
        <p:spPr>
          <a:xfrm>
            <a:off x="648918" y="1726784"/>
            <a:ext cx="397431" cy="481329"/>
          </a:xfrm>
          <a:prstGeom prst="rect">
            <a:avLst/>
          </a:prstGeom>
        </p:spPr>
        <p:txBody>
          <a:bodyPr lIns="0" tIns="0" rIns="0" bIns="0" rtlCol="0" anchor="t">
            <a:spAutoFit/>
          </a:bodyPr>
          <a:lstStyle/>
          <a:p>
            <a:pPr algn="ctr">
              <a:lnSpc>
                <a:spcPts val="3920"/>
              </a:lnSpc>
            </a:pPr>
            <a:r>
              <a:rPr lang="en-US" sz="2800" b="1">
                <a:solidFill>
                  <a:srgbClr val="000000"/>
                </a:solidFill>
                <a:latin typeface="Canva Sans Bold"/>
                <a:ea typeface="Canva Sans Bold"/>
                <a:cs typeface="Canva Sans Bold"/>
                <a:sym typeface="Canva Sans Bold"/>
              </a:rPr>
              <a:t>13</a:t>
            </a:r>
          </a:p>
        </p:txBody>
      </p:sp>
      <p:sp>
        <p:nvSpPr>
          <p:cNvPr id="19" name="AutoShape 19"/>
          <p:cNvSpPr/>
          <p:nvPr/>
        </p:nvSpPr>
        <p:spPr>
          <a:xfrm flipH="1">
            <a:off x="15300940" y="2414041"/>
            <a:ext cx="0" cy="1209190"/>
          </a:xfrm>
          <a:prstGeom prst="line">
            <a:avLst/>
          </a:prstGeom>
          <a:ln w="38100" cap="flat">
            <a:solidFill>
              <a:srgbClr val="000000"/>
            </a:solidFill>
            <a:prstDash val="solid"/>
            <a:headEnd type="none" w="sm" len="sm"/>
            <a:tailEnd type="none" w="sm" len="sm"/>
          </a:ln>
        </p:spPr>
      </p:sp>
      <p:sp>
        <p:nvSpPr>
          <p:cNvPr id="20" name="AutoShape 20"/>
          <p:cNvSpPr/>
          <p:nvPr/>
        </p:nvSpPr>
        <p:spPr>
          <a:xfrm flipH="1">
            <a:off x="10340041" y="2414041"/>
            <a:ext cx="0" cy="1209190"/>
          </a:xfrm>
          <a:prstGeom prst="line">
            <a:avLst/>
          </a:prstGeom>
          <a:ln w="38100" cap="flat">
            <a:solidFill>
              <a:srgbClr val="000000"/>
            </a:solidFill>
            <a:prstDash val="solid"/>
            <a:headEnd type="none" w="sm" len="sm"/>
            <a:tailEnd type="none" w="sm" len="sm"/>
          </a:ln>
        </p:spPr>
      </p:sp>
      <p:sp>
        <p:nvSpPr>
          <p:cNvPr id="21" name="AutoShape 21"/>
          <p:cNvSpPr/>
          <p:nvPr/>
        </p:nvSpPr>
        <p:spPr>
          <a:xfrm flipH="1">
            <a:off x="12853483" y="2414041"/>
            <a:ext cx="0" cy="1209190"/>
          </a:xfrm>
          <a:prstGeom prst="line">
            <a:avLst/>
          </a:prstGeom>
          <a:ln w="38100" cap="flat">
            <a:solidFill>
              <a:srgbClr val="000000"/>
            </a:solidFill>
            <a:prstDash val="solid"/>
            <a:headEnd type="none" w="sm" len="sm"/>
            <a:tailEnd type="none" w="sm" len="sm"/>
          </a:ln>
        </p:spPr>
      </p:sp>
      <p:sp>
        <p:nvSpPr>
          <p:cNvPr id="22" name="AutoShape 22"/>
          <p:cNvSpPr/>
          <p:nvPr/>
        </p:nvSpPr>
        <p:spPr>
          <a:xfrm flipH="1">
            <a:off x="4371228" y="2414041"/>
            <a:ext cx="0" cy="1209190"/>
          </a:xfrm>
          <a:prstGeom prst="line">
            <a:avLst/>
          </a:prstGeom>
          <a:ln w="38100" cap="flat">
            <a:solidFill>
              <a:srgbClr val="000000"/>
            </a:solidFill>
            <a:prstDash val="solid"/>
            <a:headEnd type="none" w="sm" len="sm"/>
            <a:tailEnd type="none" w="sm" len="sm"/>
          </a:ln>
        </p:spPr>
      </p:sp>
      <p:sp>
        <p:nvSpPr>
          <p:cNvPr id="23" name="AutoShape 23"/>
          <p:cNvSpPr/>
          <p:nvPr/>
        </p:nvSpPr>
        <p:spPr>
          <a:xfrm flipH="1">
            <a:off x="7996772" y="2414041"/>
            <a:ext cx="0" cy="1209190"/>
          </a:xfrm>
          <a:prstGeom prst="line">
            <a:avLst/>
          </a:prstGeom>
          <a:ln w="38100" cap="flat">
            <a:solidFill>
              <a:srgbClr val="000000"/>
            </a:solidFill>
            <a:prstDash val="solid"/>
            <a:headEnd type="none" w="sm" len="sm"/>
            <a:tailEnd type="none" w="sm" len="sm"/>
          </a:ln>
        </p:spPr>
      </p:sp>
      <p:sp>
        <p:nvSpPr>
          <p:cNvPr id="24" name="TextBox 24"/>
          <p:cNvSpPr txBox="1"/>
          <p:nvPr/>
        </p:nvSpPr>
        <p:spPr>
          <a:xfrm>
            <a:off x="16202481" y="1726784"/>
            <a:ext cx="248126" cy="481329"/>
          </a:xfrm>
          <a:prstGeom prst="rect">
            <a:avLst/>
          </a:prstGeom>
        </p:spPr>
        <p:txBody>
          <a:bodyPr lIns="0" tIns="0" rIns="0" bIns="0" rtlCol="0" anchor="t">
            <a:spAutoFit/>
          </a:bodyPr>
          <a:lstStyle/>
          <a:p>
            <a:pPr algn="ctr">
              <a:lnSpc>
                <a:spcPts val="3920"/>
              </a:lnSpc>
            </a:pPr>
            <a:r>
              <a:rPr lang="en-US" sz="2800" b="1">
                <a:solidFill>
                  <a:srgbClr val="000000"/>
                </a:solidFill>
                <a:latin typeface="Canva Sans Bold"/>
                <a:ea typeface="Canva Sans Bold"/>
                <a:cs typeface="Canva Sans Bold"/>
                <a:sym typeface="Canva Sans Bold"/>
              </a:rPr>
              <a:t>0</a:t>
            </a:r>
          </a:p>
        </p:txBody>
      </p:sp>
      <p:sp>
        <p:nvSpPr>
          <p:cNvPr id="25" name="TextBox 25"/>
          <p:cNvSpPr txBox="1"/>
          <p:nvPr/>
        </p:nvSpPr>
        <p:spPr>
          <a:xfrm>
            <a:off x="15808563" y="2583407"/>
            <a:ext cx="1035963" cy="596899"/>
          </a:xfrm>
          <a:prstGeom prst="rect">
            <a:avLst/>
          </a:prstGeom>
        </p:spPr>
        <p:txBody>
          <a:bodyPr lIns="0" tIns="0" rIns="0" bIns="0" rtlCol="0" anchor="t">
            <a:spAutoFit/>
          </a:bodyPr>
          <a:lstStyle/>
          <a:p>
            <a:pPr algn="ctr">
              <a:lnSpc>
                <a:spcPts val="4900"/>
              </a:lnSpc>
            </a:pPr>
            <a:r>
              <a:rPr lang="en-US" sz="3500" b="1">
                <a:solidFill>
                  <a:srgbClr val="000000"/>
                </a:solidFill>
                <a:latin typeface="Canva Sans Bold"/>
                <a:ea typeface="Canva Sans Bold"/>
                <a:cs typeface="Canva Sans Bold"/>
                <a:sym typeface="Canva Sans Bold"/>
              </a:rPr>
              <a:t>start</a:t>
            </a:r>
          </a:p>
        </p:txBody>
      </p:sp>
      <p:sp>
        <p:nvSpPr>
          <p:cNvPr id="26" name="TextBox 26"/>
          <p:cNvSpPr txBox="1"/>
          <p:nvPr/>
        </p:nvSpPr>
        <p:spPr>
          <a:xfrm>
            <a:off x="1314418" y="2964407"/>
            <a:ext cx="2043827" cy="596899"/>
          </a:xfrm>
          <a:prstGeom prst="rect">
            <a:avLst/>
          </a:prstGeom>
        </p:spPr>
        <p:txBody>
          <a:bodyPr lIns="0" tIns="0" rIns="0" bIns="0" rtlCol="0" anchor="t">
            <a:spAutoFit/>
          </a:bodyPr>
          <a:lstStyle/>
          <a:p>
            <a:pPr algn="ctr">
              <a:lnSpc>
                <a:spcPts val="4900"/>
              </a:lnSpc>
            </a:pPr>
            <a:r>
              <a:rPr lang="en-US" sz="3500" b="1">
                <a:solidFill>
                  <a:srgbClr val="000000"/>
                </a:solidFill>
                <a:latin typeface="Canva Sans Bold"/>
                <a:ea typeface="Canva Sans Bold"/>
                <a:cs typeface="Canva Sans Bold"/>
                <a:sym typeface="Canva Sans Bold"/>
              </a:rPr>
              <a:t>END1PTR</a:t>
            </a:r>
          </a:p>
        </p:txBody>
      </p:sp>
      <p:sp>
        <p:nvSpPr>
          <p:cNvPr id="27" name="TextBox 27"/>
          <p:cNvSpPr txBox="1"/>
          <p:nvPr/>
        </p:nvSpPr>
        <p:spPr>
          <a:xfrm>
            <a:off x="5176627" y="2848519"/>
            <a:ext cx="2119789" cy="596899"/>
          </a:xfrm>
          <a:prstGeom prst="rect">
            <a:avLst/>
          </a:prstGeom>
        </p:spPr>
        <p:txBody>
          <a:bodyPr lIns="0" tIns="0" rIns="0" bIns="0" rtlCol="0" anchor="t">
            <a:spAutoFit/>
          </a:bodyPr>
          <a:lstStyle/>
          <a:p>
            <a:pPr algn="ctr">
              <a:lnSpc>
                <a:spcPts val="4900"/>
              </a:lnSpc>
            </a:pPr>
            <a:r>
              <a:rPr lang="en-US" sz="3500" b="1">
                <a:solidFill>
                  <a:srgbClr val="000000"/>
                </a:solidFill>
                <a:latin typeface="Canva Sans Bold"/>
                <a:ea typeface="Canva Sans Bold"/>
                <a:cs typeface="Canva Sans Bold"/>
                <a:sym typeface="Canva Sans Bold"/>
              </a:rPr>
              <a:t>END0PTR</a:t>
            </a:r>
          </a:p>
        </p:txBody>
      </p:sp>
      <p:sp>
        <p:nvSpPr>
          <p:cNvPr id="28" name="TextBox 28"/>
          <p:cNvSpPr txBox="1"/>
          <p:nvPr/>
        </p:nvSpPr>
        <p:spPr>
          <a:xfrm>
            <a:off x="8015822" y="2781845"/>
            <a:ext cx="2205871" cy="514349"/>
          </a:xfrm>
          <a:prstGeom prst="rect">
            <a:avLst/>
          </a:prstGeom>
        </p:spPr>
        <p:txBody>
          <a:bodyPr lIns="0" tIns="0" rIns="0" bIns="0" rtlCol="0" anchor="t">
            <a:spAutoFit/>
          </a:bodyPr>
          <a:lstStyle/>
          <a:p>
            <a:pPr algn="ctr">
              <a:lnSpc>
                <a:spcPts val="4200"/>
              </a:lnSpc>
            </a:pPr>
            <a:r>
              <a:rPr lang="en-US" sz="3000" b="1">
                <a:solidFill>
                  <a:srgbClr val="000000"/>
                </a:solidFill>
                <a:latin typeface="Canva Sans Bold"/>
                <a:ea typeface="Canva Sans Bold"/>
                <a:cs typeface="Canva Sans Bold"/>
                <a:sym typeface="Canva Sans Bold"/>
              </a:rPr>
              <a:t>END ERROR</a:t>
            </a:r>
          </a:p>
        </p:txBody>
      </p:sp>
      <p:sp>
        <p:nvSpPr>
          <p:cNvPr id="29" name="TextBox 29"/>
          <p:cNvSpPr txBox="1"/>
          <p:nvPr/>
        </p:nvSpPr>
        <p:spPr>
          <a:xfrm>
            <a:off x="10982443" y="2735807"/>
            <a:ext cx="960001" cy="596899"/>
          </a:xfrm>
          <a:prstGeom prst="rect">
            <a:avLst/>
          </a:prstGeom>
        </p:spPr>
        <p:txBody>
          <a:bodyPr lIns="0" tIns="0" rIns="0" bIns="0" rtlCol="0" anchor="t">
            <a:spAutoFit/>
          </a:bodyPr>
          <a:lstStyle/>
          <a:p>
            <a:pPr algn="ctr">
              <a:lnSpc>
                <a:spcPts val="4900"/>
              </a:lnSpc>
            </a:pPr>
            <a:r>
              <a:rPr lang="en-US" sz="3500" b="1">
                <a:solidFill>
                  <a:srgbClr val="000000"/>
                </a:solidFill>
                <a:latin typeface="Canva Sans Bold"/>
                <a:ea typeface="Canva Sans Bold"/>
                <a:cs typeface="Canva Sans Bold"/>
                <a:sym typeface="Canva Sans Bold"/>
              </a:rPr>
              <a:t>END</a:t>
            </a:r>
          </a:p>
        </p:txBody>
      </p:sp>
      <p:sp>
        <p:nvSpPr>
          <p:cNvPr id="30" name="TextBox 30"/>
          <p:cNvSpPr txBox="1"/>
          <p:nvPr/>
        </p:nvSpPr>
        <p:spPr>
          <a:xfrm>
            <a:off x="13025403" y="2583407"/>
            <a:ext cx="741640" cy="596899"/>
          </a:xfrm>
          <a:prstGeom prst="rect">
            <a:avLst/>
          </a:prstGeom>
        </p:spPr>
        <p:txBody>
          <a:bodyPr lIns="0" tIns="0" rIns="0" bIns="0" rtlCol="0" anchor="t">
            <a:spAutoFit/>
          </a:bodyPr>
          <a:lstStyle/>
          <a:p>
            <a:pPr algn="ctr">
              <a:lnSpc>
                <a:spcPts val="4900"/>
              </a:lnSpc>
            </a:pPr>
            <a:r>
              <a:rPr lang="en-US" sz="3500" b="1">
                <a:solidFill>
                  <a:srgbClr val="000000"/>
                </a:solidFill>
                <a:latin typeface="Canva Sans Bold"/>
                <a:ea typeface="Canva Sans Bold"/>
                <a:cs typeface="Canva Sans Bold"/>
                <a:sym typeface="Canva Sans Bold"/>
              </a:rPr>
              <a:t>s1p</a:t>
            </a:r>
          </a:p>
        </p:txBody>
      </p:sp>
      <p:sp>
        <p:nvSpPr>
          <p:cNvPr id="31" name="TextBox 31"/>
          <p:cNvSpPr txBox="1"/>
          <p:nvPr/>
        </p:nvSpPr>
        <p:spPr>
          <a:xfrm>
            <a:off x="14161132" y="2583407"/>
            <a:ext cx="817602" cy="596899"/>
          </a:xfrm>
          <a:prstGeom prst="rect">
            <a:avLst/>
          </a:prstGeom>
        </p:spPr>
        <p:txBody>
          <a:bodyPr lIns="0" tIns="0" rIns="0" bIns="0" rtlCol="0" anchor="t">
            <a:spAutoFit/>
          </a:bodyPr>
          <a:lstStyle/>
          <a:p>
            <a:pPr algn="ctr">
              <a:lnSpc>
                <a:spcPts val="4900"/>
              </a:lnSpc>
            </a:pPr>
            <a:r>
              <a:rPr lang="en-US" sz="3500" b="1">
                <a:solidFill>
                  <a:srgbClr val="000000"/>
                </a:solidFill>
                <a:latin typeface="Canva Sans Bold"/>
                <a:ea typeface="Canva Sans Bold"/>
                <a:cs typeface="Canva Sans Bold"/>
                <a:sym typeface="Canva Sans Bold"/>
              </a:rPr>
              <a:t>s0p</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623033" y="282500"/>
            <a:ext cx="17209037" cy="746200"/>
          </a:xfrm>
          <a:prstGeom prst="rect">
            <a:avLst/>
          </a:prstGeom>
        </p:spPr>
        <p:txBody>
          <a:bodyPr lIns="0" tIns="0" rIns="0" bIns="0" rtlCol="0" anchor="t">
            <a:spAutoFit/>
          </a:bodyPr>
          <a:lstStyle/>
          <a:p>
            <a:pPr algn="ctr">
              <a:lnSpc>
                <a:spcPts val="6120"/>
              </a:lnSpc>
            </a:pPr>
            <a:r>
              <a:rPr lang="en-US" sz="4372" b="1">
                <a:solidFill>
                  <a:srgbClr val="000000"/>
                </a:solidFill>
                <a:latin typeface="League Spartan"/>
                <a:ea typeface="League Spartan"/>
                <a:cs typeface="League Spartan"/>
                <a:sym typeface="League Spartan"/>
              </a:rPr>
              <a:t>INTERFACE CONTROL WITH EXPLICIT CREDIT RETURN</a:t>
            </a:r>
          </a:p>
        </p:txBody>
      </p:sp>
      <p:sp>
        <p:nvSpPr>
          <p:cNvPr id="4" name="TextBox 4"/>
          <p:cNvSpPr txBox="1"/>
          <p:nvPr/>
        </p:nvSpPr>
        <p:spPr>
          <a:xfrm>
            <a:off x="1168410" y="1250586"/>
            <a:ext cx="16442488" cy="2046103"/>
          </a:xfrm>
          <a:prstGeom prst="rect">
            <a:avLst/>
          </a:prstGeom>
        </p:spPr>
        <p:txBody>
          <a:bodyPr lIns="0" tIns="0" rIns="0" bIns="0" rtlCol="0" anchor="t">
            <a:spAutoFit/>
          </a:bodyPr>
          <a:lstStyle/>
          <a:p>
            <a:pPr marL="500837" lvl="1" indent="-250419" algn="l">
              <a:lnSpc>
                <a:spcPts val="3247"/>
              </a:lnSpc>
              <a:buFont typeface="Arial"/>
              <a:buChar char="•"/>
            </a:pPr>
            <a:r>
              <a:rPr lang="en-US" sz="2319">
                <a:solidFill>
                  <a:srgbClr val="303642"/>
                </a:solidFill>
                <a:latin typeface="Poppins"/>
                <a:ea typeface="Poppins"/>
                <a:cs typeface="Poppins"/>
                <a:sym typeface="Poppins"/>
              </a:rPr>
              <a:t>A CXS interface can be optionally configured to include signaling for activation and deactivation, using the CXSLINKCONTROL property. The property can be set to None or Explicit_Credit_Return. When the CXSLINKCONTROL property is set to None, there are no signals for interface activation and deactivation. This setting requires that the Receiver must always send credits when they are available, and the Transmitter must always be able to receive them.</a:t>
            </a:r>
          </a:p>
        </p:txBody>
      </p:sp>
      <p:sp>
        <p:nvSpPr>
          <p:cNvPr id="5" name="TextBox 5"/>
          <p:cNvSpPr txBox="1"/>
          <p:nvPr/>
        </p:nvSpPr>
        <p:spPr>
          <a:xfrm>
            <a:off x="1028700" y="4123242"/>
            <a:ext cx="12283836" cy="2455678"/>
          </a:xfrm>
          <a:prstGeom prst="rect">
            <a:avLst/>
          </a:prstGeom>
        </p:spPr>
        <p:txBody>
          <a:bodyPr lIns="0" tIns="0" rIns="0" bIns="0" rtlCol="0" anchor="t">
            <a:spAutoFit/>
          </a:bodyPr>
          <a:lstStyle/>
          <a:p>
            <a:pPr algn="l">
              <a:lnSpc>
                <a:spcPts val="3247"/>
              </a:lnSpc>
            </a:pPr>
            <a:r>
              <a:rPr lang="en-US" sz="2319" b="1">
                <a:solidFill>
                  <a:srgbClr val="303642"/>
                </a:solidFill>
                <a:latin typeface="Poppins Bold"/>
                <a:ea typeface="Poppins Bold"/>
                <a:cs typeface="Poppins Bold"/>
                <a:sym typeface="Poppins Bold"/>
              </a:rPr>
              <a:t>CXSCRDRTN – Credit Return</a:t>
            </a:r>
          </a:p>
          <a:p>
            <a:pPr marL="500837" lvl="1" indent="-250419" algn="l">
              <a:lnSpc>
                <a:spcPts val="3247"/>
              </a:lnSpc>
              <a:buFont typeface="Arial"/>
              <a:buChar char="•"/>
            </a:pPr>
            <a:r>
              <a:rPr lang="en-US" sz="2319">
                <a:solidFill>
                  <a:srgbClr val="303642"/>
                </a:solidFill>
                <a:latin typeface="Poppins"/>
                <a:ea typeface="Poppins"/>
                <a:cs typeface="Poppins"/>
                <a:sym typeface="Poppins"/>
              </a:rPr>
              <a:t>Direction: Transmitter → Receiver</a:t>
            </a:r>
          </a:p>
          <a:p>
            <a:pPr marL="500837" lvl="1" indent="-250419" algn="l">
              <a:lnSpc>
                <a:spcPts val="3247"/>
              </a:lnSpc>
              <a:buFont typeface="Arial"/>
              <a:buChar char="•"/>
            </a:pPr>
            <a:r>
              <a:rPr lang="en-US" sz="2319">
                <a:solidFill>
                  <a:srgbClr val="303642"/>
                </a:solidFill>
                <a:latin typeface="Poppins"/>
                <a:ea typeface="Poppins"/>
                <a:cs typeface="Poppins"/>
                <a:sym typeface="Poppins"/>
              </a:rPr>
              <a:t>Returned when transmitter does NOT use a previously granted credit</a:t>
            </a:r>
          </a:p>
          <a:p>
            <a:pPr marL="500837" lvl="1" indent="-250419" algn="l">
              <a:lnSpc>
                <a:spcPts val="3247"/>
              </a:lnSpc>
              <a:buFont typeface="Arial"/>
              <a:buChar char="•"/>
            </a:pPr>
            <a:r>
              <a:rPr lang="en-US" sz="2319">
                <a:solidFill>
                  <a:srgbClr val="303642"/>
                </a:solidFill>
                <a:latin typeface="Poppins"/>
                <a:ea typeface="Poppins"/>
                <a:cs typeface="Poppins"/>
                <a:sym typeface="Poppins"/>
              </a:rPr>
              <a:t>Can be asserted only when CXSVALID = 0</a:t>
            </a:r>
          </a:p>
          <a:p>
            <a:pPr marL="500837" lvl="1" indent="-250419" algn="l">
              <a:lnSpc>
                <a:spcPts val="3247"/>
              </a:lnSpc>
              <a:buFont typeface="Arial"/>
              <a:buChar char="•"/>
            </a:pPr>
            <a:r>
              <a:rPr lang="en-US" sz="2319">
                <a:solidFill>
                  <a:srgbClr val="303642"/>
                </a:solidFill>
                <a:latin typeface="Poppins"/>
                <a:ea typeface="Poppins"/>
                <a:cs typeface="Poppins"/>
                <a:sym typeface="Poppins"/>
              </a:rPr>
              <a:t>Helps receiver reuse credits early and maintain flow control efficiency</a:t>
            </a:r>
          </a:p>
          <a:p>
            <a:pPr algn="r">
              <a:lnSpc>
                <a:spcPts val="3247"/>
              </a:lnSpc>
              <a:spcBef>
                <a:spcPct val="0"/>
              </a:spcBef>
            </a:pPr>
            <a:endParaRPr lang="en-US" sz="2319">
              <a:solidFill>
                <a:srgbClr val="303642"/>
              </a:solidFill>
              <a:latin typeface="Poppins"/>
              <a:ea typeface="Poppins"/>
              <a:cs typeface="Poppins"/>
              <a:sym typeface="Poppins"/>
            </a:endParaRPr>
          </a:p>
        </p:txBody>
      </p:sp>
      <p:sp>
        <p:nvSpPr>
          <p:cNvPr id="6" name="TextBox 6"/>
          <p:cNvSpPr txBox="1"/>
          <p:nvPr/>
        </p:nvSpPr>
        <p:spPr>
          <a:xfrm>
            <a:off x="1028700" y="6563605"/>
            <a:ext cx="10832850" cy="2046103"/>
          </a:xfrm>
          <a:prstGeom prst="rect">
            <a:avLst/>
          </a:prstGeom>
        </p:spPr>
        <p:txBody>
          <a:bodyPr lIns="0" tIns="0" rIns="0" bIns="0" rtlCol="0" anchor="t">
            <a:spAutoFit/>
          </a:bodyPr>
          <a:lstStyle/>
          <a:p>
            <a:pPr algn="just">
              <a:lnSpc>
                <a:spcPts val="3247"/>
              </a:lnSpc>
            </a:pPr>
            <a:r>
              <a:rPr lang="en-US" sz="2319" b="1">
                <a:solidFill>
                  <a:srgbClr val="303642"/>
                </a:solidFill>
                <a:latin typeface="Poppins Bold"/>
                <a:ea typeface="Poppins Bold"/>
                <a:cs typeface="Poppins Bold"/>
                <a:sym typeface="Poppins Bold"/>
              </a:rPr>
              <a:t>CXSACTIVEREQ – Link Activation Request</a:t>
            </a:r>
          </a:p>
          <a:p>
            <a:pPr marL="500837" lvl="1" indent="-250419" algn="just">
              <a:lnSpc>
                <a:spcPts val="3247"/>
              </a:lnSpc>
              <a:buFont typeface="Arial"/>
              <a:buChar char="•"/>
            </a:pPr>
            <a:r>
              <a:rPr lang="en-US" sz="2319">
                <a:solidFill>
                  <a:srgbClr val="303642"/>
                </a:solidFill>
                <a:latin typeface="Poppins"/>
                <a:ea typeface="Poppins"/>
                <a:cs typeface="Poppins"/>
                <a:sym typeface="Poppins"/>
              </a:rPr>
              <a:t>Direction: Transmitter → Receiver</a:t>
            </a:r>
          </a:p>
          <a:p>
            <a:pPr marL="500837" lvl="1" indent="-250419" algn="just">
              <a:lnSpc>
                <a:spcPts val="3247"/>
              </a:lnSpc>
              <a:buFont typeface="Arial"/>
              <a:buChar char="•"/>
            </a:pPr>
            <a:r>
              <a:rPr lang="en-US" sz="2319">
                <a:solidFill>
                  <a:srgbClr val="303642"/>
                </a:solidFill>
                <a:latin typeface="Poppins"/>
                <a:ea typeface="Poppins"/>
                <a:cs typeface="Poppins"/>
                <a:sym typeface="Poppins"/>
              </a:rPr>
              <a:t>Used to request activation or deactivation of the CXS link</a:t>
            </a:r>
          </a:p>
          <a:p>
            <a:pPr marL="500837" lvl="1" indent="-250419" algn="just">
              <a:lnSpc>
                <a:spcPts val="3247"/>
              </a:lnSpc>
              <a:buFont typeface="Arial"/>
              <a:buChar char="•"/>
            </a:pPr>
            <a:r>
              <a:rPr lang="en-US" sz="2319">
                <a:solidFill>
                  <a:srgbClr val="303642"/>
                </a:solidFill>
                <a:latin typeface="Poppins"/>
                <a:ea typeface="Poppins"/>
                <a:cs typeface="Poppins"/>
                <a:sym typeface="Poppins"/>
              </a:rPr>
              <a:t>Initiates link state transitions (STOP → ACTIVATE → RUN)</a:t>
            </a:r>
          </a:p>
          <a:p>
            <a:pPr algn="ctr">
              <a:lnSpc>
                <a:spcPts val="3247"/>
              </a:lnSpc>
              <a:spcBef>
                <a:spcPct val="0"/>
              </a:spcBef>
            </a:pPr>
            <a:endParaRPr lang="en-US" sz="2319">
              <a:solidFill>
                <a:srgbClr val="303642"/>
              </a:solidFill>
              <a:latin typeface="Poppins"/>
              <a:ea typeface="Poppins"/>
              <a:cs typeface="Poppins"/>
              <a:sym typeface="Poppins"/>
            </a:endParaRPr>
          </a:p>
        </p:txBody>
      </p:sp>
      <p:sp>
        <p:nvSpPr>
          <p:cNvPr id="7" name="TextBox 7"/>
          <p:cNvSpPr txBox="1"/>
          <p:nvPr/>
        </p:nvSpPr>
        <p:spPr>
          <a:xfrm>
            <a:off x="-1557031" y="3423054"/>
            <a:ext cx="16584045" cy="481114"/>
          </a:xfrm>
          <a:prstGeom prst="rect">
            <a:avLst/>
          </a:prstGeom>
        </p:spPr>
        <p:txBody>
          <a:bodyPr lIns="0" tIns="0" rIns="0" bIns="0" rtlCol="0" anchor="t">
            <a:spAutoFit/>
          </a:bodyPr>
          <a:lstStyle/>
          <a:p>
            <a:pPr algn="ctr">
              <a:lnSpc>
                <a:spcPts val="3931"/>
              </a:lnSpc>
              <a:spcBef>
                <a:spcPct val="0"/>
              </a:spcBef>
            </a:pPr>
            <a:r>
              <a:rPr lang="en-US" sz="2808" b="1">
                <a:solidFill>
                  <a:srgbClr val="000000"/>
                </a:solidFill>
                <a:latin typeface="League Spartan"/>
                <a:ea typeface="League Spartan"/>
                <a:cs typeface="League Spartan"/>
                <a:sym typeface="League Spartan"/>
              </a:rPr>
              <a:t>SIGNALS FOR LINK CONTROL USING EXPLICIT CREDIT RETURN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1028700" y="3057903"/>
            <a:ext cx="9719404" cy="3172607"/>
          </a:xfrm>
          <a:prstGeom prst="rect">
            <a:avLst/>
          </a:prstGeom>
        </p:spPr>
        <p:txBody>
          <a:bodyPr lIns="0" tIns="0" rIns="0" bIns="0" rtlCol="0" anchor="t">
            <a:spAutoFit/>
          </a:bodyPr>
          <a:lstStyle/>
          <a:p>
            <a:pPr algn="l">
              <a:lnSpc>
                <a:spcPts val="4210"/>
              </a:lnSpc>
            </a:pPr>
            <a:r>
              <a:rPr lang="en-US" sz="2325" b="1">
                <a:solidFill>
                  <a:srgbClr val="000000"/>
                </a:solidFill>
                <a:latin typeface="Poppins Bold"/>
                <a:ea typeface="Poppins Bold"/>
                <a:cs typeface="Poppins Bold"/>
                <a:sym typeface="Poppins Bold"/>
              </a:rPr>
              <a:t>CXSDEACTHINT – Deactivation Hint</a:t>
            </a:r>
          </a:p>
          <a:p>
            <a:pPr marL="502176" lvl="1" indent="-251088" algn="l">
              <a:lnSpc>
                <a:spcPts val="4210"/>
              </a:lnSpc>
              <a:buFont typeface="Arial"/>
              <a:buChar char="•"/>
            </a:pPr>
            <a:r>
              <a:rPr lang="en-US" sz="2325">
                <a:solidFill>
                  <a:srgbClr val="000000"/>
                </a:solidFill>
                <a:latin typeface="Poppins"/>
                <a:ea typeface="Poppins"/>
                <a:cs typeface="Poppins"/>
                <a:sym typeface="Poppins"/>
              </a:rPr>
              <a:t>Direction: Receiver → Transmitter</a:t>
            </a:r>
          </a:p>
          <a:p>
            <a:pPr marL="502176" lvl="1" indent="-251088" algn="l">
              <a:lnSpc>
                <a:spcPts val="4210"/>
              </a:lnSpc>
              <a:buFont typeface="Arial"/>
              <a:buChar char="•"/>
            </a:pPr>
            <a:r>
              <a:rPr lang="en-US" sz="2325">
                <a:solidFill>
                  <a:srgbClr val="000000"/>
                </a:solidFill>
                <a:latin typeface="Poppins"/>
                <a:ea typeface="Poppins"/>
                <a:cs typeface="Poppins"/>
                <a:sym typeface="Poppins"/>
              </a:rPr>
              <a:t>Receiver indicates it would like the link to be deactivated soon</a:t>
            </a:r>
          </a:p>
          <a:p>
            <a:pPr marL="502176" lvl="1" indent="-251088" algn="l">
              <a:lnSpc>
                <a:spcPts val="4210"/>
              </a:lnSpc>
              <a:buFont typeface="Arial"/>
              <a:buChar char="•"/>
            </a:pPr>
            <a:r>
              <a:rPr lang="en-US" sz="2325">
                <a:solidFill>
                  <a:srgbClr val="000000"/>
                </a:solidFill>
                <a:latin typeface="Poppins"/>
                <a:ea typeface="Poppins"/>
                <a:cs typeface="Poppins"/>
                <a:sym typeface="Poppins"/>
              </a:rPr>
              <a:t>Used for power saving or idle-time optimization</a:t>
            </a:r>
          </a:p>
          <a:p>
            <a:pPr marL="502176" lvl="1" indent="-251088" algn="l">
              <a:lnSpc>
                <a:spcPts val="4210"/>
              </a:lnSpc>
              <a:buFont typeface="Arial"/>
              <a:buChar char="•"/>
            </a:pPr>
            <a:r>
              <a:rPr lang="en-US" sz="2325">
                <a:solidFill>
                  <a:srgbClr val="000000"/>
                </a:solidFill>
                <a:latin typeface="Poppins"/>
                <a:ea typeface="Poppins"/>
                <a:cs typeface="Poppins"/>
                <a:sym typeface="Poppins"/>
              </a:rPr>
              <a:t>Does not force deactivation — transmitter decides when safe</a:t>
            </a:r>
          </a:p>
          <a:p>
            <a:pPr algn="l">
              <a:lnSpc>
                <a:spcPts val="4210"/>
              </a:lnSpc>
            </a:pPr>
            <a:endParaRPr lang="en-US" sz="2325">
              <a:solidFill>
                <a:srgbClr val="000000"/>
              </a:solidFill>
              <a:latin typeface="Poppins"/>
              <a:ea typeface="Poppins"/>
              <a:cs typeface="Poppins"/>
              <a:sym typeface="Poppins"/>
            </a:endParaRPr>
          </a:p>
        </p:txBody>
      </p:sp>
      <p:sp>
        <p:nvSpPr>
          <p:cNvPr id="4" name="TextBox 4"/>
          <p:cNvSpPr txBox="1"/>
          <p:nvPr/>
        </p:nvSpPr>
        <p:spPr>
          <a:xfrm>
            <a:off x="790450" y="667672"/>
            <a:ext cx="9105526" cy="2542631"/>
          </a:xfrm>
          <a:prstGeom prst="rect">
            <a:avLst/>
          </a:prstGeom>
        </p:spPr>
        <p:txBody>
          <a:bodyPr lIns="0" tIns="0" rIns="0" bIns="0" rtlCol="0" anchor="t">
            <a:spAutoFit/>
          </a:bodyPr>
          <a:lstStyle/>
          <a:p>
            <a:pPr algn="l">
              <a:lnSpc>
                <a:spcPts val="4070"/>
              </a:lnSpc>
            </a:pPr>
            <a:r>
              <a:rPr lang="en-US" sz="2325" b="1">
                <a:solidFill>
                  <a:srgbClr val="000000"/>
                </a:solidFill>
                <a:latin typeface="Poppins Bold"/>
                <a:ea typeface="Poppins Bold"/>
                <a:cs typeface="Poppins Bold"/>
                <a:sym typeface="Poppins Bold"/>
              </a:rPr>
              <a:t>CXSACTIVEACK – Link Activation Acknowledge</a:t>
            </a:r>
          </a:p>
          <a:p>
            <a:pPr marL="502176" lvl="1" indent="-251088" algn="l">
              <a:lnSpc>
                <a:spcPts val="4070"/>
              </a:lnSpc>
              <a:buFont typeface="Arial"/>
              <a:buChar char="•"/>
            </a:pPr>
            <a:r>
              <a:rPr lang="en-US" sz="2325">
                <a:solidFill>
                  <a:srgbClr val="000000"/>
                </a:solidFill>
                <a:latin typeface="Poppins"/>
                <a:ea typeface="Poppins"/>
                <a:cs typeface="Poppins"/>
                <a:sym typeface="Poppins"/>
              </a:rPr>
              <a:t>Direction: Receiver → Transmitter</a:t>
            </a:r>
          </a:p>
          <a:p>
            <a:pPr marL="502176" lvl="1" indent="-251088" algn="l">
              <a:lnSpc>
                <a:spcPts val="4070"/>
              </a:lnSpc>
              <a:buFont typeface="Arial"/>
              <a:buChar char="•"/>
            </a:pPr>
            <a:r>
              <a:rPr lang="en-US" sz="2325">
                <a:solidFill>
                  <a:srgbClr val="000000"/>
                </a:solidFill>
                <a:latin typeface="Poppins"/>
                <a:ea typeface="Poppins"/>
                <a:cs typeface="Poppins"/>
                <a:sym typeface="Poppins"/>
              </a:rPr>
              <a:t>Confirms the transmitter's activation/deactivation request</a:t>
            </a:r>
          </a:p>
          <a:p>
            <a:pPr marL="502176" lvl="1" indent="-251088" algn="l">
              <a:lnSpc>
                <a:spcPts val="4070"/>
              </a:lnSpc>
              <a:buFont typeface="Arial"/>
              <a:buChar char="•"/>
            </a:pPr>
            <a:r>
              <a:rPr lang="en-US" sz="2325">
                <a:solidFill>
                  <a:srgbClr val="000000"/>
                </a:solidFill>
                <a:latin typeface="Poppins"/>
                <a:ea typeface="Poppins"/>
                <a:cs typeface="Poppins"/>
                <a:sym typeface="Poppins"/>
              </a:rPr>
              <a:t>Ensures both sides remain in the same link state</a:t>
            </a:r>
          </a:p>
          <a:p>
            <a:pPr algn="l">
              <a:lnSpc>
                <a:spcPts val="4070"/>
              </a:lnSpc>
            </a:pPr>
            <a:endParaRPr lang="en-US" sz="2325">
              <a:solidFill>
                <a:srgbClr val="000000"/>
              </a:solidFill>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5749131" y="3627726"/>
            <a:ext cx="7831471" cy="5375447"/>
          </a:xfrm>
          <a:custGeom>
            <a:avLst/>
            <a:gdLst/>
            <a:ahLst/>
            <a:cxnLst/>
            <a:rect l="l" t="t" r="r" b="b"/>
            <a:pathLst>
              <a:path w="7831471" h="5375447">
                <a:moveTo>
                  <a:pt x="0" y="0"/>
                </a:moveTo>
                <a:lnTo>
                  <a:pt x="7831471" y="0"/>
                </a:lnTo>
                <a:lnTo>
                  <a:pt x="7831471" y="5375448"/>
                </a:lnTo>
                <a:lnTo>
                  <a:pt x="0" y="5375448"/>
                </a:lnTo>
                <a:lnTo>
                  <a:pt x="0" y="0"/>
                </a:lnTo>
                <a:close/>
              </a:path>
            </a:pathLst>
          </a:custGeom>
          <a:blipFill>
            <a:blip r:embed="rId3"/>
            <a:stretch>
              <a:fillRect/>
            </a:stretch>
          </a:blipFill>
        </p:spPr>
      </p:sp>
      <p:sp>
        <p:nvSpPr>
          <p:cNvPr id="4" name="TextBox 4"/>
          <p:cNvSpPr txBox="1"/>
          <p:nvPr/>
        </p:nvSpPr>
        <p:spPr>
          <a:xfrm>
            <a:off x="489231" y="290410"/>
            <a:ext cx="14969124" cy="738290"/>
          </a:xfrm>
          <a:prstGeom prst="rect">
            <a:avLst/>
          </a:prstGeom>
        </p:spPr>
        <p:txBody>
          <a:bodyPr lIns="0" tIns="0" rIns="0" bIns="0" rtlCol="0" anchor="t">
            <a:spAutoFit/>
          </a:bodyPr>
          <a:lstStyle/>
          <a:p>
            <a:pPr algn="l">
              <a:lnSpc>
                <a:spcPts val="6031"/>
              </a:lnSpc>
            </a:pPr>
            <a:r>
              <a:rPr lang="en-US" sz="4308">
                <a:solidFill>
                  <a:srgbClr val="000000"/>
                </a:solidFill>
                <a:latin typeface="League Spartan"/>
                <a:ea typeface="League Spartan"/>
                <a:cs typeface="League Spartan"/>
                <a:sym typeface="League Spartan"/>
              </a:rPr>
              <a:t> REQUEST AND ACKNOWLEDGMENT HANDSHAKING</a:t>
            </a:r>
          </a:p>
        </p:txBody>
      </p:sp>
      <p:sp>
        <p:nvSpPr>
          <p:cNvPr id="5" name="TextBox 5"/>
          <p:cNvSpPr txBox="1"/>
          <p:nvPr/>
        </p:nvSpPr>
        <p:spPr>
          <a:xfrm>
            <a:off x="1307736" y="1228060"/>
            <a:ext cx="12100509" cy="817220"/>
          </a:xfrm>
          <a:prstGeom prst="rect">
            <a:avLst/>
          </a:prstGeom>
        </p:spPr>
        <p:txBody>
          <a:bodyPr lIns="0" tIns="0" rIns="0" bIns="0" rtlCol="0" anchor="t">
            <a:spAutoFit/>
          </a:bodyPr>
          <a:lstStyle/>
          <a:p>
            <a:pPr marL="502176" lvl="1" indent="-251088" algn="l">
              <a:lnSpc>
                <a:spcPts val="3256"/>
              </a:lnSpc>
              <a:buFont typeface="Arial"/>
              <a:buChar char="•"/>
            </a:pPr>
            <a:r>
              <a:rPr lang="en-US" sz="2325">
                <a:solidFill>
                  <a:srgbClr val="000000"/>
                </a:solidFill>
                <a:latin typeface="Poppins"/>
                <a:ea typeface="Poppins"/>
                <a:cs typeface="Poppins"/>
                <a:sym typeface="Poppins"/>
              </a:rPr>
              <a:t> Request and acknowledge handshaking uses CXSACTIVEREQ and CXSACTIVEACK as primary signals. </a:t>
            </a:r>
          </a:p>
        </p:txBody>
      </p:sp>
      <p:sp>
        <p:nvSpPr>
          <p:cNvPr id="6" name="TextBox 6"/>
          <p:cNvSpPr txBox="1"/>
          <p:nvPr/>
        </p:nvSpPr>
        <p:spPr>
          <a:xfrm>
            <a:off x="1958819" y="2601134"/>
            <a:ext cx="14969124" cy="563664"/>
          </a:xfrm>
          <a:prstGeom prst="rect">
            <a:avLst/>
          </a:prstGeom>
        </p:spPr>
        <p:txBody>
          <a:bodyPr lIns="0" tIns="0" rIns="0" bIns="0" rtlCol="0" anchor="t">
            <a:spAutoFit/>
          </a:bodyPr>
          <a:lstStyle/>
          <a:p>
            <a:pPr algn="l">
              <a:lnSpc>
                <a:spcPts val="4631"/>
              </a:lnSpc>
            </a:pPr>
            <a:r>
              <a:rPr lang="en-US" sz="3308">
                <a:solidFill>
                  <a:srgbClr val="000000"/>
                </a:solidFill>
                <a:latin typeface="League Spartan"/>
                <a:ea typeface="League Spartan"/>
                <a:cs typeface="League Spartan"/>
                <a:sym typeface="League Spartan"/>
              </a:rPr>
              <a:t> FOUR STATES ARE DEFINED FOR THE INTERFACE OPERATION:</a:t>
            </a:r>
          </a:p>
        </p:txBody>
      </p:sp>
      <p:sp>
        <p:nvSpPr>
          <p:cNvPr id="7" name="TextBox 7"/>
          <p:cNvSpPr txBox="1"/>
          <p:nvPr/>
        </p:nvSpPr>
        <p:spPr>
          <a:xfrm>
            <a:off x="2241436" y="3364823"/>
            <a:ext cx="12100509" cy="1489050"/>
          </a:xfrm>
          <a:prstGeom prst="rect">
            <a:avLst/>
          </a:prstGeom>
        </p:spPr>
        <p:txBody>
          <a:bodyPr lIns="0" tIns="0" rIns="0" bIns="0" rtlCol="0" anchor="t">
            <a:spAutoFit/>
          </a:bodyPr>
          <a:lstStyle/>
          <a:p>
            <a:pPr marL="458997" lvl="1" indent="-229499" algn="l">
              <a:lnSpc>
                <a:spcPts val="2976"/>
              </a:lnSpc>
              <a:buFont typeface="Arial"/>
              <a:buChar char="•"/>
            </a:pPr>
            <a:r>
              <a:rPr lang="en-US" sz="2125" b="1">
                <a:solidFill>
                  <a:srgbClr val="000000"/>
                </a:solidFill>
                <a:latin typeface="Poppins Bold"/>
                <a:ea typeface="Poppins Bold"/>
                <a:cs typeface="Poppins Bold"/>
                <a:sym typeface="Poppins Bold"/>
              </a:rPr>
              <a:t>stop state</a:t>
            </a:r>
          </a:p>
          <a:p>
            <a:pPr marL="458997" lvl="1" indent="-229499" algn="l">
              <a:lnSpc>
                <a:spcPts val="2976"/>
              </a:lnSpc>
              <a:buFont typeface="Arial"/>
              <a:buChar char="•"/>
            </a:pPr>
            <a:r>
              <a:rPr lang="en-US" sz="2125" b="1">
                <a:solidFill>
                  <a:srgbClr val="000000"/>
                </a:solidFill>
                <a:latin typeface="Poppins Bold"/>
                <a:ea typeface="Poppins Bold"/>
                <a:cs typeface="Poppins Bold"/>
                <a:sym typeface="Poppins Bold"/>
              </a:rPr>
              <a:t>Active state</a:t>
            </a:r>
          </a:p>
          <a:p>
            <a:pPr marL="458997" lvl="1" indent="-229499" algn="l">
              <a:lnSpc>
                <a:spcPts val="2976"/>
              </a:lnSpc>
              <a:buFont typeface="Arial"/>
              <a:buChar char="•"/>
            </a:pPr>
            <a:r>
              <a:rPr lang="en-US" sz="2125" b="1">
                <a:solidFill>
                  <a:srgbClr val="000000"/>
                </a:solidFill>
                <a:latin typeface="Poppins Bold"/>
                <a:ea typeface="Poppins Bold"/>
                <a:cs typeface="Poppins Bold"/>
                <a:sym typeface="Poppins Bold"/>
              </a:rPr>
              <a:t>Run state</a:t>
            </a:r>
          </a:p>
          <a:p>
            <a:pPr marL="458997" lvl="1" indent="-229499" algn="l">
              <a:lnSpc>
                <a:spcPts val="2976"/>
              </a:lnSpc>
              <a:buFont typeface="Arial"/>
              <a:buChar char="•"/>
            </a:pPr>
            <a:r>
              <a:rPr lang="en-US" sz="2125" b="1">
                <a:solidFill>
                  <a:srgbClr val="000000"/>
                </a:solidFill>
                <a:latin typeface="Poppins Bold"/>
                <a:ea typeface="Poppins Bold"/>
                <a:cs typeface="Poppins Bold"/>
                <a:sym typeface="Poppins Bold"/>
              </a:rPr>
              <a:t>Deactive State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grpSp>
        <p:nvGrpSpPr>
          <p:cNvPr id="3" name="Group 3"/>
          <p:cNvGrpSpPr/>
          <p:nvPr/>
        </p:nvGrpSpPr>
        <p:grpSpPr>
          <a:xfrm>
            <a:off x="-698500" y="3124200"/>
            <a:ext cx="5245100" cy="1332778"/>
            <a:chOff x="0" y="0"/>
            <a:chExt cx="1381426" cy="351020"/>
          </a:xfrm>
        </p:grpSpPr>
        <p:sp>
          <p:nvSpPr>
            <p:cNvPr id="4" name="Freeform 4"/>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sp>
        <p:sp>
          <p:nvSpPr>
            <p:cNvPr id="5" name="TextBox 5"/>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3741400" y="3124200"/>
            <a:ext cx="5118100" cy="1332778"/>
            <a:chOff x="0" y="0"/>
            <a:chExt cx="1347977" cy="351020"/>
          </a:xfrm>
        </p:grpSpPr>
        <p:sp>
          <p:nvSpPr>
            <p:cNvPr id="7" name="Freeform 7"/>
            <p:cNvSpPr/>
            <p:nvPr/>
          </p:nvSpPr>
          <p:spPr>
            <a:xfrm>
              <a:off x="0" y="0"/>
              <a:ext cx="1347977" cy="351020"/>
            </a:xfrm>
            <a:custGeom>
              <a:avLst/>
              <a:gdLst/>
              <a:ahLst/>
              <a:cxnLst/>
              <a:rect l="l" t="t" r="r" b="b"/>
              <a:pathLst>
                <a:path w="1347977" h="351020">
                  <a:moveTo>
                    <a:pt x="77145" y="0"/>
                  </a:moveTo>
                  <a:lnTo>
                    <a:pt x="1270832" y="0"/>
                  </a:lnTo>
                  <a:cubicBezTo>
                    <a:pt x="1291292" y="0"/>
                    <a:pt x="1310914" y="8128"/>
                    <a:pt x="1325382" y="22595"/>
                  </a:cubicBezTo>
                  <a:cubicBezTo>
                    <a:pt x="1339849" y="37063"/>
                    <a:pt x="1347977" y="56685"/>
                    <a:pt x="1347977" y="77145"/>
                  </a:cubicBezTo>
                  <a:lnTo>
                    <a:pt x="1347977" y="273874"/>
                  </a:lnTo>
                  <a:cubicBezTo>
                    <a:pt x="1347977" y="316480"/>
                    <a:pt x="1313438" y="351020"/>
                    <a:pt x="1270832" y="351020"/>
                  </a:cubicBezTo>
                  <a:lnTo>
                    <a:pt x="77145" y="351020"/>
                  </a:lnTo>
                  <a:cubicBezTo>
                    <a:pt x="34539" y="351020"/>
                    <a:pt x="0" y="316480"/>
                    <a:pt x="0" y="273874"/>
                  </a:cubicBezTo>
                  <a:lnTo>
                    <a:pt x="0" y="77145"/>
                  </a:lnTo>
                  <a:cubicBezTo>
                    <a:pt x="0" y="34539"/>
                    <a:pt x="34539" y="0"/>
                    <a:pt x="77145" y="0"/>
                  </a:cubicBezTo>
                  <a:close/>
                </a:path>
              </a:pathLst>
            </a:custGeom>
            <a:solidFill>
              <a:srgbClr val="004AAD"/>
            </a:solidFill>
          </p:spPr>
        </p:sp>
        <p:sp>
          <p:nvSpPr>
            <p:cNvPr id="8" name="TextBox 8"/>
            <p:cNvSpPr txBox="1"/>
            <p:nvPr/>
          </p:nvSpPr>
          <p:spPr>
            <a:xfrm>
              <a:off x="0" y="-47625"/>
              <a:ext cx="1347977" cy="398645"/>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4933297" y="3191597"/>
            <a:ext cx="8421405" cy="1265381"/>
          </a:xfrm>
          <a:prstGeom prst="rect">
            <a:avLst/>
          </a:prstGeom>
        </p:spPr>
        <p:txBody>
          <a:bodyPr lIns="0" tIns="0" rIns="0" bIns="0" rtlCol="0" anchor="t">
            <a:spAutoFit/>
          </a:bodyPr>
          <a:lstStyle/>
          <a:p>
            <a:pPr algn="ctr">
              <a:lnSpc>
                <a:spcPts val="10334"/>
              </a:lnSpc>
            </a:pPr>
            <a:r>
              <a:rPr lang="en-US" sz="7382" b="1">
                <a:solidFill>
                  <a:srgbClr val="000000"/>
                </a:solidFill>
                <a:latin typeface="League Spartan"/>
                <a:ea typeface="League Spartan"/>
                <a:cs typeface="League Spartan"/>
                <a:sym typeface="League Sparta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2110</Words>
  <Application>Microsoft Office PowerPoint</Application>
  <PresentationFormat>Custom</PresentationFormat>
  <Paragraphs>243</Paragraphs>
  <Slides>20</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9" baseType="lpstr">
      <vt:lpstr>Poppins</vt:lpstr>
      <vt:lpstr>Calibri</vt:lpstr>
      <vt:lpstr>Canva Sans Bold</vt:lpstr>
      <vt:lpstr>Arial</vt:lpstr>
      <vt:lpstr>Canva Sans</vt:lpstr>
      <vt:lpstr>League Spartan</vt:lpstr>
      <vt:lpstr>Poppins Bold</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&amp; white company profile presentation</dc:title>
  <cp:lastModifiedBy>Giresh Boddu</cp:lastModifiedBy>
  <cp:revision>1</cp:revision>
  <dcterms:created xsi:type="dcterms:W3CDTF">2006-08-16T00:00:00Z</dcterms:created>
  <dcterms:modified xsi:type="dcterms:W3CDTF">2025-12-10T06:55:14Z</dcterms:modified>
  <dc:identifier>DAG6UkK6dOM</dc:identifier>
</cp:coreProperties>
</file>