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eague Spartan" charset="1" panose="00000800000000000000"/>
      <p:regular r:id="rId18"/>
    </p:embeddedFont>
    <p:embeddedFont>
      <p:font typeface="Poppins" charset="1" panose="00000500000000000000"/>
      <p:regular r:id="rId19"/>
    </p:embeddedFont>
    <p:embeddedFont>
      <p:font typeface="Poppins Bold" charset="1" panose="00000800000000000000"/>
      <p:regular r:id="rId20"/>
    </p:embeddedFont>
    <p:embeddedFont>
      <p:font typeface="Archivo Black" charset="1" panose="020B0A03020202020B04"/>
      <p:regular r:id="rId21"/>
    </p:embeddedFont>
    <p:embeddedFont>
      <p:font typeface="Roboto Bold" charset="1" panose="02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2785" y="4506120"/>
            <a:ext cx="11354258" cy="141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b="true" sz="826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VLSI DESIGN FLOW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880587" y="5852404"/>
            <a:ext cx="8526827" cy="79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Boddu Giresh</a:t>
            </a:r>
          </a:p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ChipWeave Technologies Pvt Ltd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6792707" cy="10287000"/>
            <a:chOff x="0" y="0"/>
            <a:chExt cx="178902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90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9026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795883" y="2456939"/>
            <a:ext cx="8008604" cy="6312797"/>
          </a:xfrm>
          <a:custGeom>
            <a:avLst/>
            <a:gdLst/>
            <a:ahLst/>
            <a:cxnLst/>
            <a:rect r="r" b="b" t="t" l="l"/>
            <a:pathLst>
              <a:path h="6312797" w="8008604">
                <a:moveTo>
                  <a:pt x="0" y="0"/>
                </a:moveTo>
                <a:lnTo>
                  <a:pt x="8008604" y="0"/>
                </a:lnTo>
                <a:lnTo>
                  <a:pt x="8008604" y="6312797"/>
                </a:lnTo>
                <a:lnTo>
                  <a:pt x="0" y="6312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57" t="0" r="-4757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09411" y="1662134"/>
            <a:ext cx="4986211" cy="79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VLSI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5229" y="3385429"/>
            <a:ext cx="5958755" cy="223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VLSI stands for Very Large Scale Integration.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It means integrating millions (or even billions) of transistors on a single silicon chip to build complex electronic systems — like microprocessors, memory chips, SoCs (System on Chips), and more.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5229" y="6890082"/>
            <a:ext cx="5634574" cy="297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Applications of VLSI</a:t>
            </a:r>
          </a:p>
          <a:p>
            <a:pPr algn="l" marL="458997" indent="-229499" lvl="1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Microprocessors (Intel, AMD)</a:t>
            </a:r>
          </a:p>
          <a:p>
            <a:pPr algn="l" marL="458997" indent="-229499" lvl="1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Mobile SoCs (Qualcomm, Apple)</a:t>
            </a:r>
          </a:p>
          <a:p>
            <a:pPr algn="l" marL="458997" indent="-229499" lvl="1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GPUs (NVIDIA)</a:t>
            </a:r>
          </a:p>
          <a:p>
            <a:pPr algn="l" marL="458997" indent="-229499" lvl="1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Memory (DRAM, Flash)</a:t>
            </a:r>
          </a:p>
          <a:p>
            <a:pPr algn="l" marL="458997" indent="-229499" lvl="1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Automotive chips</a:t>
            </a:r>
          </a:p>
          <a:p>
            <a:pPr algn="l" marL="458997" indent="-229499" lvl="1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accelerators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8043" y="0"/>
            <a:ext cx="6379957" cy="10287000"/>
            <a:chOff x="0" y="0"/>
            <a:chExt cx="168031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031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80318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908043" y="2006345"/>
            <a:ext cx="6044287" cy="5953774"/>
          </a:xfrm>
          <a:custGeom>
            <a:avLst/>
            <a:gdLst/>
            <a:ahLst/>
            <a:cxnLst/>
            <a:rect r="r" b="b" t="t" l="l"/>
            <a:pathLst>
              <a:path h="5953774" w="6044287">
                <a:moveTo>
                  <a:pt x="0" y="0"/>
                </a:moveTo>
                <a:lnTo>
                  <a:pt x="6044287" y="0"/>
                </a:lnTo>
                <a:lnTo>
                  <a:pt x="6044287" y="5953774"/>
                </a:lnTo>
                <a:lnTo>
                  <a:pt x="0" y="5953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91409" y="2200019"/>
            <a:ext cx="4754145" cy="6907645"/>
          </a:xfrm>
          <a:custGeom>
            <a:avLst/>
            <a:gdLst/>
            <a:ahLst/>
            <a:cxnLst/>
            <a:rect r="r" b="b" t="t" l="l"/>
            <a:pathLst>
              <a:path h="6907645" w="4754145">
                <a:moveTo>
                  <a:pt x="0" y="0"/>
                </a:moveTo>
                <a:lnTo>
                  <a:pt x="4754145" y="0"/>
                </a:lnTo>
                <a:lnTo>
                  <a:pt x="4754145" y="6907645"/>
                </a:lnTo>
                <a:lnTo>
                  <a:pt x="0" y="6907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845" t="-7461" r="-12055" b="-1246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04637" y="442589"/>
            <a:ext cx="11087193" cy="101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839"/>
              </a:lnSpc>
              <a:spcBef>
                <a:spcPct val="0"/>
              </a:spcBef>
            </a:pPr>
            <a:r>
              <a:rPr lang="en-US" b="true" sz="5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VSLI FRONTEND DESIGN FLOW</a:t>
            </a:r>
            <a:r>
              <a:rPr lang="en-US" sz="5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7175" y="4502250"/>
            <a:ext cx="18802350" cy="2006600"/>
            <a:chOff x="0" y="0"/>
            <a:chExt cx="4952059" cy="5284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52059" cy="528487"/>
            </a:xfrm>
            <a:custGeom>
              <a:avLst/>
              <a:gdLst/>
              <a:ahLst/>
              <a:cxnLst/>
              <a:rect r="r" b="b" t="t" l="l"/>
              <a:pathLst>
                <a:path h="528487" w="4952059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52059" cy="576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492683"/>
            <a:ext cx="6756386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SPECIFICATION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1347" y="2201509"/>
            <a:ext cx="16302536" cy="140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  <a:spcBef>
                <a:spcPct val="0"/>
              </a:spcBef>
            </a:pPr>
            <a:r>
              <a:rPr lang="en-US" sz="3944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In VLSI (Very Large Scale Integration) design, the Specification stage is the first and most important step in the design flow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00682" y="6776785"/>
            <a:ext cx="5947641" cy="49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7"/>
              </a:lnSpc>
              <a:spcBef>
                <a:spcPct val="0"/>
              </a:spcBef>
            </a:pPr>
            <a:r>
              <a:rPr lang="en-US" b="true" sz="271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Contents of Specification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23504" y="7406028"/>
            <a:ext cx="5501997" cy="2353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79248" indent="-239624" lvl="1">
              <a:lnSpc>
                <a:spcPts val="3107"/>
              </a:lnSpc>
              <a:buFont typeface="Arial"/>
              <a:buChar char="•"/>
            </a:pPr>
            <a:r>
              <a:rPr lang="en-US" b="true" sz="221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Functional Description</a:t>
            </a:r>
          </a:p>
          <a:p>
            <a:pPr algn="ctr" marL="479248" indent="-239624" lvl="1">
              <a:lnSpc>
                <a:spcPts val="3107"/>
              </a:lnSpc>
              <a:buFont typeface="Arial"/>
              <a:buChar char="•"/>
            </a:pPr>
            <a:r>
              <a:rPr lang="en-US" b="true" sz="221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Requirements</a:t>
            </a:r>
          </a:p>
          <a:p>
            <a:pPr algn="ctr" marL="479248" indent="-239624" lvl="1">
              <a:lnSpc>
                <a:spcPts val="3107"/>
              </a:lnSpc>
              <a:buFont typeface="Arial"/>
              <a:buChar char="•"/>
            </a:pPr>
            <a:r>
              <a:rPr lang="en-US" b="true" sz="221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Power Constraints</a:t>
            </a:r>
          </a:p>
          <a:p>
            <a:pPr algn="ctr" marL="479248" indent="-239624" lvl="1">
              <a:lnSpc>
                <a:spcPts val="3107"/>
              </a:lnSpc>
              <a:buFont typeface="Arial"/>
              <a:buChar char="•"/>
            </a:pPr>
            <a:r>
              <a:rPr lang="en-US" b="true" sz="221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Area Constraints</a:t>
            </a:r>
          </a:p>
          <a:p>
            <a:pPr algn="ctr" marL="479248" indent="-239624" lvl="1">
              <a:lnSpc>
                <a:spcPts val="3107"/>
              </a:lnSpc>
              <a:buFont typeface="Arial"/>
              <a:buChar char="•"/>
            </a:pPr>
            <a:r>
              <a:rPr lang="en-US" b="true" sz="221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Interface Protocols</a:t>
            </a:r>
          </a:p>
          <a:p>
            <a:pPr algn="ctr" marL="479248" indent="-239624" lvl="1">
              <a:lnSpc>
                <a:spcPts val="3107"/>
              </a:lnSpc>
              <a:buFont typeface="Arial"/>
              <a:buChar char="•"/>
            </a:pPr>
            <a:r>
              <a:rPr lang="en-US" b="true" sz="221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 &amp; Tools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5122" y="4934267"/>
            <a:ext cx="16038761" cy="107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9"/>
              </a:lnSpc>
              <a:spcBef>
                <a:spcPct val="0"/>
              </a:spcBef>
            </a:pPr>
            <a:r>
              <a:rPr lang="en-US" sz="3063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Specification is the process of defining what the chip (or system) must do before starting any design work.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2236512" y="0"/>
            <a:ext cx="5246370" cy="524637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3175000"/>
                  </a:moveTo>
                  <a:cubicBezTo>
                    <a:pt x="0" y="4928870"/>
                    <a:pt x="1421130" y="6350000"/>
                    <a:pt x="3175000" y="6350000"/>
                  </a:cubicBezTo>
                  <a:lnTo>
                    <a:pt x="6350000" y="6350000"/>
                  </a:lnTo>
                  <a:lnTo>
                    <a:pt x="6350000" y="3175000"/>
                  </a:lnTo>
                  <a:cubicBezTo>
                    <a:pt x="6350000" y="1421130"/>
                    <a:pt x="4928870" y="0"/>
                    <a:pt x="3175000" y="0"/>
                  </a:cubicBezTo>
                  <a:cubicBezTo>
                    <a:pt x="1421130" y="0"/>
                    <a:pt x="0" y="1421130"/>
                    <a:pt x="0" y="31750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91160" y="364490"/>
              <a:ext cx="5619750" cy="5621020"/>
            </a:xfrm>
            <a:custGeom>
              <a:avLst/>
              <a:gdLst/>
              <a:ahLst/>
              <a:cxnLst/>
              <a:rect r="r" b="b" t="t" l="l"/>
              <a:pathLst>
                <a:path h="5621020" w="5619750">
                  <a:moveTo>
                    <a:pt x="2810510" y="0"/>
                  </a:moveTo>
                  <a:cubicBezTo>
                    <a:pt x="4362450" y="0"/>
                    <a:pt x="5619750" y="1258570"/>
                    <a:pt x="5619750" y="2810510"/>
                  </a:cubicBezTo>
                  <a:cubicBezTo>
                    <a:pt x="5619750" y="4362450"/>
                    <a:pt x="4361180" y="5621020"/>
                    <a:pt x="2810510" y="5621020"/>
                  </a:cubicBezTo>
                  <a:cubicBezTo>
                    <a:pt x="1258570" y="5621020"/>
                    <a:pt x="0" y="4362450"/>
                    <a:pt x="0" y="2810510"/>
                  </a:cubicBezTo>
                  <a:cubicBezTo>
                    <a:pt x="1270" y="1258570"/>
                    <a:pt x="1258570" y="0"/>
                    <a:pt x="2810510" y="0"/>
                  </a:cubicBezTo>
                  <a:close/>
                </a:path>
              </a:pathLst>
            </a:custGeom>
            <a:blipFill>
              <a:blip r:embed="rId3"/>
              <a:stretch>
                <a:fillRect l="-39937" t="0" r="-39937" b="0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2690757" y="5040630"/>
            <a:ext cx="5246370" cy="524637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25223" y="364462"/>
              <a:ext cx="5646214" cy="5621077"/>
            </a:xfrm>
            <a:custGeom>
              <a:avLst/>
              <a:gdLst/>
              <a:ahLst/>
              <a:cxnLst/>
              <a:rect r="r" b="b" t="t" l="l"/>
              <a:pathLst>
                <a:path h="5621077" w="5646214">
                  <a:moveTo>
                    <a:pt x="2823107" y="28"/>
                  </a:moveTo>
                  <a:cubicBezTo>
                    <a:pt x="1816014" y="-4476"/>
                    <a:pt x="883489" y="530217"/>
                    <a:pt x="378638" y="1401642"/>
                  </a:cubicBezTo>
                  <a:cubicBezTo>
                    <a:pt x="-126213" y="2273067"/>
                    <a:pt x="-126213" y="3348009"/>
                    <a:pt x="378638" y="4219434"/>
                  </a:cubicBezTo>
                  <a:cubicBezTo>
                    <a:pt x="883489" y="5090859"/>
                    <a:pt x="1816014" y="5625552"/>
                    <a:pt x="2823107" y="5621048"/>
                  </a:cubicBezTo>
                  <a:cubicBezTo>
                    <a:pt x="3830200" y="5625552"/>
                    <a:pt x="4762725" y="5090859"/>
                    <a:pt x="5267576" y="4219434"/>
                  </a:cubicBezTo>
                  <a:cubicBezTo>
                    <a:pt x="5772427" y="3348009"/>
                    <a:pt x="5772427" y="2273067"/>
                    <a:pt x="5267576" y="1401642"/>
                  </a:cubicBezTo>
                  <a:cubicBezTo>
                    <a:pt x="4762725" y="530217"/>
                    <a:pt x="3830200" y="-4476"/>
                    <a:pt x="2823107" y="28"/>
                  </a:cubicBezTo>
                  <a:close/>
                </a:path>
              </a:pathLst>
            </a:custGeom>
            <a:blipFill>
              <a:blip r:embed="rId4"/>
              <a:stretch>
                <a:fillRect l="-3852" t="0" r="-385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39748" y="519855"/>
            <a:ext cx="8604252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ARCHITECTURE DESIGN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237163"/>
            <a:ext cx="10153649" cy="135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6"/>
              </a:lnSpc>
              <a:spcBef>
                <a:spcPct val="0"/>
              </a:spcBef>
            </a:pPr>
            <a:r>
              <a:rPr lang="en-US" sz="2525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Architecture Design is the process of defining the high-level structure of the system or chip  how different blocks, modules, and components will work together to meet the specifications.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029200"/>
            <a:ext cx="8066267" cy="230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6"/>
              </a:lnSpc>
            </a:pPr>
            <a:r>
              <a:rPr lang="en-US" sz="412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Main Goal</a:t>
            </a:r>
          </a:p>
          <a:p>
            <a:pPr algn="l" marL="631713" indent="-315857" lvl="1">
              <a:lnSpc>
                <a:spcPts val="4096"/>
              </a:lnSpc>
              <a:buFont typeface="Arial"/>
              <a:buChar char="•"/>
            </a:pPr>
            <a:r>
              <a:rPr lang="en-US" b="true" sz="292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 create a blueprint of the chip</a:t>
            </a:r>
          </a:p>
          <a:p>
            <a:pPr algn="l" marL="631713" indent="-315857" lvl="1">
              <a:lnSpc>
                <a:spcPts val="4096"/>
              </a:lnSpc>
              <a:buFont typeface="Arial"/>
              <a:buChar char="•"/>
            </a:pPr>
            <a:r>
              <a:rPr lang="en-US" b="true" sz="292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How data will flow between modules</a:t>
            </a:r>
          </a:p>
          <a:p>
            <a:pPr algn="l" marL="631713" indent="-315857" lvl="1">
              <a:lnSpc>
                <a:spcPts val="4096"/>
              </a:lnSpc>
              <a:buFont typeface="Arial"/>
              <a:buChar char="•"/>
            </a:pPr>
            <a:r>
              <a:rPr lang="en-US" b="true" sz="292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major blocks are needed</a:t>
            </a:r>
            <a:r>
              <a:rPr lang="en-US" sz="29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8245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75892" y="596089"/>
            <a:ext cx="18682902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RTL DESIGN (REGISTER TRANSFER LEVEL)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6280" y="4245647"/>
            <a:ext cx="5905322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b="true" sz="515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KE</a:t>
            </a:r>
            <a:r>
              <a:rPr lang="en-US" b="true" sz="515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Y TASKS IN RTL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6280" y="1715383"/>
            <a:ext cx="11810644" cy="26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RTL Design is the process of converting the architecture design into actual hardware description code using HDL (like Verilog or VHDL)</a:t>
            </a:r>
          </a:p>
          <a:p>
            <a:pPr algn="l">
              <a:lnSpc>
                <a:spcPts val="3536"/>
              </a:lnSpc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RTL design is the foundation of the front-end design flow, transforming architecture into synthesizable HDL code.</a:t>
            </a:r>
          </a:p>
          <a:p>
            <a:pPr algn="l">
              <a:lnSpc>
                <a:spcPts val="297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06280" y="5353050"/>
            <a:ext cx="11276170" cy="2250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Write RT</a:t>
            </a: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 code in Verilog/SystemVerilog/VHDL.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 data path and control path.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Define finite state machines (FSMs).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 clock and reset logic.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Ensure code follows coding guidelines and is synthesizable.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36016" y="731149"/>
            <a:ext cx="9773867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OUT</a:t>
            </a:r>
            <a:r>
              <a:rPr lang="en-US" sz="530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PUTS / DELIVERABLES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8780" y="2218234"/>
            <a:ext cx="10384192" cy="226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6945" indent="-283472" lvl="1">
              <a:lnSpc>
                <a:spcPts val="3676"/>
              </a:lnSpc>
              <a:buFont typeface="Arial"/>
              <a:buChar char="•"/>
            </a:pPr>
            <a:r>
              <a:rPr lang="en-US" sz="26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RT</a:t>
            </a:r>
            <a:r>
              <a:rPr lang="en-US" sz="26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 Code (HDL files: .v, .sv, .vhd)</a:t>
            </a:r>
          </a:p>
          <a:p>
            <a:pPr algn="l" marL="566945" indent="-283472" lvl="1">
              <a:lnSpc>
                <a:spcPts val="3676"/>
              </a:lnSpc>
              <a:buFont typeface="Arial"/>
              <a:buChar char="•"/>
            </a:pPr>
            <a:r>
              <a:rPr lang="en-US" sz="26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Block-level testbenches for basic verification</a:t>
            </a:r>
          </a:p>
          <a:p>
            <a:pPr algn="l" marL="566945" indent="-283472" lvl="1">
              <a:lnSpc>
                <a:spcPts val="3676"/>
              </a:lnSpc>
              <a:buFont typeface="Arial"/>
              <a:buChar char="•"/>
            </a:pPr>
            <a:r>
              <a:rPr lang="en-US" sz="26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Simulation results</a:t>
            </a:r>
          </a:p>
          <a:p>
            <a:pPr algn="l" marL="566945" indent="-283472" lvl="1">
              <a:lnSpc>
                <a:spcPts val="3676"/>
              </a:lnSpc>
              <a:buFont typeface="Arial"/>
              <a:buChar char="•"/>
            </a:pPr>
            <a:r>
              <a:rPr lang="en-US" sz="26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Lint-clean RTL (checked for syntax &amp; design rule violations)</a:t>
            </a:r>
          </a:p>
          <a:p>
            <a:pPr algn="l">
              <a:lnSpc>
                <a:spcPts val="3116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517856" y="4587251"/>
            <a:ext cx="5634574" cy="96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56"/>
              </a:lnSpc>
              <a:spcBef>
                <a:spcPct val="0"/>
              </a:spcBef>
            </a:pPr>
            <a:r>
              <a:rPr lang="en-US" sz="532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532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ools Used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7856" y="6109324"/>
            <a:ext cx="10788605" cy="143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5456" indent="-292728" lvl="1">
              <a:lnSpc>
                <a:spcPts val="3796"/>
              </a:lnSpc>
              <a:buFont typeface="Arial"/>
              <a:buChar char="•"/>
            </a:pPr>
            <a:r>
              <a:rPr lang="en-US" b="true" sz="27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27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imulation Tools</a:t>
            </a:r>
            <a:r>
              <a:rPr lang="en-US" sz="27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ModelSim, QuestaSim, VCS, Riviera-PRO</a:t>
            </a:r>
          </a:p>
          <a:p>
            <a:pPr algn="l" marL="585456" indent="-292728" lvl="1">
              <a:lnSpc>
                <a:spcPts val="3796"/>
              </a:lnSpc>
              <a:buFont typeface="Arial"/>
              <a:buChar char="•"/>
            </a:pPr>
            <a:r>
              <a:rPr lang="en-US" b="true" sz="27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Lint Tools</a:t>
            </a:r>
            <a:r>
              <a:rPr lang="en-US" sz="27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SpyGlass, Questa Lint, AscentLint</a:t>
            </a:r>
          </a:p>
          <a:p>
            <a:pPr algn="l">
              <a:lnSpc>
                <a:spcPts val="379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60552" y="519855"/>
            <a:ext cx="11068966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FUNCTION SIMULATION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701962"/>
            <a:ext cx="13727768" cy="907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Functi</a:t>
            </a: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onal simulation is the process of verifying the logical functionality of the RTL design before synthesis — using a simulator and testbench.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988577"/>
            <a:ext cx="13167095" cy="907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</a:t>
            </a: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ensures the design behaves as intended according to the specification, without considering timing delays.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309261" y="4638917"/>
            <a:ext cx="4856091" cy="96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18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09261" y="7241532"/>
            <a:ext cx="4856091" cy="96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18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867158"/>
            <a:ext cx="13167095" cy="2250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ModelSim / Q</a:t>
            </a: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uestaSim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VCS (Synopsys)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Xcelium (Cadence)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Verilator (open source)</a:t>
            </a:r>
          </a:p>
          <a:p>
            <a:pPr algn="l">
              <a:lnSpc>
                <a:spcPts val="353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534142"/>
            <a:ext cx="8379075" cy="927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6"/>
              </a:lnSpc>
              <a:spcBef>
                <a:spcPct val="0"/>
              </a:spcBef>
            </a:pPr>
            <a:r>
              <a:rPr lang="en-US" sz="512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Tools Used </a:t>
            </a:r>
            <a:r>
              <a:rPr lang="en-US" b="true" sz="512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64925" y="601525"/>
            <a:ext cx="5898349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VERIFICATION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5602" y="1701962"/>
            <a:ext cx="15724032" cy="12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6"/>
              </a:lnSpc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Verificati</a:t>
            </a: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 is the process of checking whether the RTL design meets the functional specifications.</a:t>
            </a:r>
          </a:p>
          <a:p>
            <a:pPr algn="l">
              <a:lnSpc>
                <a:spcPts val="3536"/>
              </a:lnSpc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It ensures that the design works correctly in all possible scenarios before moving to synthesis.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64925" y="2862082"/>
            <a:ext cx="8379075" cy="825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6"/>
              </a:lnSpc>
              <a:spcBef>
                <a:spcPct val="0"/>
              </a:spcBef>
            </a:pPr>
            <a:r>
              <a:rPr lang="en-US" sz="462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Common Techniq</a:t>
            </a:r>
            <a:r>
              <a:rPr lang="en-US" b="true" sz="462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ues: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900643"/>
            <a:ext cx="13279814" cy="173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Simulati</a:t>
            </a: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on-based verification (UVM, constrained random, directed)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Formal verification (property checking)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Assertion-based verification (ABV)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45602" y="7004511"/>
            <a:ext cx="6411557" cy="14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997" indent="-229499" lvl="1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adence Xcelium</a:t>
            </a:r>
          </a:p>
          <a:p>
            <a:pPr algn="l" marL="458997" indent="-229499" lvl="1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Synopsys VCS</a:t>
            </a:r>
          </a:p>
          <a:p>
            <a:pPr algn="l" marL="458997" indent="-229499" lvl="1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Siemens QuestaSim / ModelSim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843736"/>
            <a:ext cx="8379075" cy="910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6"/>
              </a:lnSpc>
              <a:spcBef>
                <a:spcPct val="0"/>
              </a:spcBef>
            </a:pPr>
            <a:r>
              <a:rPr lang="en-US" sz="502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Tools Used </a:t>
            </a:r>
            <a:r>
              <a:rPr lang="en-US" b="true" sz="502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48046" y="3659261"/>
            <a:ext cx="4391907" cy="5599039"/>
          </a:xfrm>
          <a:custGeom>
            <a:avLst/>
            <a:gdLst/>
            <a:ahLst/>
            <a:cxnLst/>
            <a:rect r="r" b="b" t="t" l="l"/>
            <a:pathLst>
              <a:path h="5599039" w="4391907">
                <a:moveTo>
                  <a:pt x="0" y="0"/>
                </a:moveTo>
                <a:lnTo>
                  <a:pt x="4391908" y="0"/>
                </a:lnTo>
                <a:lnTo>
                  <a:pt x="4391908" y="5599039"/>
                </a:lnTo>
                <a:lnTo>
                  <a:pt x="0" y="55990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8543" y="231370"/>
            <a:ext cx="6756386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SYN</a:t>
            </a:r>
            <a:r>
              <a:rPr lang="en-US" b="true" sz="567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9116" y="1892970"/>
            <a:ext cx="14439225" cy="969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7195" indent="-293598" lvl="1">
              <a:lnSpc>
                <a:spcPts val="3807"/>
              </a:lnSpc>
              <a:buFont typeface="Arial"/>
              <a:buChar char="•"/>
            </a:pPr>
            <a:r>
              <a:rPr lang="en-US" sz="27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Synthesis is the process of converting RTL code    (Verilog/SystemVerilog/VHDL) into a gate-level netlist using standard cells from a technology library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74963" y="592430"/>
            <a:ext cx="13895180" cy="185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</a:t>
            </a:r>
            <a:r>
              <a:rPr lang="en-US" b="true" sz="530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OW RTL CONVERTS TO GATES (SYNTHESIS EXAMPLE)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4963" y="2785397"/>
            <a:ext cx="10284861" cy="2698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6"/>
              </a:lnSpc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•RT</a:t>
            </a: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L: assign y = a &amp; b;</a:t>
            </a:r>
          </a:p>
          <a:p>
            <a:pPr algn="l">
              <a:lnSpc>
                <a:spcPts val="3536"/>
              </a:lnSpc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•1. RTL describes behavior</a:t>
            </a:r>
          </a:p>
          <a:p>
            <a:pPr algn="l">
              <a:lnSpc>
                <a:spcPts val="3536"/>
              </a:lnSpc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•2. Synthesis identifies AND operation</a:t>
            </a:r>
          </a:p>
          <a:p>
            <a:pPr algn="l">
              <a:lnSpc>
                <a:spcPts val="3536"/>
              </a:lnSpc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•3. Library cell AND2_X1 selected</a:t>
            </a:r>
          </a:p>
          <a:p>
            <a:pPr algn="l">
              <a:lnSpc>
                <a:spcPts val="3536"/>
              </a:lnSpc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•4. Netlist generated: AND2_X1 U1 (.A(a), .B(b), .Z(y));</a:t>
            </a:r>
          </a:p>
          <a:p>
            <a:pPr algn="l">
              <a:lnSpc>
                <a:spcPts val="3536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74963" y="5397763"/>
            <a:ext cx="5789761" cy="1607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6"/>
              </a:lnSpc>
            </a:pPr>
            <a:r>
              <a:rPr lang="en-US" sz="4711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TOOLS USED:</a:t>
            </a:r>
          </a:p>
          <a:p>
            <a:pPr algn="l">
              <a:lnSpc>
                <a:spcPts val="3096"/>
              </a:lnSpc>
            </a:pPr>
          </a:p>
          <a:p>
            <a:pPr algn="l">
              <a:lnSpc>
                <a:spcPts val="309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15444" y="6350590"/>
            <a:ext cx="10284861" cy="180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Synop</a:t>
            </a: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 Design Compiler (DC)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Cadence Genus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Siemens Precision</a:t>
            </a:r>
          </a:p>
          <a:p>
            <a:pPr algn="l">
              <a:lnSpc>
                <a:spcPts val="353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8500" y="3124200"/>
            <a:ext cx="5245100" cy="1332778"/>
            <a:chOff x="0" y="0"/>
            <a:chExt cx="1381426" cy="351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41400" y="3124200"/>
            <a:ext cx="5118100" cy="1332778"/>
            <a:chOff x="0" y="0"/>
            <a:chExt cx="1347977" cy="351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7977" cy="351020"/>
            </a:xfrm>
            <a:custGeom>
              <a:avLst/>
              <a:gdLst/>
              <a:ahLst/>
              <a:cxnLst/>
              <a:rect r="r" b="b" t="t" l="l"/>
              <a:pathLst>
                <a:path h="351020" w="1347977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33297" y="3191597"/>
            <a:ext cx="8421405" cy="126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b="true" sz="738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DAG4eNT9x1k</dc:identifier>
  <dcterms:modified xsi:type="dcterms:W3CDTF">2011-08-01T06:04:30Z</dcterms:modified>
  <cp:revision>1</cp:revision>
  <dc:title>Blue &amp; white company profile presentation</dc:title>
</cp:coreProperties>
</file>