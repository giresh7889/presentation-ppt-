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embeddedFont>
    <p:embeddedFont>
      <p:font typeface="Poppins" panose="00000500000000000000" pitchFamily="2" charset="0"/>
      <p:regular r:id="rId13"/>
    </p:embeddedFont>
    <p:embeddedFont>
      <p:font typeface="Poppin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924323" y="3753943"/>
            <a:ext cx="16230600" cy="3417289"/>
          </a:xfrm>
          <a:prstGeom prst="rect">
            <a:avLst/>
          </a:prstGeom>
        </p:spPr>
        <p:txBody>
          <a:bodyPr lIns="0" tIns="0" rIns="0" bIns="0" rtlCol="0" anchor="t">
            <a:spAutoFit/>
          </a:bodyPr>
          <a:lstStyle/>
          <a:p>
            <a:pPr algn="l">
              <a:lnSpc>
                <a:spcPts val="25299"/>
              </a:lnSpc>
            </a:pPr>
            <a:r>
              <a:rPr lang="en-US" sz="26631" spc="-479">
                <a:solidFill>
                  <a:srgbClr val="566660"/>
                </a:solidFill>
                <a:latin typeface="League Spartan"/>
                <a:ea typeface="League Spartan"/>
                <a:cs typeface="League Spartan"/>
                <a:sym typeface="League Spartan"/>
              </a:rPr>
              <a:t>JTAG</a:t>
            </a:r>
          </a:p>
        </p:txBody>
      </p:sp>
      <p:sp>
        <p:nvSpPr>
          <p:cNvPr id="3" name="TextBox 3"/>
          <p:cNvSpPr txBox="1"/>
          <p:nvPr/>
        </p:nvSpPr>
        <p:spPr>
          <a:xfrm>
            <a:off x="7502328" y="6363689"/>
            <a:ext cx="2281745" cy="509905"/>
          </a:xfrm>
          <a:prstGeom prst="rect">
            <a:avLst/>
          </a:prstGeom>
        </p:spPr>
        <p:txBody>
          <a:bodyPr lIns="0" tIns="0" rIns="0" bIns="0" rtlCol="0" anchor="t">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id="4" name="TextBox 4"/>
          <p:cNvSpPr txBox="1"/>
          <p:nvPr/>
        </p:nvSpPr>
        <p:spPr>
          <a:xfrm>
            <a:off x="6317685" y="7003102"/>
            <a:ext cx="7313409" cy="711200"/>
          </a:xfrm>
          <a:prstGeom prst="rect">
            <a:avLst/>
          </a:prstGeom>
        </p:spPr>
        <p:txBody>
          <a:bodyPr lIns="0" tIns="0" rIns="0" bIns="0" rtlCol="0" anchor="t">
            <a:spAutoFit/>
          </a:bodyPr>
          <a:lstStyle/>
          <a:p>
            <a:pPr algn="l">
              <a:lnSpc>
                <a:spcPts val="2799"/>
              </a:lnSpc>
            </a:pPr>
            <a:r>
              <a:rPr lang="en-US" sz="1999" spc="-99">
                <a:solidFill>
                  <a:srgbClr val="566660"/>
                </a:solidFill>
                <a:latin typeface="Poppins"/>
                <a:ea typeface="Poppins"/>
                <a:cs typeface="Poppins"/>
                <a:sym typeface="Poppins"/>
              </a:rPr>
              <a:t>                           BODDU GIRESH</a:t>
            </a:r>
          </a:p>
          <a:p>
            <a:pPr algn="l">
              <a:lnSpc>
                <a:spcPts val="2799"/>
              </a:lnSpc>
            </a:pPr>
            <a:r>
              <a:rPr lang="en-US" sz="1999" spc="-99">
                <a:solidFill>
                  <a:srgbClr val="566660"/>
                </a:solidFill>
                <a:latin typeface="Poppins"/>
                <a:ea typeface="Poppins"/>
                <a:cs typeface="Poppins"/>
                <a:sym typeface="Poppins"/>
              </a:rPr>
              <a:t> CHIPWEAVE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832784" y="832627"/>
            <a:ext cx="9780804"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WHAT IS JTAG?</a:t>
            </a:r>
          </a:p>
        </p:txBody>
      </p:sp>
      <p:sp>
        <p:nvSpPr>
          <p:cNvPr id="3" name="TextBox 3"/>
          <p:cNvSpPr txBox="1"/>
          <p:nvPr/>
        </p:nvSpPr>
        <p:spPr>
          <a:xfrm>
            <a:off x="1028700" y="1729423"/>
            <a:ext cx="12239672" cy="2534920"/>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JTAG stands for Joint Test Action Group.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It is a standard test access port (TAP) and boundary scan architecture.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 testing interconnects on PCBs.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Enables debugging, programming, and testability of ICs.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Defined under IEEE 1149.1 standard.</a:t>
            </a:r>
          </a:p>
          <a:p>
            <a:pPr algn="just">
              <a:lnSpc>
                <a:spcPts val="2660"/>
              </a:lnSpc>
            </a:pPr>
            <a:endParaRPr lang="en-US" sz="2499">
              <a:solidFill>
                <a:srgbClr val="2C4A24"/>
              </a:solidFill>
              <a:latin typeface="Poppins"/>
              <a:ea typeface="Poppins"/>
              <a:cs typeface="Poppins"/>
              <a:sym typeface="Poppins"/>
            </a:endParaRPr>
          </a:p>
        </p:txBody>
      </p:sp>
      <p:sp>
        <p:nvSpPr>
          <p:cNvPr id="4" name="TextBox 4"/>
          <p:cNvSpPr txBox="1"/>
          <p:nvPr/>
        </p:nvSpPr>
        <p:spPr>
          <a:xfrm>
            <a:off x="832784" y="5869117"/>
            <a:ext cx="6807777" cy="2628900"/>
          </a:xfrm>
          <a:prstGeom prst="rect">
            <a:avLst/>
          </a:prstGeom>
        </p:spPr>
        <p:txBody>
          <a:bodyPr lIns="0" tIns="0" rIns="0" bIns="0" rtlCol="0" anchor="t">
            <a:spAutoFit/>
          </a:bodyPr>
          <a:lstStyle/>
          <a:p>
            <a:pPr marL="561337" lvl="1" indent="-280669" algn="just">
              <a:lnSpc>
                <a:spcPts val="3639"/>
              </a:lnSpc>
              <a:buFont typeface="Arial"/>
              <a:buChar char="•"/>
            </a:pPr>
            <a:r>
              <a:rPr lang="en-US" sz="2599">
                <a:solidFill>
                  <a:srgbClr val="2C4A24"/>
                </a:solidFill>
                <a:latin typeface="Poppins"/>
                <a:ea typeface="Poppins"/>
                <a:cs typeface="Poppins"/>
                <a:sym typeface="Poppins"/>
              </a:rPr>
              <a:t>Testing PCB connections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Detecting shorts &amp; opens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Programming devices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On-chip debug</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Boundary scan testing</a:t>
            </a:r>
          </a:p>
          <a:p>
            <a:pPr algn="just">
              <a:lnSpc>
                <a:spcPts val="2660"/>
              </a:lnSpc>
            </a:pPr>
            <a:endParaRPr lang="en-US" sz="2599">
              <a:solidFill>
                <a:srgbClr val="2C4A24"/>
              </a:solidFill>
              <a:latin typeface="Poppins"/>
              <a:ea typeface="Poppins"/>
              <a:cs typeface="Poppins"/>
              <a:sym typeface="Poppins"/>
            </a:endParaRPr>
          </a:p>
        </p:txBody>
      </p:sp>
      <p:sp>
        <p:nvSpPr>
          <p:cNvPr id="5" name="TextBox 5"/>
          <p:cNvSpPr txBox="1"/>
          <p:nvPr/>
        </p:nvSpPr>
        <p:spPr>
          <a:xfrm>
            <a:off x="408510" y="4594137"/>
            <a:ext cx="12329330"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 WHY JTAG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0"/>
            <a:ext cx="7427196" cy="5406786"/>
            <a:chOff x="0" y="0"/>
            <a:chExt cx="1150667" cy="837653"/>
          </a:xfrm>
        </p:grpSpPr>
        <p:sp>
          <p:nvSpPr>
            <p:cNvPr id="3" name="Freeform 3"/>
            <p:cNvSpPr/>
            <p:nvPr/>
          </p:nvSpPr>
          <p:spPr>
            <a:xfrm>
              <a:off x="0" y="0"/>
              <a:ext cx="1150667" cy="837653"/>
            </a:xfrm>
            <a:custGeom>
              <a:avLst/>
              <a:gdLst/>
              <a:ahLst/>
              <a:cxnLst/>
              <a:rect l="l" t="t" r="r" b="b"/>
              <a:pathLst>
                <a:path w="1150667" h="837653">
                  <a:moveTo>
                    <a:pt x="0" y="0"/>
                  </a:moveTo>
                  <a:lnTo>
                    <a:pt x="1150667" y="0"/>
                  </a:lnTo>
                  <a:lnTo>
                    <a:pt x="1150667" y="837653"/>
                  </a:lnTo>
                  <a:lnTo>
                    <a:pt x="0" y="837653"/>
                  </a:lnTo>
                  <a:close/>
                </a:path>
              </a:pathLst>
            </a:custGeom>
            <a:blipFill>
              <a:blip r:embed="rId2"/>
              <a:stretch>
                <a:fillRect t="-53090" b="-53090"/>
              </a:stretch>
            </a:blipFill>
            <a:ln cap="sq">
              <a:noFill/>
              <a:prstDash val="solid"/>
              <a:miter/>
            </a:ln>
          </p:spPr>
        </p:sp>
      </p:grpSp>
      <p:sp>
        <p:nvSpPr>
          <p:cNvPr id="4" name="Freeform 4"/>
          <p:cNvSpPr/>
          <p:nvPr/>
        </p:nvSpPr>
        <p:spPr>
          <a:xfrm>
            <a:off x="10804099" y="2047987"/>
            <a:ext cx="4381187" cy="6191026"/>
          </a:xfrm>
          <a:custGeom>
            <a:avLst/>
            <a:gdLst/>
            <a:ahLst/>
            <a:cxnLst/>
            <a:rect l="l" t="t" r="r" b="b"/>
            <a:pathLst>
              <a:path w="4381187" h="6191026">
                <a:moveTo>
                  <a:pt x="0" y="0"/>
                </a:moveTo>
                <a:lnTo>
                  <a:pt x="4381187" y="0"/>
                </a:lnTo>
                <a:lnTo>
                  <a:pt x="4381187" y="6191026"/>
                </a:lnTo>
                <a:lnTo>
                  <a:pt x="0" y="6191026"/>
                </a:lnTo>
                <a:lnTo>
                  <a:pt x="0" y="0"/>
                </a:lnTo>
                <a:close/>
              </a:path>
            </a:pathLst>
          </a:custGeom>
          <a:blipFill>
            <a:blip r:embed="rId3"/>
            <a:stretch>
              <a:fillRect l="-4953" r="-4953"/>
            </a:stretch>
          </a:blipFill>
        </p:spPr>
      </p:sp>
      <p:sp>
        <p:nvSpPr>
          <p:cNvPr id="5" name="TextBox 5"/>
          <p:cNvSpPr txBox="1"/>
          <p:nvPr/>
        </p:nvSpPr>
        <p:spPr>
          <a:xfrm>
            <a:off x="666883" y="728653"/>
            <a:ext cx="15818701" cy="733443"/>
          </a:xfrm>
          <a:prstGeom prst="rect">
            <a:avLst/>
          </a:prstGeom>
        </p:spPr>
        <p:txBody>
          <a:bodyPr lIns="0" tIns="0" rIns="0" bIns="0" rtlCol="0" anchor="t">
            <a:spAutoFit/>
          </a:bodyPr>
          <a:lstStyle/>
          <a:p>
            <a:pPr algn="l">
              <a:lnSpc>
                <a:spcPts val="5415"/>
              </a:lnSpc>
            </a:pPr>
            <a:r>
              <a:rPr lang="en-US" sz="5700" spc="-102">
                <a:solidFill>
                  <a:srgbClr val="566660"/>
                </a:solidFill>
                <a:latin typeface="League Spartan"/>
                <a:ea typeface="League Spartan"/>
                <a:cs typeface="League Spartan"/>
                <a:sym typeface="League Spartan"/>
              </a:rPr>
              <a:t>JTAG USES TESt Access Port (TAP) Pins</a:t>
            </a:r>
          </a:p>
        </p:txBody>
      </p:sp>
      <p:sp>
        <p:nvSpPr>
          <p:cNvPr id="6" name="TextBox 6"/>
          <p:cNvSpPr txBox="1"/>
          <p:nvPr/>
        </p:nvSpPr>
        <p:spPr>
          <a:xfrm>
            <a:off x="1028700" y="1827411"/>
            <a:ext cx="6807777" cy="297307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Four Mandatory Pins:</a:t>
            </a:r>
          </a:p>
          <a:p>
            <a:pPr marL="539748" lvl="1" indent="-269874" algn="just">
              <a:lnSpc>
                <a:spcPts val="3499"/>
              </a:lnSpc>
              <a:buAutoNum type="arabicPeriod"/>
            </a:pPr>
            <a:r>
              <a:rPr lang="en-US" sz="2499">
                <a:solidFill>
                  <a:srgbClr val="2C4A24"/>
                </a:solidFill>
                <a:latin typeface="Poppins"/>
                <a:ea typeface="Poppins"/>
                <a:cs typeface="Poppins"/>
                <a:sym typeface="Poppins"/>
              </a:rPr>
              <a:t>TDI – Test Data In</a:t>
            </a:r>
          </a:p>
          <a:p>
            <a:pPr marL="539748" lvl="1" indent="-269874" algn="just">
              <a:lnSpc>
                <a:spcPts val="3499"/>
              </a:lnSpc>
              <a:buAutoNum type="arabicPeriod"/>
            </a:pPr>
            <a:r>
              <a:rPr lang="en-US" sz="2499">
                <a:solidFill>
                  <a:srgbClr val="2C4A24"/>
                </a:solidFill>
                <a:latin typeface="Poppins"/>
                <a:ea typeface="Poppins"/>
                <a:cs typeface="Poppins"/>
                <a:sym typeface="Poppins"/>
              </a:rPr>
              <a:t>TDO – Test Data Out</a:t>
            </a:r>
          </a:p>
          <a:p>
            <a:pPr marL="539748" lvl="1" indent="-269874" algn="just">
              <a:lnSpc>
                <a:spcPts val="3499"/>
              </a:lnSpc>
              <a:buAutoNum type="arabicPeriod"/>
            </a:pPr>
            <a:r>
              <a:rPr lang="en-US" sz="2499">
                <a:solidFill>
                  <a:srgbClr val="2C4A24"/>
                </a:solidFill>
                <a:latin typeface="Poppins"/>
                <a:ea typeface="Poppins"/>
                <a:cs typeface="Poppins"/>
                <a:sym typeface="Poppins"/>
              </a:rPr>
              <a:t>TCK – Test Clock</a:t>
            </a:r>
          </a:p>
          <a:p>
            <a:pPr marL="539748" lvl="1" indent="-269874" algn="just">
              <a:lnSpc>
                <a:spcPts val="3499"/>
              </a:lnSpc>
              <a:buAutoNum type="arabicPeriod"/>
            </a:pPr>
            <a:r>
              <a:rPr lang="en-US" sz="2499">
                <a:solidFill>
                  <a:srgbClr val="2C4A24"/>
                </a:solidFill>
                <a:latin typeface="Poppins"/>
                <a:ea typeface="Poppins"/>
                <a:cs typeface="Poppins"/>
                <a:sym typeface="Poppins"/>
              </a:rPr>
              <a:t>TMS – Test Mode Select</a:t>
            </a:r>
          </a:p>
          <a:p>
            <a:pPr algn="just">
              <a:lnSpc>
                <a:spcPts val="3499"/>
              </a:lnSpc>
            </a:pPr>
            <a:r>
              <a:rPr lang="en-US" sz="2499">
                <a:solidFill>
                  <a:srgbClr val="2C4A24"/>
                </a:solidFill>
                <a:latin typeface="Poppins"/>
                <a:ea typeface="Poppins"/>
                <a:cs typeface="Poppins"/>
                <a:sym typeface="Poppins"/>
              </a:rPr>
              <a:t>   5. TRST – Test Reset</a:t>
            </a:r>
          </a:p>
          <a:p>
            <a:pPr algn="just">
              <a:lnSpc>
                <a:spcPts val="2660"/>
              </a:lnSpc>
            </a:pPr>
            <a:endParaRPr lang="en-US" sz="2499">
              <a:solidFill>
                <a:srgbClr val="2C4A24"/>
              </a:solidFill>
              <a:latin typeface="Poppins"/>
              <a:ea typeface="Poppins"/>
              <a:cs typeface="Poppins"/>
              <a:sym typeface="Poppins"/>
            </a:endParaRPr>
          </a:p>
        </p:txBody>
      </p:sp>
      <p:sp>
        <p:nvSpPr>
          <p:cNvPr id="7" name="TextBox 7"/>
          <p:cNvSpPr txBox="1"/>
          <p:nvPr/>
        </p:nvSpPr>
        <p:spPr>
          <a:xfrm>
            <a:off x="882933" y="4898140"/>
            <a:ext cx="9467917" cy="384937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1. JTAG sends control signals to TAP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TCK gives clock pulses.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TMS selects next state of the TAP Controller FSM.</a:t>
            </a:r>
          </a:p>
          <a:p>
            <a:pPr algn="just">
              <a:lnSpc>
                <a:spcPts val="3499"/>
              </a:lnSpc>
            </a:pPr>
            <a:r>
              <a:rPr lang="en-US" sz="2499" b="1">
                <a:solidFill>
                  <a:srgbClr val="2C4A24"/>
                </a:solidFill>
                <a:latin typeface="Poppins Bold"/>
                <a:ea typeface="Poppins Bold"/>
                <a:cs typeface="Poppins Bold"/>
                <a:sym typeface="Poppins Bold"/>
              </a:rPr>
              <a:t>2. TAP Controller enters different states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Controller is a 16-state FSM that controls: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 instruction (IR path)</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Loading/shifting test data (DR path)</a:t>
            </a:r>
          </a:p>
          <a:p>
            <a:pPr algn="just">
              <a:lnSpc>
                <a:spcPts val="3499"/>
              </a:lnSpc>
            </a:pPr>
            <a:endParaRPr lang="en-US" sz="2499">
              <a:solidFill>
                <a:srgbClr val="2C4A24"/>
              </a:solidFill>
              <a:latin typeface="Poppins"/>
              <a:ea typeface="Poppins"/>
              <a:cs typeface="Poppins"/>
              <a:sym typeface="Poppins"/>
            </a:endParaRP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25465" y="791672"/>
            <a:ext cx="13030474" cy="779272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3. JTAG shifts data through TDI → TAP → TDO</a:t>
            </a:r>
          </a:p>
          <a:p>
            <a:pPr algn="just">
              <a:lnSpc>
                <a:spcPts val="3499"/>
              </a:lnSpc>
            </a:pPr>
            <a:r>
              <a:rPr lang="en-US" sz="2499">
                <a:solidFill>
                  <a:srgbClr val="2C4A24"/>
                </a:solidFill>
                <a:latin typeface="Poppins"/>
                <a:ea typeface="Poppins"/>
                <a:cs typeface="Poppins"/>
                <a:sym typeface="Poppins"/>
              </a:rPr>
              <a:t>Depending on state: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instruction bits into IR</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data bits into DR (boundary scan, IDCODE, BYPASS)</a:t>
            </a:r>
          </a:p>
          <a:p>
            <a:pPr algn="just">
              <a:lnSpc>
                <a:spcPts val="3499"/>
              </a:lnSpc>
            </a:pPr>
            <a:r>
              <a:rPr lang="en-US" sz="2499" b="1">
                <a:solidFill>
                  <a:srgbClr val="2C4A24"/>
                </a:solidFill>
                <a:latin typeface="Poppins Bold"/>
                <a:ea typeface="Poppins Bold"/>
                <a:cs typeface="Poppins Bold"/>
                <a:sym typeface="Poppins Bold"/>
              </a:rPr>
              <a:t>4. TAP executes JTAG Instructions</a:t>
            </a:r>
          </a:p>
          <a:p>
            <a:pPr algn="just">
              <a:lnSpc>
                <a:spcPts val="3499"/>
              </a:lnSpc>
            </a:pPr>
            <a:r>
              <a:rPr lang="en-US" sz="2499">
                <a:solidFill>
                  <a:srgbClr val="2C4A24"/>
                </a:solidFill>
                <a:latin typeface="Poppins"/>
                <a:ea typeface="Poppins"/>
                <a:cs typeface="Poppins"/>
                <a:sym typeface="Poppins"/>
              </a:rPr>
              <a:t>Examples: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EXTEST → test PCB connections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INTEST → test internal logic</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SAMPLE → capture pin values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IDCODE → read device ID</a:t>
            </a:r>
          </a:p>
          <a:p>
            <a:pPr algn="just">
              <a:lnSpc>
                <a:spcPts val="3499"/>
              </a:lnSpc>
            </a:pPr>
            <a:r>
              <a:rPr lang="en-US" sz="2499">
                <a:solidFill>
                  <a:srgbClr val="2C4A24"/>
                </a:solidFill>
                <a:latin typeface="Poppins"/>
                <a:ea typeface="Poppins"/>
                <a:cs typeface="Poppins"/>
                <a:sym typeface="Poppins"/>
              </a:rPr>
              <a:t>The TAP controller selects which Data Register is active.</a:t>
            </a:r>
          </a:p>
          <a:p>
            <a:pPr algn="just">
              <a:lnSpc>
                <a:spcPts val="3499"/>
              </a:lnSpc>
            </a:pPr>
            <a:r>
              <a:rPr lang="en-US" sz="2499" b="1">
                <a:solidFill>
                  <a:srgbClr val="2C4A24"/>
                </a:solidFill>
                <a:latin typeface="Poppins Bold"/>
                <a:ea typeface="Poppins Bold"/>
                <a:cs typeface="Poppins Bold"/>
                <a:sym typeface="Poppins Bold"/>
              </a:rPr>
              <a:t>5. TAP applies data to Boundary Scan Cells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drives/controls every boundary scan cell in the chain</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Testing pins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Capturing logic levels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Driving test patterns</a:t>
            </a: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9823089" y="2169898"/>
            <a:ext cx="5859546" cy="5356850"/>
          </a:xfrm>
          <a:custGeom>
            <a:avLst/>
            <a:gdLst/>
            <a:ahLst/>
            <a:cxnLst/>
            <a:rect l="l" t="t" r="r" b="b"/>
            <a:pathLst>
              <a:path w="5859546" h="5356850">
                <a:moveTo>
                  <a:pt x="0" y="0"/>
                </a:moveTo>
                <a:lnTo>
                  <a:pt x="5859546" y="0"/>
                </a:lnTo>
                <a:lnTo>
                  <a:pt x="5859546" y="5356850"/>
                </a:lnTo>
                <a:lnTo>
                  <a:pt x="0" y="5356850"/>
                </a:lnTo>
                <a:lnTo>
                  <a:pt x="0" y="0"/>
                </a:lnTo>
                <a:close/>
              </a:path>
            </a:pathLst>
          </a:custGeom>
          <a:blipFill>
            <a:blip r:embed="rId2"/>
            <a:stretch>
              <a:fillRect/>
            </a:stretch>
          </a:blipFill>
        </p:spPr>
      </p:sp>
      <p:sp>
        <p:nvSpPr>
          <p:cNvPr id="3" name="TextBox 3"/>
          <p:cNvSpPr txBox="1"/>
          <p:nvPr/>
        </p:nvSpPr>
        <p:spPr>
          <a:xfrm>
            <a:off x="479055" y="933233"/>
            <a:ext cx="15316099" cy="546119"/>
          </a:xfrm>
          <a:prstGeom prst="rect">
            <a:avLst/>
          </a:prstGeom>
        </p:spPr>
        <p:txBody>
          <a:bodyPr lIns="0" tIns="0" rIns="0" bIns="0" rtlCol="0" anchor="t">
            <a:spAutoFit/>
          </a:bodyPr>
          <a:lstStyle/>
          <a:p>
            <a:pPr algn="l">
              <a:lnSpc>
                <a:spcPts val="4085"/>
              </a:lnSpc>
            </a:pPr>
            <a:r>
              <a:rPr lang="en-US" sz="4300" spc="-77">
                <a:solidFill>
                  <a:srgbClr val="566660"/>
                </a:solidFill>
                <a:latin typeface="League Spartan"/>
                <a:ea typeface="League Spartan"/>
                <a:cs typeface="League Spartan"/>
                <a:sym typeface="League Spartan"/>
              </a:rPr>
              <a:t>JTAG ARCHITECTURE DIAGRAM (BOUNDARY SCAN)</a:t>
            </a:r>
          </a:p>
        </p:txBody>
      </p:sp>
      <p:sp>
        <p:nvSpPr>
          <p:cNvPr id="4" name="TextBox 4"/>
          <p:cNvSpPr txBox="1"/>
          <p:nvPr/>
        </p:nvSpPr>
        <p:spPr>
          <a:xfrm>
            <a:off x="685827" y="2112748"/>
            <a:ext cx="8458173" cy="7367905"/>
          </a:xfrm>
          <a:prstGeom prst="rect">
            <a:avLst/>
          </a:prstGeom>
        </p:spPr>
        <p:txBody>
          <a:bodyPr lIns="0" tIns="0" rIns="0" bIns="0" rtlCol="0" anchor="t">
            <a:spAutoFit/>
          </a:bodyPr>
          <a:lstStyle/>
          <a:p>
            <a:pPr algn="just">
              <a:lnSpc>
                <a:spcPts val="3079"/>
              </a:lnSpc>
            </a:pPr>
            <a:r>
              <a:rPr lang="en-US" sz="2199" b="1">
                <a:solidFill>
                  <a:srgbClr val="2C4A24"/>
                </a:solidFill>
                <a:latin typeface="Poppins Bold"/>
                <a:ea typeface="Poppins Bold"/>
                <a:cs typeface="Poppins Bold"/>
                <a:sym typeface="Poppins Bold"/>
              </a:rPr>
              <a:t>Interface Signals</a:t>
            </a:r>
          </a:p>
          <a:p>
            <a:pPr algn="just">
              <a:lnSpc>
                <a:spcPts val="3079"/>
              </a:lnSpc>
            </a:pPr>
            <a:r>
              <a:rPr lang="en-US" sz="2199">
                <a:solidFill>
                  <a:srgbClr val="2C4A24"/>
                </a:solidFill>
                <a:latin typeface="Poppins"/>
                <a:ea typeface="Poppins"/>
                <a:cs typeface="Poppins"/>
                <a:sym typeface="Poppins"/>
              </a:rPr>
              <a:t>The JTAG interface, collectively known as a Test Access Port, or TAP, uses the following signals to support the operation of boundary scan.</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TCK </a:t>
            </a:r>
            <a:r>
              <a:rPr lang="en-US" sz="2199">
                <a:solidFill>
                  <a:srgbClr val="2C4A24"/>
                </a:solidFill>
                <a:latin typeface="Poppins"/>
                <a:ea typeface="Poppins"/>
                <a:cs typeface="Poppins"/>
                <a:sym typeface="Poppins"/>
              </a:rPr>
              <a:t>(Test Clock) – this signal synchronizes the internal state machine operations.</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TMS </a:t>
            </a:r>
            <a:r>
              <a:rPr lang="en-US" sz="2199">
                <a:solidFill>
                  <a:srgbClr val="2C4A24"/>
                </a:solidFill>
                <a:latin typeface="Poppins"/>
                <a:ea typeface="Poppins"/>
                <a:cs typeface="Poppins"/>
                <a:sym typeface="Poppins"/>
              </a:rPr>
              <a:t>(Test Mode Select) – this signal is sampled at the rising edge of TCK to determine the next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TDI </a:t>
            </a:r>
            <a:r>
              <a:rPr lang="en-US" sz="2199">
                <a:solidFill>
                  <a:srgbClr val="2C4A24"/>
                </a:solidFill>
                <a:latin typeface="Poppins"/>
                <a:ea typeface="Poppins"/>
                <a:cs typeface="Poppins"/>
                <a:sym typeface="Poppins"/>
              </a:rPr>
              <a:t>(Test Data In) – this signal represents the data shifted into the device’s test or programming logic. It is sampled at the rising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TDO </a:t>
            </a:r>
            <a:r>
              <a:rPr lang="en-US" sz="2199">
                <a:solidFill>
                  <a:srgbClr val="2C4A24"/>
                </a:solidFill>
                <a:latin typeface="Poppins"/>
                <a:ea typeface="Poppins"/>
                <a:cs typeface="Poppins"/>
                <a:sym typeface="Poppins"/>
              </a:rPr>
              <a:t>(Test Data Out) – this signal represents the data shifted out of the device’s test or programming logic and is valid on the falling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TRST </a:t>
            </a:r>
            <a:r>
              <a:rPr lang="en-US" sz="2199">
                <a:solidFill>
                  <a:srgbClr val="2C4A24"/>
                </a:solidFill>
                <a:latin typeface="Poppins"/>
                <a:ea typeface="Poppins"/>
                <a:cs typeface="Poppins"/>
                <a:sym typeface="Poppins"/>
              </a:rPr>
              <a:t>(Test Reset) – this is an optional pin which, when available, can reset the TAP controller’s state machine.</a:t>
            </a:r>
          </a:p>
          <a:p>
            <a:pPr algn="just">
              <a:lnSpc>
                <a:spcPts val="2660"/>
              </a:lnSpc>
            </a:pPr>
            <a:endParaRPr lang="en-US" sz="2199">
              <a:solidFill>
                <a:srgbClr val="2C4A24"/>
              </a:solidFill>
              <a:latin typeface="Poppins"/>
              <a:ea typeface="Poppins"/>
              <a:cs typeface="Poppins"/>
              <a:sym typeface="Poppins"/>
            </a:endParaRPr>
          </a:p>
        </p:txBody>
      </p:sp>
      <p:sp>
        <p:nvSpPr>
          <p:cNvPr id="5" name="TextBox 5"/>
          <p:cNvSpPr txBox="1"/>
          <p:nvPr/>
        </p:nvSpPr>
        <p:spPr>
          <a:xfrm>
            <a:off x="9823089" y="7823043"/>
            <a:ext cx="7732452" cy="644805"/>
          </a:xfrm>
          <a:prstGeom prst="rect">
            <a:avLst/>
          </a:prstGeom>
        </p:spPr>
        <p:txBody>
          <a:bodyPr lIns="0" tIns="0" rIns="0" bIns="0" rtlCol="0" anchor="t">
            <a:spAutoFit/>
          </a:bodyPr>
          <a:lstStyle/>
          <a:p>
            <a:pPr marL="438415" lvl="1" indent="-219207" algn="just">
              <a:lnSpc>
                <a:spcPts val="2842"/>
              </a:lnSpc>
              <a:buFont typeface="Arial"/>
              <a:buChar char="•"/>
            </a:pPr>
            <a:r>
              <a:rPr lang="en-US" sz="2030" b="1">
                <a:solidFill>
                  <a:srgbClr val="2C4A24"/>
                </a:solidFill>
                <a:latin typeface="Poppins Bold"/>
                <a:ea typeface="Poppins Bold"/>
                <a:cs typeface="Poppins Bold"/>
                <a:sym typeface="Poppins Bold"/>
              </a:rPr>
              <a:t>Schematic Diagram of a JTAG enabled device.</a:t>
            </a:r>
          </a:p>
          <a:p>
            <a:pPr algn="just">
              <a:lnSpc>
                <a:spcPts val="1162"/>
              </a:lnSpc>
            </a:pPr>
            <a:endParaRPr lang="en-US" sz="2030" b="1">
              <a:solidFill>
                <a:srgbClr val="2C4A24"/>
              </a:solidFill>
              <a:latin typeface="Poppins Bold"/>
              <a:ea typeface="Poppins Bold"/>
              <a:cs typeface="Poppins Bold"/>
              <a:sym typeface="Poppins Bold"/>
            </a:endParaRPr>
          </a:p>
          <a:p>
            <a:pPr algn="just">
              <a:lnSpc>
                <a:spcPts val="1004"/>
              </a:lnSpc>
            </a:pPr>
            <a:endParaRPr lang="en-US" sz="2030" b="1">
              <a:solidFill>
                <a:srgbClr val="2C4A24"/>
              </a:solidFill>
              <a:latin typeface="Poppins Bold"/>
              <a:ea typeface="Poppins Bold"/>
              <a:cs typeface="Poppins Bold"/>
              <a:sym typeface="Poppi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316949"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3" name="TextBox 3"/>
          <p:cNvSpPr txBox="1"/>
          <p:nvPr/>
        </p:nvSpPr>
        <p:spPr>
          <a:xfrm>
            <a:off x="10818162"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4" name="TextBox 4"/>
          <p:cNvSpPr txBox="1"/>
          <p:nvPr/>
        </p:nvSpPr>
        <p:spPr>
          <a:xfrm>
            <a:off x="14319375"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5" name="TextBox 5"/>
          <p:cNvSpPr txBox="1"/>
          <p:nvPr/>
        </p:nvSpPr>
        <p:spPr>
          <a:xfrm>
            <a:off x="727590" y="1986280"/>
            <a:ext cx="15675251" cy="4676140"/>
          </a:xfrm>
          <a:prstGeom prst="rect">
            <a:avLst/>
          </a:prstGeom>
        </p:spPr>
        <p:txBody>
          <a:bodyPr lIns="0" tIns="0" rIns="0" bIns="0" rtlCol="0" anchor="t">
            <a:spAutoFit/>
          </a:bodyPr>
          <a:lstStyle/>
          <a:p>
            <a:pPr algn="just">
              <a:lnSpc>
                <a:spcPts val="2660"/>
              </a:lnSpc>
            </a:pPr>
            <a:r>
              <a:rPr lang="en-US" sz="1900">
                <a:solidFill>
                  <a:srgbClr val="2C4A24"/>
                </a:solidFill>
                <a:latin typeface="Poppins"/>
                <a:ea typeface="Poppins"/>
                <a:cs typeface="Poppins"/>
                <a:sym typeface="Poppins"/>
              </a:rPr>
              <a:t>There are two types of registers associated with boundary scan. Each compliant device has one instruction register and two or more data registers.</a:t>
            </a:r>
          </a:p>
          <a:p>
            <a:pPr algn="just">
              <a:lnSpc>
                <a:spcPts val="2660"/>
              </a:lnSpc>
            </a:pPr>
            <a:r>
              <a:rPr lang="en-US" sz="1900" b="1">
                <a:solidFill>
                  <a:srgbClr val="2C4A24"/>
                </a:solidFill>
                <a:latin typeface="Poppins Bold"/>
                <a:ea typeface="Poppins Bold"/>
                <a:cs typeface="Poppins Bold"/>
                <a:sym typeface="Poppins Bold"/>
              </a:rPr>
              <a:t>Instruction Register </a:t>
            </a:r>
            <a:r>
              <a:rPr lang="en-US" sz="1900">
                <a:solidFill>
                  <a:srgbClr val="2C4A24"/>
                </a:solidFill>
                <a:latin typeface="Poppins"/>
                <a:ea typeface="Poppins"/>
                <a:cs typeface="Poppins"/>
                <a:sym typeface="Poppins"/>
              </a:rPr>
              <a:t>– the instruction register holds the current instruction. Its content is used by the TAP controller to decide what to do with signals that are received. Most commonly, the content of the instruction register will define to which of the data registers signals should be passed.</a:t>
            </a:r>
          </a:p>
          <a:p>
            <a:pPr algn="just">
              <a:lnSpc>
                <a:spcPts val="2660"/>
              </a:lnSpc>
            </a:pPr>
            <a:r>
              <a:rPr lang="en-US" sz="1900" b="1">
                <a:solidFill>
                  <a:srgbClr val="2C4A24"/>
                </a:solidFill>
                <a:latin typeface="Poppins Bold"/>
                <a:ea typeface="Poppins Bold"/>
                <a:cs typeface="Poppins Bold"/>
                <a:sym typeface="Poppins Bold"/>
              </a:rPr>
              <a:t>Data Registers</a:t>
            </a:r>
            <a:r>
              <a:rPr lang="en-US" sz="1900">
                <a:solidFill>
                  <a:srgbClr val="2C4A24"/>
                </a:solidFill>
                <a:latin typeface="Poppins"/>
                <a:ea typeface="Poppins"/>
                <a:cs typeface="Poppins"/>
                <a:sym typeface="Poppins"/>
              </a:rPr>
              <a:t> – there are three primary data registers, the Boundary Scan Register (BSR), the BYPASS register and the IDCODES register. Other data registers may be present, but they are not required as part of the JTAG standard.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BSR</a:t>
            </a:r>
            <a:r>
              <a:rPr lang="en-US" sz="1900">
                <a:solidFill>
                  <a:srgbClr val="2C4A24"/>
                </a:solidFill>
                <a:latin typeface="Poppins"/>
                <a:ea typeface="Poppins"/>
                <a:cs typeface="Poppins"/>
                <a:sym typeface="Poppins"/>
              </a:rPr>
              <a:t> – this is the main testing data register. It is used to move data to and from the I/O pins of a device.</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BYPASS</a:t>
            </a:r>
            <a:r>
              <a:rPr lang="en-US" sz="1900">
                <a:solidFill>
                  <a:srgbClr val="2C4A24"/>
                </a:solidFill>
                <a:latin typeface="Poppins"/>
                <a:ea typeface="Poppins"/>
                <a:cs typeface="Poppins"/>
                <a:sym typeface="Poppins"/>
              </a:rPr>
              <a:t> – this is a single-bit register that passes information from TDI to TDO. It allows other devices in a circuit to be tested with minimal overhead.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IDCODES </a:t>
            </a:r>
            <a:r>
              <a:rPr lang="en-US" sz="1900">
                <a:solidFill>
                  <a:srgbClr val="2C4A24"/>
                </a:solidFill>
                <a:latin typeface="Poppins"/>
                <a:ea typeface="Poppins"/>
                <a:cs typeface="Poppins"/>
                <a:sym typeface="Poppins"/>
              </a:rPr>
              <a:t>– this register contains the ID code and revision number for the device. This information allows the device to be linked to its Boundary Scan Description Language (BSDL) file. The file contains details of the Boundary Scan configuration for the device.</a:t>
            </a:r>
          </a:p>
          <a:p>
            <a:pPr algn="just">
              <a:lnSpc>
                <a:spcPts val="2660"/>
              </a:lnSpc>
            </a:pPr>
            <a:endParaRPr lang="en-US" sz="1900">
              <a:solidFill>
                <a:srgbClr val="2C4A24"/>
              </a:solidFill>
              <a:latin typeface="Poppins"/>
              <a:ea typeface="Poppins"/>
              <a:cs typeface="Poppins"/>
              <a:sym typeface="Poppins"/>
            </a:endParaRPr>
          </a:p>
        </p:txBody>
      </p:sp>
      <p:sp>
        <p:nvSpPr>
          <p:cNvPr id="6" name="TextBox 6"/>
          <p:cNvSpPr txBox="1"/>
          <p:nvPr/>
        </p:nvSpPr>
        <p:spPr>
          <a:xfrm>
            <a:off x="577518" y="1241073"/>
            <a:ext cx="7548518" cy="2095520"/>
          </a:xfrm>
          <a:prstGeom prst="rect">
            <a:avLst/>
          </a:prstGeom>
        </p:spPr>
        <p:txBody>
          <a:bodyPr lIns="0" tIns="0" rIns="0" bIns="0" rtlCol="0" anchor="t">
            <a:spAutoFit/>
          </a:bodyPr>
          <a:lstStyle/>
          <a:p>
            <a:pPr algn="l">
              <a:lnSpc>
                <a:spcPts val="4370"/>
              </a:lnSpc>
            </a:pPr>
            <a:r>
              <a:rPr lang="en-US" sz="4600" spc="-82">
                <a:solidFill>
                  <a:srgbClr val="566660"/>
                </a:solidFill>
                <a:latin typeface="League Spartan"/>
                <a:ea typeface="League Spartan"/>
                <a:cs typeface="League Spartan"/>
                <a:sym typeface="League Spartan"/>
              </a:rPr>
              <a:t>REGISTERS</a:t>
            </a:r>
          </a:p>
          <a:p>
            <a:pPr algn="l">
              <a:lnSpc>
                <a:spcPts val="9119"/>
              </a:lnSpc>
            </a:pPr>
            <a:endParaRPr lang="en-US" sz="4600" spc="-82">
              <a:solidFill>
                <a:srgbClr val="566660"/>
              </a:solidFill>
              <a:latin typeface="League Spartan"/>
              <a:ea typeface="League Spartan"/>
              <a:cs typeface="League Spartan"/>
              <a:sym typeface="League Spartan"/>
            </a:endParaRPr>
          </a:p>
          <a:p>
            <a:pPr algn="l">
              <a:lnSpc>
                <a:spcPts val="3040"/>
              </a:lnSpc>
            </a:pPr>
            <a:endParaRPr lang="en-US" sz="4600" spc="-82">
              <a:solidFill>
                <a:srgbClr val="566660"/>
              </a:solidFill>
              <a:latin typeface="League Spartan"/>
              <a:ea typeface="League Spartan"/>
              <a:cs typeface="League Spartan"/>
              <a:sym typeface="League Spart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1702320" y="2787829"/>
            <a:ext cx="5173746" cy="5660063"/>
          </a:xfrm>
          <a:custGeom>
            <a:avLst/>
            <a:gdLst/>
            <a:ahLst/>
            <a:cxnLst/>
            <a:rect l="l" t="t" r="r" b="b"/>
            <a:pathLst>
              <a:path w="5173746" h="5660063">
                <a:moveTo>
                  <a:pt x="0" y="0"/>
                </a:moveTo>
                <a:lnTo>
                  <a:pt x="5173747" y="0"/>
                </a:lnTo>
                <a:lnTo>
                  <a:pt x="5173747" y="5660063"/>
                </a:lnTo>
                <a:lnTo>
                  <a:pt x="0" y="5660063"/>
                </a:lnTo>
                <a:lnTo>
                  <a:pt x="0" y="0"/>
                </a:lnTo>
                <a:close/>
              </a:path>
            </a:pathLst>
          </a:custGeom>
          <a:blipFill>
            <a:blip r:embed="rId2"/>
            <a:stretch>
              <a:fillRect b="-985"/>
            </a:stretch>
          </a:blipFill>
        </p:spPr>
      </p:sp>
      <p:sp>
        <p:nvSpPr>
          <p:cNvPr id="3" name="TextBox 3"/>
          <p:cNvSpPr txBox="1"/>
          <p:nvPr/>
        </p:nvSpPr>
        <p:spPr>
          <a:xfrm>
            <a:off x="652222" y="2555995"/>
            <a:ext cx="9784158" cy="307022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All states have two exits, so all transitions can be controlled by the single TMS signal sampled on TCK. The two main paths allow for setting or retrieving information from either a data register or the instruction register of the device. The data register operated on (e.g. BSR, IDCODES, BYPASS) depends on the value loaded into the instruction register.</a:t>
            </a:r>
          </a:p>
        </p:txBody>
      </p:sp>
      <p:sp>
        <p:nvSpPr>
          <p:cNvPr id="4" name="TextBox 4"/>
          <p:cNvSpPr txBox="1"/>
          <p:nvPr/>
        </p:nvSpPr>
        <p:spPr>
          <a:xfrm>
            <a:off x="652222" y="1423897"/>
            <a:ext cx="12555912" cy="87947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The TAP controller, a state machine whose transitions are controlled by the TMS signal, controls the behaviour of the JTAG system</a:t>
            </a:r>
          </a:p>
        </p:txBody>
      </p:sp>
      <p:sp>
        <p:nvSpPr>
          <p:cNvPr id="5" name="TextBox 5"/>
          <p:cNvSpPr txBox="1"/>
          <p:nvPr/>
        </p:nvSpPr>
        <p:spPr>
          <a:xfrm>
            <a:off x="413571" y="386277"/>
            <a:ext cx="13205937" cy="903590"/>
          </a:xfrm>
          <a:prstGeom prst="rect">
            <a:avLst/>
          </a:prstGeom>
        </p:spPr>
        <p:txBody>
          <a:bodyPr lIns="0" tIns="0" rIns="0" bIns="0" rtlCol="0" anchor="t">
            <a:spAutoFit/>
          </a:bodyPr>
          <a:lstStyle/>
          <a:p>
            <a:pPr algn="ctr">
              <a:lnSpc>
                <a:spcPts val="7420"/>
              </a:lnSpc>
              <a:spcBef>
                <a:spcPct val="0"/>
              </a:spcBef>
            </a:pPr>
            <a:r>
              <a:rPr lang="en-US" sz="5300" b="1" spc="-95">
                <a:solidFill>
                  <a:srgbClr val="000000"/>
                </a:solidFill>
                <a:latin typeface="League Spartan"/>
                <a:ea typeface="League Spartan"/>
                <a:cs typeface="League Spartan"/>
                <a:sym typeface="League Spartan"/>
              </a:rPr>
              <a:t>TEST ACCESS PORT (TAP) CONTROLLER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04930" y="521472"/>
            <a:ext cx="15079444" cy="1355743"/>
          </a:xfrm>
          <a:prstGeom prst="rect">
            <a:avLst/>
          </a:prstGeom>
        </p:spPr>
        <p:txBody>
          <a:bodyPr lIns="0" tIns="0" rIns="0" bIns="0" rtlCol="0" anchor="t">
            <a:spAutoFit/>
          </a:bodyPr>
          <a:lstStyle/>
          <a:p>
            <a:pPr algn="l">
              <a:lnSpc>
                <a:spcPts val="5225"/>
              </a:lnSpc>
            </a:pPr>
            <a:r>
              <a:rPr lang="en-US" sz="5500" spc="-99">
                <a:solidFill>
                  <a:srgbClr val="566660"/>
                </a:solidFill>
                <a:latin typeface="League Spartan"/>
                <a:ea typeface="League Spartan"/>
                <a:cs typeface="League Spartan"/>
                <a:sym typeface="League Spartan"/>
              </a:rPr>
              <a:t>JTAG INSTRUCTIONS(BOUNDARY SCAN)</a:t>
            </a:r>
          </a:p>
          <a:p>
            <a:pPr algn="l">
              <a:lnSpc>
                <a:spcPts val="5225"/>
              </a:lnSpc>
            </a:pPr>
            <a:endParaRPr lang="en-US" sz="5500" spc="-99">
              <a:solidFill>
                <a:srgbClr val="566660"/>
              </a:solidFill>
              <a:latin typeface="League Spartan"/>
              <a:ea typeface="League Spartan"/>
              <a:cs typeface="League Spartan"/>
              <a:sym typeface="League Spartan"/>
            </a:endParaRPr>
          </a:p>
        </p:txBody>
      </p:sp>
      <p:sp>
        <p:nvSpPr>
          <p:cNvPr id="3" name="TextBox 3"/>
          <p:cNvSpPr txBox="1"/>
          <p:nvPr/>
        </p:nvSpPr>
        <p:spPr>
          <a:xfrm>
            <a:off x="1313593" y="1449361"/>
            <a:ext cx="15309064" cy="7051040"/>
          </a:xfrm>
          <a:prstGeom prst="rect">
            <a:avLst/>
          </a:prstGeom>
        </p:spPr>
        <p:txBody>
          <a:bodyPr lIns="0" tIns="0" rIns="0" bIns="0" rtlCol="0" anchor="t">
            <a:spAutoFit/>
          </a:bodyPr>
          <a:lstStyle/>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BYPASS </a:t>
            </a:r>
            <a:r>
              <a:rPr lang="en-US" sz="2399">
                <a:solidFill>
                  <a:srgbClr val="2C4A24"/>
                </a:solidFill>
                <a:latin typeface="Poppins"/>
                <a:ea typeface="Poppins"/>
                <a:cs typeface="Poppins"/>
                <a:sym typeface="Poppins"/>
              </a:rPr>
              <a:t>– this instruction causes the TDI and TDO lines to be connected via a single-bit pass-through register (the BYPASS register). This instruction allows the testing of other devices in the JTAG chain without any unnecessary overhead.</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EXTEST </a:t>
            </a:r>
            <a:r>
              <a:rPr lang="en-US" sz="2399">
                <a:solidFill>
                  <a:srgbClr val="2C4A24"/>
                </a:solidFill>
                <a:latin typeface="Poppins"/>
                <a:ea typeface="Poppins"/>
                <a:cs typeface="Poppins"/>
                <a:sym typeface="Poppins"/>
              </a:rPr>
              <a:t>– this instruction causes the TDI and TDO to be connected to the Boundary Scan Register (BSR). The device’s pin states are sampled with the ‘capture dr’ JTAG state and new values are shifted into the BSR with the ‘shift dr’ state; these values are then applied to the pins of the device using the ‘update dr’ state.</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SAMPLE/PRELOAD</a:t>
            </a:r>
            <a:r>
              <a:rPr lang="en-US" sz="2399">
                <a:solidFill>
                  <a:srgbClr val="2C4A24"/>
                </a:solidFill>
                <a:latin typeface="Poppins"/>
                <a:ea typeface="Poppins"/>
                <a:cs typeface="Poppins"/>
                <a:sym typeface="Poppins"/>
              </a:rPr>
              <a:t> – this instruction causes the TDI and TDO to be connected to the BSR. However, the device is left in its normal functional mode. During this instruction, the BSR can be accessed by a data scan operation to take a sample of the functional data entering and leaving the device. The instruction is also used to preload test data into the BSR prior to loading an EXTEST instruction</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IDCODE</a:t>
            </a:r>
            <a:r>
              <a:rPr lang="en-US" sz="2399">
                <a:solidFill>
                  <a:srgbClr val="2C4A24"/>
                </a:solidFill>
                <a:latin typeface="Poppins"/>
                <a:ea typeface="Poppins"/>
                <a:cs typeface="Poppins"/>
                <a:sym typeface="Poppins"/>
              </a:rPr>
              <a:t> – this instruction causes the TDI and TDO to be connected to the IDCODE register.</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INTEST</a:t>
            </a:r>
            <a:r>
              <a:rPr lang="en-US" sz="2399">
                <a:solidFill>
                  <a:srgbClr val="2C4A24"/>
                </a:solidFill>
                <a:latin typeface="Poppins"/>
                <a:ea typeface="Poppins"/>
                <a:cs typeface="Poppins"/>
                <a:sym typeface="Poppins"/>
              </a:rPr>
              <a:t> – this instruction causes the TDI and TDO lines to be connected to the Boundary Scan Register (BSR). While the EXTEST instruction allows the user to set and read pin states, the INTEST instruction relates to the core-logic signals of a device.</a:t>
            </a:r>
          </a:p>
          <a:p>
            <a:pPr algn="just">
              <a:lnSpc>
                <a:spcPts val="2660"/>
              </a:lnSpc>
            </a:pPr>
            <a:endParaRPr lang="en-US" sz="2399">
              <a:solidFill>
                <a:srgbClr val="2C4A24"/>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31266" y="698625"/>
            <a:ext cx="12648855" cy="2795603"/>
          </a:xfrm>
          <a:prstGeom prst="rect">
            <a:avLst/>
          </a:prstGeom>
        </p:spPr>
        <p:txBody>
          <a:bodyPr lIns="0" tIns="0" rIns="0" bIns="0" rtlCol="0" anchor="t">
            <a:spAutoFit/>
          </a:bodyPr>
          <a:lstStyle/>
          <a:p>
            <a:pPr algn="l">
              <a:lnSpc>
                <a:spcPts val="6460"/>
              </a:lnSpc>
            </a:pPr>
            <a:r>
              <a:rPr lang="en-US" sz="6800" spc="-122">
                <a:solidFill>
                  <a:srgbClr val="566660"/>
                </a:solidFill>
                <a:latin typeface="League Spartan"/>
                <a:ea typeface="League Spartan"/>
                <a:cs typeface="League Spartan"/>
                <a:sym typeface="League Spartan"/>
              </a:rPr>
              <a:t>APPLICATIONS OF JTAG</a:t>
            </a:r>
          </a:p>
          <a:p>
            <a:pPr algn="l">
              <a:lnSpc>
                <a:spcPts val="7505"/>
              </a:lnSpc>
            </a:pPr>
            <a:endParaRPr lang="en-US" sz="6800" spc="-122">
              <a:solidFill>
                <a:srgbClr val="566660"/>
              </a:solidFill>
              <a:latin typeface="League Spartan"/>
              <a:ea typeface="League Spartan"/>
              <a:cs typeface="League Spartan"/>
              <a:sym typeface="League Spartan"/>
            </a:endParaRPr>
          </a:p>
          <a:p>
            <a:pPr algn="l">
              <a:lnSpc>
                <a:spcPts val="7505"/>
              </a:lnSpc>
            </a:pPr>
            <a:endParaRPr lang="en-US" sz="6800" spc="-122">
              <a:solidFill>
                <a:srgbClr val="566660"/>
              </a:solidFill>
              <a:latin typeface="League Spartan"/>
              <a:ea typeface="League Spartan"/>
              <a:cs typeface="League Spartan"/>
              <a:sym typeface="League Spartan"/>
            </a:endParaRPr>
          </a:p>
        </p:txBody>
      </p:sp>
      <p:sp>
        <p:nvSpPr>
          <p:cNvPr id="3" name="TextBox 3"/>
          <p:cNvSpPr txBox="1"/>
          <p:nvPr/>
        </p:nvSpPr>
        <p:spPr>
          <a:xfrm>
            <a:off x="750299" y="2087734"/>
            <a:ext cx="7155568" cy="3481705"/>
          </a:xfrm>
          <a:prstGeom prst="rect">
            <a:avLst/>
          </a:prstGeom>
        </p:spPr>
        <p:txBody>
          <a:bodyPr lIns="0" tIns="0" rIns="0" bIns="0" rtlCol="0" anchor="t">
            <a:spAutoFit/>
          </a:bodyPr>
          <a:lstStyle/>
          <a:p>
            <a:pPr marL="604519" lvl="1" indent="-302260" algn="l">
              <a:lnSpc>
                <a:spcPts val="3919"/>
              </a:lnSpc>
              <a:buFont typeface="Arial"/>
              <a:buChar char="•"/>
            </a:pPr>
            <a:r>
              <a:rPr lang="en-US" sz="2799" spc="-167">
                <a:solidFill>
                  <a:srgbClr val="566660"/>
                </a:solidFill>
                <a:latin typeface="Poppins"/>
                <a:ea typeface="Poppins"/>
                <a:cs typeface="Poppins"/>
                <a:sym typeface="Poppins"/>
              </a:rPr>
              <a:t>PCB testing and verification</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Processor debugging (ARM, RISC-V etc.)</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FPGA configuration (Xilinx, Intel)</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Flash memory programming</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Manufacturing test automation</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Board bring-up and diagnostics</a:t>
            </a:r>
          </a:p>
          <a:p>
            <a:pPr algn="l">
              <a:lnSpc>
                <a:spcPts val="3919"/>
              </a:lnSpc>
            </a:pPr>
            <a:endParaRPr lang="en-US" sz="2799" spc="-167">
              <a:solidFill>
                <a:srgbClr val="56666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5201101" y="4305570"/>
            <a:ext cx="7548518" cy="1228725"/>
          </a:xfrm>
          <a:prstGeom prst="rect">
            <a:avLst/>
          </a:prstGeom>
        </p:spPr>
        <p:txBody>
          <a:bodyPr lIns="0" tIns="0" rIns="0" bIns="0" rtlCol="0" anchor="t">
            <a:spAutoFit/>
          </a:bodyPr>
          <a:lstStyle/>
          <a:p>
            <a:pPr algn="l">
              <a:lnSpc>
                <a:spcPts val="9119"/>
              </a:lnSpc>
            </a:pPr>
            <a:r>
              <a:rPr lang="en-US" sz="9600" spc="-172">
                <a:solidFill>
                  <a:srgbClr val="566660"/>
                </a:solidFill>
                <a:latin typeface="League Spartan"/>
                <a:ea typeface="League Spartan"/>
                <a:cs typeface="League Spartan"/>
                <a:sym typeface="League Spartan"/>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1085</Words>
  <Application>Microsoft Office PowerPoint</Application>
  <PresentationFormat>Custom</PresentationFormat>
  <Paragraphs>83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Poppins Bold</vt:lpstr>
      <vt:lpstr>League Spartan</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Grey Minimalist Aesthetic Project Proposal Presentation</dc:title>
  <cp:lastModifiedBy>Giresh Boddu</cp:lastModifiedBy>
  <cp:revision>1</cp:revision>
  <dcterms:created xsi:type="dcterms:W3CDTF">2006-08-16T00:00:00Z</dcterms:created>
  <dcterms:modified xsi:type="dcterms:W3CDTF">2025-11-27T01:46:46Z</dcterms:modified>
  <dc:identifier>DAG5sZ59feg</dc:identifier>
</cp:coreProperties>
</file>