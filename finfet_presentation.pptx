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Nirand Bold" panose="020B0604020202020204" charset="-34"/>
      <p:regular r:id="rId14"/>
    </p:embeddedFont>
    <p:embeddedFont>
      <p:font typeface="Nunito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D1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3790" y="-2876710"/>
            <a:ext cx="16040420" cy="1604042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134655" y="2409657"/>
            <a:ext cx="11124645" cy="2492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00"/>
              </a:lnSpc>
            </a:pPr>
            <a:r>
              <a:rPr lang="en-US" sz="12500" b="1">
                <a:solidFill>
                  <a:srgbClr val="627484"/>
                </a:solidFill>
                <a:latin typeface="Nirand Bold"/>
                <a:ea typeface="Nirand Bold"/>
                <a:cs typeface="Nirand Bold"/>
                <a:sym typeface="Nirand Bold"/>
              </a:rPr>
              <a:t>FINFET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60869" y="5123022"/>
            <a:ext cx="10966262" cy="1226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GIRESH</a:t>
            </a: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CHIPWEAVE TECHNOLOGIESPVT LTD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3" name="TextBox 3"/>
          <p:cNvSpPr txBox="1"/>
          <p:nvPr/>
        </p:nvSpPr>
        <p:spPr>
          <a:xfrm>
            <a:off x="4740084" y="676275"/>
            <a:ext cx="8807832" cy="149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BASICS OF FINFET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03958" y="2185374"/>
            <a:ext cx="9251100" cy="714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9" lvl="1" indent="-313054" algn="l">
              <a:lnSpc>
                <a:spcPts val="5799"/>
              </a:lnSpc>
              <a:buFont typeface="Arial"/>
              <a:buChar char="•"/>
            </a:pPr>
            <a:r>
              <a:rPr lang="en-US" sz="28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it is Type of Multi Gate MOSFET.</a:t>
            </a:r>
          </a:p>
          <a:p>
            <a:pPr marL="626109" lvl="1" indent="-313054" algn="l">
              <a:lnSpc>
                <a:spcPts val="5799"/>
              </a:lnSpc>
              <a:buFont typeface="Arial"/>
              <a:buChar char="•"/>
            </a:pPr>
            <a:r>
              <a:rPr lang="en-US" sz="28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It is widely used over planar CMOS FET.</a:t>
            </a:r>
          </a:p>
          <a:p>
            <a:pPr marL="626109" lvl="1" indent="-313054" algn="l">
              <a:lnSpc>
                <a:spcPts val="5799"/>
              </a:lnSpc>
              <a:buFont typeface="Arial"/>
              <a:buChar char="•"/>
            </a:pPr>
            <a:r>
              <a:rPr lang="en-US" sz="28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Fin is channel in between source and drain</a:t>
            </a:r>
          </a:p>
          <a:p>
            <a:pPr marL="626109" lvl="1" indent="-313054" algn="l">
              <a:lnSpc>
                <a:spcPts val="5799"/>
              </a:lnSpc>
              <a:buFont typeface="Arial"/>
              <a:buChar char="•"/>
            </a:pPr>
            <a:r>
              <a:rPr lang="en-US" sz="28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FinFET can have two or four or more Fins</a:t>
            </a:r>
          </a:p>
          <a:p>
            <a:pPr marL="626109" lvl="1" indent="-313054" algn="l">
              <a:lnSpc>
                <a:spcPts val="5799"/>
              </a:lnSpc>
              <a:buFont typeface="Arial"/>
              <a:buChar char="•"/>
            </a:pPr>
            <a:r>
              <a:rPr lang="en-US" sz="28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It gives following advantages over FET</a:t>
            </a:r>
          </a:p>
          <a:p>
            <a:pPr algn="l">
              <a:lnSpc>
                <a:spcPts val="5799"/>
              </a:lnSpc>
            </a:pPr>
            <a:r>
              <a:rPr lang="en-US" sz="28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       □ Area of performance</a:t>
            </a:r>
          </a:p>
          <a:p>
            <a:pPr algn="l">
              <a:lnSpc>
                <a:spcPts val="5799"/>
              </a:lnSpc>
            </a:pPr>
            <a:r>
              <a:rPr lang="en-US" sz="28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       □ Lower Leakage power</a:t>
            </a:r>
          </a:p>
          <a:p>
            <a:pPr algn="l">
              <a:lnSpc>
                <a:spcPts val="5799"/>
              </a:lnSpc>
            </a:pPr>
            <a:r>
              <a:rPr lang="en-US" sz="28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       □ Low voltage operation</a:t>
            </a:r>
          </a:p>
          <a:p>
            <a:pPr algn="l">
              <a:lnSpc>
                <a:spcPts val="5799"/>
              </a:lnSpc>
            </a:pPr>
            <a:r>
              <a:rPr lang="en-US" sz="28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       □ It has better control over current</a:t>
            </a:r>
          </a:p>
          <a:p>
            <a:pPr algn="l">
              <a:lnSpc>
                <a:spcPts val="4059"/>
              </a:lnSpc>
            </a:pPr>
            <a:endParaRPr lang="en-US" sz="2899">
              <a:solidFill>
                <a:srgbClr val="2E3A4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</p:sp>
      <p:graphicFrame>
        <p:nvGraphicFramePr>
          <p:cNvPr id="3" name="Object 3"/>
          <p:cNvGraphicFramePr/>
          <p:nvPr/>
        </p:nvGraphicFramePr>
        <p:xfrm>
          <a:off x="566940" y="1685925"/>
          <a:ext cx="5657850" cy="691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035800" imgH="8293100" progId="Excel.Sheet.12">
                  <p:embed/>
                </p:oleObj>
              </mc:Choice>
              <mc:Fallback>
                <p:oleObj name="Worksheet" r:id="rId2" imgW="7035800" imgH="82931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6940" y="1685925"/>
                        <a:ext cx="5657850" cy="6915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-218308" y="-179434"/>
            <a:ext cx="12119055" cy="149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MOSFET VS FGINFET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CA07DF-3B16-1493-3BB8-26C6827D3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64199" cy="112394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3" name="Freeform 3"/>
          <p:cNvSpPr/>
          <p:nvPr/>
        </p:nvSpPr>
        <p:spPr>
          <a:xfrm>
            <a:off x="459056" y="2733205"/>
            <a:ext cx="8254722" cy="5564685"/>
          </a:xfrm>
          <a:custGeom>
            <a:avLst/>
            <a:gdLst/>
            <a:ahLst/>
            <a:cxnLst/>
            <a:rect l="l" t="t" r="r" b="b"/>
            <a:pathLst>
              <a:path w="8254722" h="5564685">
                <a:moveTo>
                  <a:pt x="0" y="0"/>
                </a:moveTo>
                <a:lnTo>
                  <a:pt x="8254722" y="0"/>
                </a:lnTo>
                <a:lnTo>
                  <a:pt x="8254722" y="5564685"/>
                </a:lnTo>
                <a:lnTo>
                  <a:pt x="0" y="55646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636566" y="2052105"/>
            <a:ext cx="6591394" cy="6553728"/>
          </a:xfrm>
          <a:custGeom>
            <a:avLst/>
            <a:gdLst/>
            <a:ahLst/>
            <a:cxnLst/>
            <a:rect l="l" t="t" r="r" b="b"/>
            <a:pathLst>
              <a:path w="6591394" h="6553728">
                <a:moveTo>
                  <a:pt x="0" y="0"/>
                </a:moveTo>
                <a:lnTo>
                  <a:pt x="6591394" y="0"/>
                </a:lnTo>
                <a:lnTo>
                  <a:pt x="6591394" y="6553728"/>
                </a:lnTo>
                <a:lnTo>
                  <a:pt x="0" y="65537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773209" y="285625"/>
            <a:ext cx="11253392" cy="149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STRUCTURE OF FINFET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3" name="Freeform 3"/>
          <p:cNvSpPr/>
          <p:nvPr/>
        </p:nvSpPr>
        <p:spPr>
          <a:xfrm>
            <a:off x="530819" y="1765824"/>
            <a:ext cx="5128221" cy="4528586"/>
          </a:xfrm>
          <a:custGeom>
            <a:avLst/>
            <a:gdLst/>
            <a:ahLst/>
            <a:cxnLst/>
            <a:rect l="l" t="t" r="r" b="b"/>
            <a:pathLst>
              <a:path w="5128221" h="4528586">
                <a:moveTo>
                  <a:pt x="0" y="0"/>
                </a:moveTo>
                <a:lnTo>
                  <a:pt x="5128220" y="0"/>
                </a:lnTo>
                <a:lnTo>
                  <a:pt x="5128220" y="4528586"/>
                </a:lnTo>
                <a:lnTo>
                  <a:pt x="0" y="4528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184073" y="1765824"/>
            <a:ext cx="4624214" cy="4307601"/>
          </a:xfrm>
          <a:custGeom>
            <a:avLst/>
            <a:gdLst/>
            <a:ahLst/>
            <a:cxnLst/>
            <a:rect l="l" t="t" r="r" b="b"/>
            <a:pathLst>
              <a:path w="4624214" h="4307601">
                <a:moveTo>
                  <a:pt x="0" y="0"/>
                </a:moveTo>
                <a:lnTo>
                  <a:pt x="4624213" y="0"/>
                </a:lnTo>
                <a:lnTo>
                  <a:pt x="4624213" y="4307601"/>
                </a:lnTo>
                <a:lnTo>
                  <a:pt x="0" y="4307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-515403" y="-123627"/>
            <a:ext cx="16598706" cy="149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DOUBLE AND TRI GATE FINFET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0819" y="6640812"/>
            <a:ext cx="8027603" cy="1353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• Two gates control the fin from both sides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• Better channel control than single-gate MOSFET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• Reduced leakage and improved performance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94394" y="6640812"/>
            <a:ext cx="8293606" cy="226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• Three gates control the fin (top and two sides)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• Excellent electrostatic control over channel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• Further reduction in leakage and power consumption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2E3A44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2E3A4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3" name="Freeform 3"/>
          <p:cNvSpPr/>
          <p:nvPr/>
        </p:nvSpPr>
        <p:spPr>
          <a:xfrm>
            <a:off x="9979206" y="1204376"/>
            <a:ext cx="4098117" cy="3323641"/>
          </a:xfrm>
          <a:custGeom>
            <a:avLst/>
            <a:gdLst/>
            <a:ahLst/>
            <a:cxnLst/>
            <a:rect l="l" t="t" r="r" b="b"/>
            <a:pathLst>
              <a:path w="4098117" h="3323641">
                <a:moveTo>
                  <a:pt x="0" y="0"/>
                </a:moveTo>
                <a:lnTo>
                  <a:pt x="4098116" y="0"/>
                </a:lnTo>
                <a:lnTo>
                  <a:pt x="4098116" y="3323641"/>
                </a:lnTo>
                <a:lnTo>
                  <a:pt x="0" y="33236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581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192818" y="5143500"/>
            <a:ext cx="3670893" cy="3536044"/>
          </a:xfrm>
          <a:custGeom>
            <a:avLst/>
            <a:gdLst/>
            <a:ahLst/>
            <a:cxnLst/>
            <a:rect l="l" t="t" r="r" b="b"/>
            <a:pathLst>
              <a:path w="3670893" h="3536044">
                <a:moveTo>
                  <a:pt x="0" y="0"/>
                </a:moveTo>
                <a:lnTo>
                  <a:pt x="3670892" y="0"/>
                </a:lnTo>
                <a:lnTo>
                  <a:pt x="3670892" y="3536044"/>
                </a:lnTo>
                <a:lnTo>
                  <a:pt x="0" y="35360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76404" y="1698570"/>
            <a:ext cx="8567596" cy="1353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Substrate: In fabrication process, 1st lightly doped P type substrate is fabricated and hard mask is fabricated over the substrate.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4814" y="-142230"/>
            <a:ext cx="16391580" cy="149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FABRICATION PROCESS OF FINFET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6303050"/>
            <a:ext cx="6494393" cy="89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Fin Etch: Then by a highly an isotropic process fins are formed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3" name="Freeform 3"/>
          <p:cNvSpPr/>
          <p:nvPr/>
        </p:nvSpPr>
        <p:spPr>
          <a:xfrm>
            <a:off x="10114869" y="1353195"/>
            <a:ext cx="2378115" cy="3001257"/>
          </a:xfrm>
          <a:custGeom>
            <a:avLst/>
            <a:gdLst/>
            <a:ahLst/>
            <a:cxnLst/>
            <a:rect l="l" t="t" r="r" b="b"/>
            <a:pathLst>
              <a:path w="2378115" h="3001257">
                <a:moveTo>
                  <a:pt x="0" y="0"/>
                </a:moveTo>
                <a:lnTo>
                  <a:pt x="2378115" y="0"/>
                </a:lnTo>
                <a:lnTo>
                  <a:pt x="2378115" y="3001258"/>
                </a:lnTo>
                <a:lnTo>
                  <a:pt x="0" y="3001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303926" y="5078280"/>
            <a:ext cx="3013609" cy="3437143"/>
          </a:xfrm>
          <a:custGeom>
            <a:avLst/>
            <a:gdLst/>
            <a:ahLst/>
            <a:cxnLst/>
            <a:rect l="l" t="t" r="r" b="b"/>
            <a:pathLst>
              <a:path w="3013609" h="3437143">
                <a:moveTo>
                  <a:pt x="0" y="0"/>
                </a:moveTo>
                <a:lnTo>
                  <a:pt x="3013609" y="0"/>
                </a:lnTo>
                <a:lnTo>
                  <a:pt x="3013609" y="3437143"/>
                </a:lnTo>
                <a:lnTo>
                  <a:pt x="0" y="34371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256169" y="1240899"/>
            <a:ext cx="2507488" cy="3225849"/>
          </a:xfrm>
          <a:custGeom>
            <a:avLst/>
            <a:gdLst/>
            <a:ahLst/>
            <a:cxnLst/>
            <a:rect l="l" t="t" r="r" b="b"/>
            <a:pathLst>
              <a:path w="2507488" h="3225849">
                <a:moveTo>
                  <a:pt x="0" y="0"/>
                </a:moveTo>
                <a:lnTo>
                  <a:pt x="2507489" y="0"/>
                </a:lnTo>
                <a:lnTo>
                  <a:pt x="2507489" y="3225850"/>
                </a:lnTo>
                <a:lnTo>
                  <a:pt x="0" y="32258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76404" y="1698570"/>
            <a:ext cx="8567596" cy="89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• Oxide Deposition : Over Fins oxide layers are formed to isolate the fins.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4814" y="-142230"/>
            <a:ext cx="16391580" cy="149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FABRICATION PROCESS OF FINFET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6404" y="4107969"/>
            <a:ext cx="6494393" cy="89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• Planarization: It is planarized by chemical mechanical polishing process.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6404" y="6957714"/>
            <a:ext cx="7814200" cy="89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Recess Etch : By this process excess oxide is etched.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3" name="Freeform 3"/>
          <p:cNvSpPr/>
          <p:nvPr/>
        </p:nvSpPr>
        <p:spPr>
          <a:xfrm>
            <a:off x="11676165" y="1353195"/>
            <a:ext cx="3040889" cy="3370318"/>
          </a:xfrm>
          <a:custGeom>
            <a:avLst/>
            <a:gdLst/>
            <a:ahLst/>
            <a:cxnLst/>
            <a:rect l="l" t="t" r="r" b="b"/>
            <a:pathLst>
              <a:path w="3040889" h="3370318">
                <a:moveTo>
                  <a:pt x="0" y="0"/>
                </a:moveTo>
                <a:lnTo>
                  <a:pt x="3040889" y="0"/>
                </a:lnTo>
                <a:lnTo>
                  <a:pt x="3040889" y="3370318"/>
                </a:lnTo>
                <a:lnTo>
                  <a:pt x="0" y="3370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835135" y="5003954"/>
            <a:ext cx="2722950" cy="3588709"/>
          </a:xfrm>
          <a:custGeom>
            <a:avLst/>
            <a:gdLst/>
            <a:ahLst/>
            <a:cxnLst/>
            <a:rect l="l" t="t" r="r" b="b"/>
            <a:pathLst>
              <a:path w="2722950" h="3588709">
                <a:moveTo>
                  <a:pt x="0" y="0"/>
                </a:moveTo>
                <a:lnTo>
                  <a:pt x="2722950" y="0"/>
                </a:lnTo>
                <a:lnTo>
                  <a:pt x="2722950" y="3588709"/>
                </a:lnTo>
                <a:lnTo>
                  <a:pt x="0" y="35887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76404" y="1698570"/>
            <a:ext cx="8567596" cy="1353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Gate Oxide : To isolate the channel from the gate by thermal oxidation process gate oxide is deposited over the fins.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4814" y="-142230"/>
            <a:ext cx="16391580" cy="149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FABRICATION PROCESS OF FINFET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6097904"/>
            <a:ext cx="7889572" cy="89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• Deposition of the Gate : highly doped N+ poly silicon gate layer is formed and deposited over fins.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3" name="Freeform 3"/>
          <p:cNvSpPr/>
          <p:nvPr/>
        </p:nvSpPr>
        <p:spPr>
          <a:xfrm>
            <a:off x="9838704" y="2171700"/>
            <a:ext cx="7986192" cy="5858679"/>
          </a:xfrm>
          <a:custGeom>
            <a:avLst/>
            <a:gdLst/>
            <a:ahLst/>
            <a:cxnLst/>
            <a:rect l="l" t="t" r="r" b="b"/>
            <a:pathLst>
              <a:path w="7986192" h="5858679">
                <a:moveTo>
                  <a:pt x="0" y="0"/>
                </a:moveTo>
                <a:lnTo>
                  <a:pt x="7986192" y="0"/>
                </a:lnTo>
                <a:lnTo>
                  <a:pt x="7986192" y="5858679"/>
                </a:lnTo>
                <a:lnTo>
                  <a:pt x="0" y="5858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-1945256" y="104775"/>
            <a:ext cx="18923096" cy="149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CHARACTERISTICS OF FINFET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7107" y="1684812"/>
            <a:ext cx="8604443" cy="397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82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• Drain Current will increase with respect to Vgs (Gate source voltage).</a:t>
            </a:r>
          </a:p>
          <a:p>
            <a:pPr algn="l">
              <a:lnSpc>
                <a:spcPts val="5382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• Initially, Id will increase with increase in Vds (Drain to source voltage), after that FinFET enters into saturation region where Id current will be constant.</a:t>
            </a:r>
          </a:p>
          <a:p>
            <a:pPr algn="l">
              <a:lnSpc>
                <a:spcPts val="5382"/>
              </a:lnSpc>
            </a:pPr>
            <a:endParaRPr lang="en-US" sz="2600">
              <a:solidFill>
                <a:srgbClr val="2E3A4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3" name="TextBox 3"/>
          <p:cNvSpPr txBox="1"/>
          <p:nvPr/>
        </p:nvSpPr>
        <p:spPr>
          <a:xfrm>
            <a:off x="829564" y="241222"/>
            <a:ext cx="13616026" cy="149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ADVANTAGES OF FIN FET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88190" y="1774102"/>
            <a:ext cx="8604443" cy="397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82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• Lower Power consumption</a:t>
            </a:r>
          </a:p>
          <a:p>
            <a:pPr algn="l">
              <a:lnSpc>
                <a:spcPts val="5382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• Operates at low voltage</a:t>
            </a:r>
          </a:p>
          <a:p>
            <a:pPr algn="l">
              <a:lnSpc>
                <a:spcPts val="5382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• Operating Speed is higher</a:t>
            </a:r>
          </a:p>
          <a:p>
            <a:pPr algn="l">
              <a:lnSpc>
                <a:spcPts val="5382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• Static leakage current is reduced up to 90%</a:t>
            </a:r>
          </a:p>
          <a:p>
            <a:pPr algn="l">
              <a:lnSpc>
                <a:spcPts val="5382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• Compact</a:t>
            </a:r>
          </a:p>
          <a:p>
            <a:pPr algn="l">
              <a:lnSpc>
                <a:spcPts val="5382"/>
              </a:lnSpc>
            </a:pPr>
            <a:endParaRPr lang="en-US" sz="2600">
              <a:solidFill>
                <a:srgbClr val="2E3A4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3" name="TextBox 3"/>
          <p:cNvSpPr txBox="1"/>
          <p:nvPr/>
        </p:nvSpPr>
        <p:spPr>
          <a:xfrm>
            <a:off x="829564" y="241222"/>
            <a:ext cx="13616026" cy="149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DISADVANTAGES OF FIN FET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88190" y="1774102"/>
            <a:ext cx="8604443" cy="1951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5382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Fabrication cost is higher than CMOS circuit.</a:t>
            </a:r>
          </a:p>
          <a:p>
            <a:pPr marL="561341" lvl="1" indent="-280670" algn="l">
              <a:lnSpc>
                <a:spcPts val="5382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Controlling Fin Depth is difficult.</a:t>
            </a:r>
          </a:p>
          <a:p>
            <a:pPr algn="l">
              <a:lnSpc>
                <a:spcPts val="5382"/>
              </a:lnSpc>
            </a:pPr>
            <a:endParaRPr lang="en-US" sz="2600">
              <a:solidFill>
                <a:srgbClr val="2E3A4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29564" y="3872267"/>
            <a:ext cx="13616026" cy="149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APPLICATIONS OF FIN FET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94036" y="5907411"/>
            <a:ext cx="8604443" cy="2627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5382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Used in Microprocessor</a:t>
            </a:r>
          </a:p>
          <a:p>
            <a:pPr marL="561341" lvl="1" indent="-280670" algn="l">
              <a:lnSpc>
                <a:spcPts val="5382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Used in Microcontroller</a:t>
            </a:r>
          </a:p>
          <a:p>
            <a:pPr marL="561341" lvl="1" indent="-280670" algn="l">
              <a:lnSpc>
                <a:spcPts val="5382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Used in Smart phone</a:t>
            </a:r>
          </a:p>
          <a:p>
            <a:pPr marL="561341" lvl="1" indent="-280670" algn="l">
              <a:lnSpc>
                <a:spcPts val="5382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Used in Compact chip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D1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1965" y="-2876710"/>
            <a:ext cx="16040420" cy="1604042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211909" y="2963670"/>
            <a:ext cx="7864182" cy="4621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10"/>
              </a:lnSpc>
            </a:pPr>
            <a:r>
              <a:rPr lang="en-US" sz="17000" b="1">
                <a:solidFill>
                  <a:srgbClr val="627484"/>
                </a:solidFill>
                <a:latin typeface="Nirand Bold"/>
                <a:ea typeface="Nirand Bold"/>
                <a:cs typeface="Nirand Bold"/>
                <a:sym typeface="Nirand Bold"/>
              </a:rPr>
              <a:t>Thank You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1390069" y="9258300"/>
            <a:ext cx="17611208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none" w="sm" len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387</Words>
  <Application>Microsoft Office PowerPoint</Application>
  <PresentationFormat>Custom</PresentationFormat>
  <Paragraphs>50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Nirand Bold</vt:lpstr>
      <vt:lpstr>Nunito</vt:lpstr>
      <vt:lpstr>Calibri</vt:lpstr>
      <vt:lpstr>Arial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Blue Minimalist Geometric Group Project Presentation</dc:title>
  <cp:lastModifiedBy>Giresh Boddu</cp:lastModifiedBy>
  <cp:revision>3</cp:revision>
  <dcterms:created xsi:type="dcterms:W3CDTF">2006-08-16T00:00:00Z</dcterms:created>
  <dcterms:modified xsi:type="dcterms:W3CDTF">2025-12-18T04:09:34Z</dcterms:modified>
  <dc:identifier>DAG7wnSnzHs</dc:identifier>
</cp:coreProperties>
</file>