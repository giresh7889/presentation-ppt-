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eague Spartan" charset="1" panose="00000800000000000000"/>
      <p:regular r:id="rId22"/>
    </p:embeddedFont>
    <p:embeddedFont>
      <p:font typeface="Poppins" charset="1" panose="00000500000000000000"/>
      <p:regular r:id="rId23"/>
    </p:embeddedFont>
    <p:embeddedFont>
      <p:font typeface="Poppins Bold" charset="1" panose="00000800000000000000"/>
      <p:regular r:id="rId24"/>
    </p:embeddedFont>
    <p:embeddedFont>
      <p:font typeface="Canva Sans Bold" charset="1" panose="020B0803030501040103"/>
      <p:regular r:id="rId25"/>
    </p:embeddedFont>
    <p:embeddedFont>
      <p:font typeface="Roboto" charset="1" panose="02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embeddings/oleObject2.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28092" y="4673169"/>
            <a:ext cx="12431816" cy="845412"/>
          </a:xfrm>
          <a:prstGeom prst="rect">
            <a:avLst/>
          </a:prstGeom>
        </p:spPr>
        <p:txBody>
          <a:bodyPr anchor="t" rtlCol="false" tIns="0" lIns="0" bIns="0" rIns="0">
            <a:spAutoFit/>
          </a:bodyPr>
          <a:lstStyle/>
          <a:p>
            <a:pPr algn="ctr">
              <a:lnSpc>
                <a:spcPts val="6952"/>
              </a:lnSpc>
            </a:pPr>
            <a:r>
              <a:rPr lang="en-US" b="true" sz="4966">
                <a:solidFill>
                  <a:srgbClr val="000000"/>
                </a:solidFill>
                <a:latin typeface="League Spartan"/>
                <a:ea typeface="League Spartan"/>
                <a:cs typeface="League Spartan"/>
                <a:sym typeface="League Spartan"/>
              </a:rPr>
              <a:t>CXS( CREDITED EXTENSIBLE STREAM)</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880587" y="5800188"/>
            <a:ext cx="8526827"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Boddu Giresh</a:t>
            </a:r>
          </a:p>
          <a:p>
            <a:pPr algn="ctr">
              <a:lnSpc>
                <a:spcPts val="3107"/>
              </a:lnSpc>
              <a:spcBef>
                <a:spcPct val="0"/>
              </a:spcBef>
            </a:pPr>
            <a:r>
              <a:rPr lang="en-US" sz="2219">
                <a:solidFill>
                  <a:srgbClr val="303642"/>
                </a:solidFill>
                <a:latin typeface="Poppins"/>
                <a:ea typeface="Poppins"/>
                <a:cs typeface="Poppins"/>
                <a:sym typeface="Poppins"/>
              </a:rPr>
              <a:t>CHIPWEAVE TECHNOLOGIES PVT LTD</a:t>
            </a:r>
          </a:p>
        </p:txBody>
      </p:sp>
      <p:grpSp>
        <p:nvGrpSpPr>
          <p:cNvPr name="Group 8" id="8"/>
          <p:cNvGrpSpPr/>
          <p:nvPr/>
        </p:nvGrpSpPr>
        <p:grpSpPr>
          <a:xfrm rot="0">
            <a:off x="16467343" y="40577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446818" y="8630505"/>
            <a:ext cx="897167" cy="2183545"/>
            <a:chOff x="0" y="0"/>
            <a:chExt cx="236291" cy="575090"/>
          </a:xfrm>
        </p:grpSpPr>
        <p:sp>
          <p:nvSpPr>
            <p:cNvPr name="Freeform 4" id="4"/>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5" id="5"/>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75061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ABOUT THE CXS STREAMING INTERFACE PROTOCOL</a:t>
            </a:r>
          </a:p>
        </p:txBody>
      </p:sp>
      <p:sp>
        <p:nvSpPr>
          <p:cNvPr name="TextBox 7" id="7"/>
          <p:cNvSpPr txBox="true"/>
          <p:nvPr/>
        </p:nvSpPr>
        <p:spPr>
          <a:xfrm rot="0">
            <a:off x="1028700" y="2287889"/>
            <a:ext cx="15475233" cy="148905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CXS is a high-speed, l</a:t>
            </a:r>
            <a:r>
              <a:rPr lang="en-US" sz="2125">
                <a:solidFill>
                  <a:srgbClr val="303642"/>
                </a:solidFill>
                <a:latin typeface="Poppins"/>
                <a:ea typeface="Poppins"/>
                <a:cs typeface="Poppins"/>
                <a:sym typeface="Poppins"/>
              </a:rPr>
              <a:t>ow-latency, streaming interface protocol mainly used for die-to-die communication, NoC connectivity, and chiplet architectures. It is designed to move large amounts of data efficiently between blocks, IPs.</a:t>
            </a:r>
          </a:p>
          <a:p>
            <a:pPr algn="l">
              <a:lnSpc>
                <a:spcPts val="2976"/>
              </a:lnSpc>
            </a:pPr>
          </a:p>
        </p:txBody>
      </p:sp>
      <p:sp>
        <p:nvSpPr>
          <p:cNvPr name="TextBox 8" id="8"/>
          <p:cNvSpPr txBox="true"/>
          <p:nvPr/>
        </p:nvSpPr>
        <p:spPr>
          <a:xfrm rot="0">
            <a:off x="1701538" y="5086350"/>
            <a:ext cx="9541073" cy="260347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High bandwidth</a:t>
            </a:r>
            <a:r>
              <a:rPr lang="en-US" sz="2125">
                <a:solidFill>
                  <a:srgbClr val="303642"/>
                </a:solidFill>
                <a:latin typeface="Poppins"/>
                <a:ea typeface="Poppins"/>
                <a:cs typeface="Poppins"/>
                <a:sym typeface="Poppins"/>
              </a:rPr>
              <a:t> with scalable data width (32 to 1024 bits)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Low latency, minimal overhead</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packetized and raw streaming data</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flow control, backpressure, credits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Designed for multi-die / chiplet interconnects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Works with high-speed PHY (like BoW, UCIe, proprietary interfaces)</a:t>
            </a:r>
          </a:p>
          <a:p>
            <a:pPr algn="l">
              <a:lnSpc>
                <a:spcPts val="2976"/>
              </a:lnSpc>
              <a:spcBef>
                <a:spcPct val="0"/>
              </a:spcBef>
            </a:pPr>
          </a:p>
        </p:txBody>
      </p:sp>
      <p:sp>
        <p:nvSpPr>
          <p:cNvPr name="TextBox 9" id="9"/>
          <p:cNvSpPr txBox="true"/>
          <p:nvPr/>
        </p:nvSpPr>
        <p:spPr>
          <a:xfrm rot="0">
            <a:off x="766275" y="386472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MAIN GOALS OF CXS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229516" y="1886599"/>
          <a:ext cx="9429750" cy="8172450"/>
        </p:xfrm>
        <a:graphic>
          <a:graphicData uri="http://schemas.openxmlformats.org/presentationml/2006/ole">
            <p:oleObj imgW="11315700" imgH="10058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1023322" y="1091794"/>
            <a:ext cx="14139846" cy="794805"/>
          </a:xfrm>
          <a:prstGeom prst="rect">
            <a:avLst/>
          </a:prstGeom>
        </p:spPr>
        <p:txBody>
          <a:bodyPr anchor="t" rtlCol="false" tIns="0" lIns="0" bIns="0" rIns="0">
            <a:spAutoFit/>
          </a:bodyPr>
          <a:lstStyle/>
          <a:p>
            <a:pPr algn="r">
              <a:lnSpc>
                <a:spcPts val="6591"/>
              </a:lnSpc>
            </a:pPr>
            <a:r>
              <a:rPr lang="en-US" b="true" sz="4708">
                <a:solidFill>
                  <a:srgbClr val="303642"/>
                </a:solidFill>
                <a:latin typeface="League Spartan"/>
                <a:ea typeface="League Spartan"/>
                <a:cs typeface="League Spartan"/>
                <a:sym typeface="League Spartan"/>
              </a:rPr>
              <a:t>MANDATORY AND OPTION</a:t>
            </a:r>
            <a:r>
              <a:rPr lang="en-US" b="true" sz="4708">
                <a:solidFill>
                  <a:srgbClr val="303642"/>
                </a:solidFill>
                <a:latin typeface="League Spartan"/>
                <a:ea typeface="League Spartan"/>
                <a:cs typeface="League Spartan"/>
                <a:sym typeface="League Spartan"/>
              </a:rPr>
              <a:t>AL CXS SIGNALS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67864" y="737728"/>
            <a:ext cx="15127457" cy="960831"/>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CXS PACKETS</a:t>
            </a:r>
          </a:p>
        </p:txBody>
      </p:sp>
      <p:sp>
        <p:nvSpPr>
          <p:cNvPr name="TextBox 4" id="4"/>
          <p:cNvSpPr txBox="true"/>
          <p:nvPr/>
        </p:nvSpPr>
        <p:spPr>
          <a:xfrm rot="0">
            <a:off x="1209155" y="1870139"/>
            <a:ext cx="16789209" cy="1181868"/>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The data that is transmitted on the CXS interface is organized into packets. When the property CXSMAXPKTPERFLIT is greater than 1, there can be multiple packets per flit. This chapter describes how multiple packets are packed into a CXS flit. In CCIX or PCIe terminology, this is a Transaction Layer Packet (TLP).</a:t>
            </a:r>
          </a:p>
        </p:txBody>
      </p:sp>
      <p:sp>
        <p:nvSpPr>
          <p:cNvPr name="TextBox 5" id="5"/>
          <p:cNvSpPr txBox="true"/>
          <p:nvPr/>
        </p:nvSpPr>
        <p:spPr>
          <a:xfrm rot="0">
            <a:off x="613879" y="3961632"/>
            <a:ext cx="16789209" cy="1181868"/>
          </a:xfrm>
          <a:prstGeom prst="rect">
            <a:avLst/>
          </a:prstGeom>
        </p:spPr>
        <p:txBody>
          <a:bodyPr anchor="t" rtlCol="false" tIns="0" lIns="0" bIns="0" rIns="0">
            <a:spAutoFit/>
          </a:bodyPr>
          <a:lstStyle/>
          <a:p>
            <a:pPr algn="just">
              <a:lnSpc>
                <a:spcPts val="3107"/>
              </a:lnSpc>
            </a:pPr>
            <a:r>
              <a:rPr lang="en-US" sz="2219" b="true">
                <a:solidFill>
                  <a:srgbClr val="303642"/>
                </a:solidFill>
                <a:latin typeface="Poppins Bold"/>
                <a:ea typeface="Poppins Bold"/>
                <a:cs typeface="Poppins Bold"/>
                <a:sym typeface="Poppins Bold"/>
              </a:rPr>
              <a:t>         The CXS packets are described in the following sections</a:t>
            </a:r>
          </a:p>
          <a:p>
            <a:pPr algn="just">
              <a:lnSpc>
                <a:spcPts val="3107"/>
              </a:lnSpc>
            </a:pPr>
          </a:p>
          <a:p>
            <a:pPr algn="just">
              <a:lnSpc>
                <a:spcPts val="3107"/>
              </a:lnSpc>
            </a:pPr>
          </a:p>
        </p:txBody>
      </p:sp>
      <p:sp>
        <p:nvSpPr>
          <p:cNvPr name="TextBox 6" id="6"/>
          <p:cNvSpPr txBox="true"/>
          <p:nvPr/>
        </p:nvSpPr>
        <p:spPr>
          <a:xfrm rot="0">
            <a:off x="1660912" y="4519229"/>
            <a:ext cx="15877693" cy="1572393"/>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Packet Position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Control Signal</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Size Constraints</a:t>
            </a:r>
          </a:p>
          <a:p>
            <a:pPr algn="l" marL="479248" indent="-239624" lvl="1">
              <a:lnSpc>
                <a:spcPts val="3107"/>
              </a:lnSpc>
              <a:buFont typeface="Arial"/>
              <a:buChar char="•"/>
            </a:pPr>
            <a:r>
              <a:rPr lang="en-US" sz="2219">
                <a:solidFill>
                  <a:srgbClr val="303642"/>
                </a:solidFill>
                <a:latin typeface="Poppins"/>
                <a:ea typeface="Poppins"/>
                <a:cs typeface="Poppins"/>
                <a:sym typeface="Poppins"/>
              </a:rPr>
              <a:t>Packet Examples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8267" y="596089"/>
            <a:ext cx="12428427"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P</a:t>
            </a:r>
            <a:r>
              <a:rPr lang="en-US" b="true" sz="5308">
                <a:solidFill>
                  <a:srgbClr val="000000"/>
                </a:solidFill>
                <a:latin typeface="League Spartan"/>
                <a:ea typeface="League Spartan"/>
                <a:cs typeface="League Spartan"/>
                <a:sym typeface="League Spartan"/>
              </a:rPr>
              <a:t>ACKET POSITION CONSTRAINTS</a:t>
            </a:r>
          </a:p>
        </p:txBody>
      </p:sp>
      <p:sp>
        <p:nvSpPr>
          <p:cNvPr name="TextBox 4" id="4"/>
          <p:cNvSpPr txBox="true"/>
          <p:nvPr/>
        </p:nvSpPr>
        <p:spPr>
          <a:xfrm rot="0">
            <a:off x="1158917" y="1755134"/>
            <a:ext cx="14042849" cy="148905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specifies the maximum number of packets that can have bytes in a flit. There can be up to CXSMAXPKTPERFLIT new packets starting in a flit, and up to CXSMAXPKTPERFLIT packets ending in a flit. This defines the maximum packets per flit, including any packet started in previous flits and any packet started in this flit which will be completed in subsequent flits.</a:t>
            </a:r>
          </a:p>
        </p:txBody>
      </p:sp>
      <p:sp>
        <p:nvSpPr>
          <p:cNvPr name="TextBox 5" id="5"/>
          <p:cNvSpPr txBox="true"/>
          <p:nvPr/>
        </p:nvSpPr>
        <p:spPr>
          <a:xfrm rot="0">
            <a:off x="1158917" y="5168925"/>
            <a:ext cx="14042849" cy="4089375"/>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 When CXSMAXPKTPERFLIT is greater than 1: </a:t>
            </a:r>
          </a:p>
          <a:p>
            <a:pPr algn="l">
              <a:lnSpc>
                <a:spcPts val="2976"/>
              </a:lnSpc>
            </a:pPr>
            <a:r>
              <a:rPr lang="en-US" sz="2125">
                <a:solidFill>
                  <a:srgbClr val="000000"/>
                </a:solidFill>
                <a:latin typeface="Poppins"/>
                <a:ea typeface="Poppins"/>
                <a:cs typeface="Poppins"/>
                <a:sym typeface="Poppins"/>
              </a:rPr>
              <a:t>• The first byte of a packet must be placed on an aligned 16-byte boundary.</a:t>
            </a:r>
          </a:p>
          <a:p>
            <a:pPr algn="l">
              <a:lnSpc>
                <a:spcPts val="2976"/>
              </a:lnSpc>
            </a:pPr>
            <a:r>
              <a:rPr lang="en-US" sz="2125">
                <a:solidFill>
                  <a:srgbClr val="000000"/>
                </a:solidFill>
                <a:latin typeface="Poppins"/>
                <a:ea typeface="Poppins"/>
                <a:cs typeface="Poppins"/>
                <a:sym typeface="Poppins"/>
              </a:rPr>
              <a:t>• Subsequent bytes of the packet occupy subsequent bytes of the flit. </a:t>
            </a:r>
          </a:p>
          <a:p>
            <a:pPr algn="l">
              <a:lnSpc>
                <a:spcPts val="2976"/>
              </a:lnSpc>
            </a:pPr>
            <a:r>
              <a:rPr lang="en-US" sz="2125">
                <a:solidFill>
                  <a:srgbClr val="000000"/>
                </a:solidFill>
                <a:latin typeface="Poppins"/>
                <a:ea typeface="Poppins"/>
                <a:cs typeface="Poppins"/>
                <a:sym typeface="Poppins"/>
              </a:rPr>
              <a:t>• Packets can end on any four-byte aligned boundary.</a:t>
            </a:r>
          </a:p>
          <a:p>
            <a:pPr algn="l">
              <a:lnSpc>
                <a:spcPts val="2976"/>
              </a:lnSpc>
            </a:pPr>
            <a:r>
              <a:rPr lang="en-US" sz="2125">
                <a:solidFill>
                  <a:srgbClr val="000000"/>
                </a:solidFill>
                <a:latin typeface="Poppins"/>
                <a:ea typeface="Poppins"/>
                <a:cs typeface="Poppins"/>
                <a:sym typeface="Poppins"/>
              </a:rPr>
              <a:t>• The packet that starts at a byte position will occupy every subsequent byte in that flit until the packet  ends or the flit ends. </a:t>
            </a:r>
          </a:p>
          <a:p>
            <a:pPr algn="l">
              <a:lnSpc>
                <a:spcPts val="2976"/>
              </a:lnSpc>
            </a:pPr>
            <a:r>
              <a:rPr lang="en-US" sz="2125">
                <a:solidFill>
                  <a:srgbClr val="000000"/>
                </a:solidFill>
                <a:latin typeface="Poppins"/>
                <a:ea typeface="Poppins"/>
                <a:cs typeface="Poppins"/>
                <a:sym typeface="Poppins"/>
              </a:rPr>
              <a:t>• If there are remaining bytes in the packet when the flit ends, that packet will start at byte[0] of the next            flit and occupy every subsequent byte position until the packet ends or the flit ends.</a:t>
            </a:r>
          </a:p>
          <a:p>
            <a:pPr algn="l">
              <a:lnSpc>
                <a:spcPts val="2976"/>
              </a:lnSpc>
            </a:pPr>
            <a:r>
              <a:rPr lang="en-US" sz="2125">
                <a:solidFill>
                  <a:srgbClr val="000000"/>
                </a:solidFill>
                <a:latin typeface="Poppins"/>
                <a:ea typeface="Poppins"/>
                <a:cs typeface="Poppins"/>
                <a:sym typeface="Poppins"/>
              </a:rPr>
              <a:t>• When a packet ends within a flit, the remaining bytes in the flit can be unused. </a:t>
            </a:r>
          </a:p>
          <a:p>
            <a:pPr algn="l">
              <a:lnSpc>
                <a:spcPts val="2976"/>
              </a:lnSpc>
              <a:spcBef>
                <a:spcPct val="0"/>
              </a:spcBef>
            </a:pPr>
            <a:r>
              <a:rPr lang="en-US" sz="2125">
                <a:solidFill>
                  <a:srgbClr val="000000"/>
                </a:solidFill>
                <a:latin typeface="Poppins"/>
                <a:ea typeface="Poppins"/>
                <a:cs typeface="Poppins"/>
                <a:sym typeface="Poppins"/>
              </a:rPr>
              <a:t>• Any packet in a flit must begin at the first available 16-byte boundary relative to the start of the flit or the ending of a previous packet</a:t>
            </a:r>
          </a:p>
        </p:txBody>
      </p:sp>
      <p:sp>
        <p:nvSpPr>
          <p:cNvPr name="TextBox 6" id="6"/>
          <p:cNvSpPr txBox="true"/>
          <p:nvPr/>
        </p:nvSpPr>
        <p:spPr>
          <a:xfrm rot="0">
            <a:off x="1028700" y="3177510"/>
            <a:ext cx="14439787" cy="1535149"/>
          </a:xfrm>
          <a:prstGeom prst="rect">
            <a:avLst/>
          </a:prstGeom>
        </p:spPr>
        <p:txBody>
          <a:bodyPr anchor="t" rtlCol="false" tIns="0" lIns="0" bIns="0" rIns="0">
            <a:spAutoFit/>
          </a:bodyPr>
          <a:lstStyle/>
          <a:p>
            <a:pPr algn="l">
              <a:lnSpc>
                <a:spcPts val="3060"/>
              </a:lnSpc>
            </a:pPr>
            <a:r>
              <a:rPr lang="en-US" sz="2186" b="true">
                <a:solidFill>
                  <a:srgbClr val="000000"/>
                </a:solidFill>
                <a:latin typeface="Poppins Bold"/>
                <a:ea typeface="Poppins Bold"/>
                <a:cs typeface="Poppins Bold"/>
                <a:sym typeface="Poppins Bold"/>
              </a:rPr>
              <a:t> When CXSMAXPKTPERFLIT is 1: </a:t>
            </a:r>
          </a:p>
          <a:p>
            <a:pPr algn="l">
              <a:lnSpc>
                <a:spcPts val="3060"/>
              </a:lnSpc>
            </a:pPr>
            <a:r>
              <a:rPr lang="en-US" sz="2186">
                <a:solidFill>
                  <a:srgbClr val="000000"/>
                </a:solidFill>
                <a:latin typeface="Poppins"/>
                <a:ea typeface="Poppins"/>
                <a:cs typeface="Poppins"/>
                <a:sym typeface="Poppins"/>
              </a:rPr>
              <a:t>• Packets start on the first byte of CXSDATA.</a:t>
            </a:r>
          </a:p>
          <a:p>
            <a:pPr algn="l">
              <a:lnSpc>
                <a:spcPts val="3060"/>
              </a:lnSpc>
            </a:pPr>
            <a:r>
              <a:rPr lang="en-US" sz="2186">
                <a:solidFill>
                  <a:srgbClr val="000000"/>
                </a:solidFill>
                <a:latin typeface="Poppins"/>
                <a:ea typeface="Poppins"/>
                <a:cs typeface="Poppins"/>
                <a:sym typeface="Poppins"/>
              </a:rPr>
              <a:t> • Packets end on the last byte of CXSDATA. </a:t>
            </a:r>
          </a:p>
          <a:p>
            <a:pPr algn="l">
              <a:lnSpc>
                <a:spcPts val="3060"/>
              </a:lnSpc>
              <a:spcBef>
                <a:spcPct val="0"/>
              </a:spcBef>
            </a:pPr>
            <a:r>
              <a:rPr lang="en-US" sz="2186">
                <a:solidFill>
                  <a:srgbClr val="000000"/>
                </a:solidFill>
                <a:latin typeface="Poppins"/>
                <a:ea typeface="Poppins"/>
                <a:cs typeface="Poppins"/>
                <a:sym typeface="Poppins"/>
              </a:rPr>
              <a:t>• Packets do not span across multiple flits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7577" y="397620"/>
            <a:ext cx="14846736"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PACKE</a:t>
            </a:r>
            <a:r>
              <a:rPr lang="en-US" sz="5308">
                <a:solidFill>
                  <a:srgbClr val="000000"/>
                </a:solidFill>
                <a:latin typeface="League Spartan"/>
                <a:ea typeface="League Spartan"/>
                <a:cs typeface="League Spartan"/>
                <a:sym typeface="League Spartan"/>
              </a:rPr>
              <a:t>T CONTROL SIGNAL</a:t>
            </a:r>
          </a:p>
        </p:txBody>
      </p:sp>
      <p:sp>
        <p:nvSpPr>
          <p:cNvPr name="TextBox 4" id="4"/>
          <p:cNvSpPr txBox="true"/>
          <p:nvPr/>
        </p:nvSpPr>
        <p:spPr>
          <a:xfrm rot="0">
            <a:off x="672203" y="1420291"/>
            <a:ext cx="11624540"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control fields of a CXS packet are signaled using CXSCNTL. This section describes the fields and positioning within the CXSCNTL signal</a:t>
            </a:r>
          </a:p>
        </p:txBody>
      </p:sp>
      <p:sp>
        <p:nvSpPr>
          <p:cNvPr name="TextBox 5" id="5"/>
          <p:cNvSpPr txBox="true"/>
          <p:nvPr/>
        </p:nvSpPr>
        <p:spPr>
          <a:xfrm rot="0">
            <a:off x="672203" y="3544408"/>
            <a:ext cx="12554659"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The CXSCNTL signal contains five fields. The widths of each field, and therefore the bit position of each field, vary with the properties of the interface</a:t>
            </a:r>
          </a:p>
        </p:txBody>
      </p:sp>
      <p:sp>
        <p:nvSpPr>
          <p:cNvPr name="TextBox 6" id="6"/>
          <p:cNvSpPr txBox="true"/>
          <p:nvPr/>
        </p:nvSpPr>
        <p:spPr>
          <a:xfrm rot="0">
            <a:off x="672203" y="2736674"/>
            <a:ext cx="14846736" cy="455079"/>
          </a:xfrm>
          <a:prstGeom prst="rect">
            <a:avLst/>
          </a:prstGeom>
        </p:spPr>
        <p:txBody>
          <a:bodyPr anchor="t" rtlCol="false" tIns="0" lIns="0" bIns="0" rIns="0">
            <a:spAutoFit/>
          </a:bodyPr>
          <a:lstStyle/>
          <a:p>
            <a:pPr algn="l">
              <a:lnSpc>
                <a:spcPts val="3791"/>
              </a:lnSpc>
            </a:pPr>
            <a:r>
              <a:rPr lang="en-US" sz="2708">
                <a:solidFill>
                  <a:srgbClr val="000000"/>
                </a:solidFill>
                <a:latin typeface="League Spartan"/>
                <a:ea typeface="League Spartan"/>
                <a:cs typeface="League Spartan"/>
                <a:sym typeface="League Spartan"/>
              </a:rPr>
              <a:t> PACKE</a:t>
            </a:r>
            <a:r>
              <a:rPr lang="en-US" sz="2708">
                <a:solidFill>
                  <a:srgbClr val="000000"/>
                </a:solidFill>
                <a:latin typeface="League Spartan"/>
                <a:ea typeface="League Spartan"/>
                <a:cs typeface="League Spartan"/>
                <a:sym typeface="League Spartan"/>
              </a:rPr>
              <a:t>T CONTROL FIELDS </a:t>
            </a:r>
          </a:p>
        </p:txBody>
      </p:sp>
      <p:sp>
        <p:nvSpPr>
          <p:cNvPr name="TextBox 7" id="7"/>
          <p:cNvSpPr txBox="true"/>
          <p:nvPr/>
        </p:nvSpPr>
        <p:spPr>
          <a:xfrm rot="0">
            <a:off x="672203" y="4833433"/>
            <a:ext cx="12554659" cy="3808070"/>
          </a:xfrm>
          <a:prstGeom prst="rect">
            <a:avLst/>
          </a:prstGeom>
        </p:spPr>
        <p:txBody>
          <a:bodyPr anchor="t" rtlCol="false" tIns="0" lIns="0" bIns="0" rIns="0">
            <a:spAutoFit/>
          </a:bodyPr>
          <a:lstStyle/>
          <a:p>
            <a:pPr algn="l">
              <a:lnSpc>
                <a:spcPts val="3536"/>
              </a:lnSpc>
            </a:pPr>
            <a:r>
              <a:rPr lang="en-US" sz="2525" b="true">
                <a:solidFill>
                  <a:srgbClr val="000000"/>
                </a:solidFill>
                <a:latin typeface="Poppins Bold"/>
                <a:ea typeface="Poppins Bold"/>
                <a:cs typeface="Poppins Bold"/>
                <a:sym typeface="Poppins Bold"/>
              </a:rPr>
              <a:t>1.START Field</a:t>
            </a:r>
          </a:p>
          <a:p>
            <a:pPr algn="l" marL="458997" indent="-229499" lvl="1">
              <a:lnSpc>
                <a:spcPts val="2976"/>
              </a:lnSpc>
              <a:buFont typeface="Arial"/>
              <a:buChar char="•"/>
            </a:pPr>
            <a:r>
              <a:rPr lang="en-US" sz="2125">
                <a:solidFill>
                  <a:srgbClr val="000000"/>
                </a:solidFill>
                <a:latin typeface="Poppins"/>
                <a:ea typeface="Poppins"/>
                <a:cs typeface="Poppins"/>
                <a:sym typeface="Poppins"/>
              </a:rPr>
              <a:t>Indicates how many packets start in the current 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Width = CXSMAXPKTPERFLIT.</a:t>
            </a:r>
          </a:p>
          <a:p>
            <a:pPr algn="l" marL="458997" indent="-229499" lvl="1">
              <a:lnSpc>
                <a:spcPts val="2976"/>
              </a:lnSpc>
              <a:buFont typeface="Arial"/>
              <a:buChar char="•"/>
            </a:pPr>
            <a:r>
              <a:rPr lang="en-US" sz="2125">
                <a:solidFill>
                  <a:srgbClr val="000000"/>
                </a:solidFill>
                <a:latin typeface="Poppins"/>
                <a:ea typeface="Poppins"/>
                <a:cs typeface="Poppins"/>
                <a:sym typeface="Poppins"/>
              </a:rPr>
              <a:t>Rule: If START[N] = 1, then all lower bits START[N-1:0] must be 1.</a:t>
            </a:r>
          </a:p>
          <a:p>
            <a:pPr algn="l" marL="458997" indent="-229499" lvl="1">
              <a:lnSpc>
                <a:spcPts val="2976"/>
              </a:lnSpc>
              <a:buFont typeface="Arial"/>
              <a:buChar char="•"/>
            </a:pPr>
            <a:r>
              <a:rPr lang="en-US" sz="2125">
                <a:solidFill>
                  <a:srgbClr val="000000"/>
                </a:solidFill>
                <a:latin typeface="Poppins"/>
                <a:ea typeface="Poppins"/>
                <a:cs typeface="Poppins"/>
                <a:sym typeface="Poppins"/>
              </a:rPr>
              <a:t>Example (CXSMAXPKTPERFLIT = 4):</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START[0] = 1 → at least 1 packet starts</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START[1] = 1 → at least 2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START[2] = 1 → at least 3 packets start</a:t>
            </a:r>
          </a:p>
          <a:p>
            <a:pPr algn="l" marL="917995" indent="-305998" lvl="2">
              <a:lnSpc>
                <a:spcPts val="2976"/>
              </a:lnSpc>
              <a:buFont typeface="Arial"/>
              <a:buChar char="⚬"/>
            </a:pPr>
            <a:r>
              <a:rPr lang="en-US" sz="2125">
                <a:solidFill>
                  <a:srgbClr val="000000"/>
                </a:solidFill>
                <a:latin typeface="Poppins"/>
                <a:ea typeface="Poppins"/>
                <a:cs typeface="Poppins"/>
                <a:sym typeface="Poppins"/>
              </a:rPr>
              <a:t>START[3] = 1 → at least 4 packets start</a:t>
            </a:r>
          </a:p>
          <a:p>
            <a:pPr algn="l">
              <a:lnSpc>
                <a:spcPts val="297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19448" y="4653012"/>
            <a:ext cx="12554659" cy="4854550"/>
          </a:xfrm>
          <a:prstGeom prst="rect">
            <a:avLst/>
          </a:prstGeom>
        </p:spPr>
        <p:txBody>
          <a:bodyPr anchor="t" rtlCol="false" tIns="0" lIns="0" bIns="0" rIns="0">
            <a:spAutoFit/>
          </a:bodyPr>
          <a:lstStyle/>
          <a:p>
            <a:pPr algn="l">
              <a:lnSpc>
                <a:spcPts val="3676"/>
              </a:lnSpc>
            </a:pPr>
            <a:r>
              <a:rPr lang="en-US" sz="2625" b="true">
                <a:solidFill>
                  <a:srgbClr val="000000"/>
                </a:solidFill>
                <a:latin typeface="Poppins Bold"/>
                <a:ea typeface="Poppins Bold"/>
                <a:cs typeface="Poppins Bold"/>
                <a:sym typeface="Poppins Bold"/>
              </a:rPr>
              <a:t>3.END </a:t>
            </a:r>
          </a:p>
          <a:p>
            <a:pPr algn="l" marL="545355" indent="-272678" lvl="1">
              <a:lnSpc>
                <a:spcPts val="3536"/>
              </a:lnSpc>
              <a:buFont typeface="Arial"/>
              <a:buChar char="•"/>
            </a:pPr>
            <a:r>
              <a:rPr lang="en-US" sz="2525">
                <a:solidFill>
                  <a:srgbClr val="000000"/>
                </a:solidFill>
                <a:latin typeface="Poppins"/>
                <a:ea typeface="Poppins"/>
                <a:cs typeface="Poppins"/>
                <a:sym typeface="Poppins"/>
              </a:rPr>
              <a:t>Indicates how many packets end in this 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Width = CXSMAXPKTPERFLIT.</a:t>
            </a:r>
          </a:p>
          <a:p>
            <a:pPr algn="l" marL="545355" indent="-272678" lvl="1">
              <a:lnSpc>
                <a:spcPts val="3536"/>
              </a:lnSpc>
              <a:buFont typeface="Arial"/>
              <a:buChar char="•"/>
            </a:pPr>
            <a:r>
              <a:rPr lang="en-US" sz="2525">
                <a:solidFill>
                  <a:srgbClr val="000000"/>
                </a:solidFill>
                <a:latin typeface="Poppins"/>
                <a:ea typeface="Poppins"/>
                <a:cs typeface="Poppins"/>
                <a:sym typeface="Poppins"/>
              </a:rPr>
              <a:t>Rule: If END[N] = 1, all lower bits END[N-1:0] must be 1.</a:t>
            </a:r>
          </a:p>
          <a:p>
            <a:pPr algn="l" marL="545355" indent="-272678" lvl="1">
              <a:lnSpc>
                <a:spcPts val="3536"/>
              </a:lnSpc>
              <a:buFont typeface="Arial"/>
              <a:buChar char="•"/>
            </a:pPr>
            <a:r>
              <a:rPr lang="en-US" sz="2525">
                <a:solidFill>
                  <a:srgbClr val="000000"/>
                </a:solidFill>
                <a:latin typeface="Poppins"/>
                <a:ea typeface="Poppins"/>
                <a:cs typeface="Poppins"/>
                <a:sym typeface="Poppins"/>
              </a:rPr>
              <a:t>Example (CXSMAXPKTPERFLIT = 4):</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END[0] = 1 → 1 packet ends</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END[1] = 1 → 2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END[2] = 1 → 3 packets end</a:t>
            </a:r>
          </a:p>
          <a:p>
            <a:pPr algn="l" marL="1090711" indent="-363570" lvl="2">
              <a:lnSpc>
                <a:spcPts val="3536"/>
              </a:lnSpc>
              <a:buFont typeface="Arial"/>
              <a:buChar char="⚬"/>
            </a:pPr>
            <a:r>
              <a:rPr lang="en-US" sz="2525">
                <a:solidFill>
                  <a:srgbClr val="000000"/>
                </a:solidFill>
                <a:latin typeface="Poppins"/>
                <a:ea typeface="Poppins"/>
                <a:cs typeface="Poppins"/>
                <a:sym typeface="Poppins"/>
              </a:rPr>
              <a:t>END[3] = 1 → 4 packets end</a:t>
            </a:r>
          </a:p>
          <a:p>
            <a:pPr algn="l">
              <a:lnSpc>
                <a:spcPts val="3396"/>
              </a:lnSpc>
            </a:pPr>
          </a:p>
          <a:p>
            <a:pPr algn="l">
              <a:lnSpc>
                <a:spcPts val="2976"/>
              </a:lnSpc>
              <a:spcBef>
                <a:spcPct val="0"/>
              </a:spcBef>
            </a:pPr>
          </a:p>
        </p:txBody>
      </p:sp>
      <p:sp>
        <p:nvSpPr>
          <p:cNvPr name="TextBox 4" id="4"/>
          <p:cNvSpPr txBox="true"/>
          <p:nvPr/>
        </p:nvSpPr>
        <p:spPr>
          <a:xfrm rot="0">
            <a:off x="470629" y="797634"/>
            <a:ext cx="11303442" cy="3622981"/>
          </a:xfrm>
          <a:prstGeom prst="rect">
            <a:avLst/>
          </a:prstGeom>
        </p:spPr>
        <p:txBody>
          <a:bodyPr anchor="t" rtlCol="false" tIns="0" lIns="0" bIns="0" rIns="0">
            <a:spAutoFit/>
          </a:bodyPr>
          <a:lstStyle/>
          <a:p>
            <a:pPr algn="l">
              <a:lnSpc>
                <a:spcPts val="3348"/>
              </a:lnSpc>
            </a:pPr>
            <a:r>
              <a:rPr lang="en-US" sz="2391" b="true">
                <a:solidFill>
                  <a:srgbClr val="000000"/>
                </a:solidFill>
                <a:latin typeface="Poppins Bold"/>
                <a:ea typeface="Poppins Bold"/>
                <a:cs typeface="Poppins Bold"/>
                <a:sym typeface="Poppins Bold"/>
              </a:rPr>
              <a:t>2.START[N]PTR (Start Pointer)</a:t>
            </a:r>
          </a:p>
          <a:p>
            <a:pPr algn="l" marL="557924" indent="-278962" lvl="1">
              <a:lnSpc>
                <a:spcPts val="3617"/>
              </a:lnSpc>
              <a:buFont typeface="Arial"/>
              <a:buChar char="•"/>
            </a:pPr>
            <a:r>
              <a:rPr lang="en-US" sz="2584">
                <a:solidFill>
                  <a:srgbClr val="000000"/>
                </a:solidFill>
                <a:latin typeface="Poppins"/>
                <a:ea typeface="Poppins"/>
                <a:cs typeface="Poppins"/>
                <a:sym typeface="Poppins"/>
              </a:rPr>
              <a:t>Array of pointers for packet start positions inside the flit.</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valid only if matching START[N] = 1.</a:t>
            </a:r>
          </a:p>
          <a:p>
            <a:pPr algn="l" marL="557924" indent="-278962" lvl="1">
              <a:lnSpc>
                <a:spcPts val="3617"/>
              </a:lnSpc>
              <a:buFont typeface="Arial"/>
              <a:buChar char="•"/>
            </a:pPr>
            <a:r>
              <a:rPr lang="en-US" sz="2584">
                <a:solidFill>
                  <a:srgbClr val="000000"/>
                </a:solidFill>
                <a:latin typeface="Poppins"/>
                <a:ea typeface="Poppins"/>
                <a:cs typeface="Poppins"/>
                <a:sym typeface="Poppins"/>
              </a:rPr>
              <a:t>All packet starts are 16-byte aligned.</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 width = log₂(CXSDATAFLITWIDTH / 128) bits.</a:t>
            </a:r>
          </a:p>
          <a:p>
            <a:pPr algn="l" marL="557924" indent="-278962" lvl="1">
              <a:lnSpc>
                <a:spcPts val="3617"/>
              </a:lnSpc>
              <a:buFont typeface="Arial"/>
              <a:buChar char="•"/>
            </a:pPr>
            <a:r>
              <a:rPr lang="en-US" sz="2584">
                <a:solidFill>
                  <a:srgbClr val="000000"/>
                </a:solidFill>
                <a:latin typeface="Poppins"/>
                <a:ea typeface="Poppins"/>
                <a:cs typeface="Poppins"/>
                <a:sym typeface="Poppins"/>
              </a:rPr>
              <a:t>Actual start byte = (START[N]PTR &lt;&lt; 4).</a:t>
            </a:r>
          </a:p>
          <a:p>
            <a:pPr algn="l" marL="557924" indent="-278962" lvl="1">
              <a:lnSpc>
                <a:spcPts val="3617"/>
              </a:lnSpc>
              <a:buFont typeface="Arial"/>
              <a:buChar char="•"/>
            </a:pPr>
            <a:r>
              <a:rPr lang="en-US" sz="2584">
                <a:solidFill>
                  <a:srgbClr val="000000"/>
                </a:solidFill>
                <a:latin typeface="Poppins"/>
                <a:ea typeface="Poppins"/>
                <a:cs typeface="Poppins"/>
                <a:sym typeface="Poppins"/>
              </a:rPr>
              <a:t>Pointers must be monotonically increasing</a:t>
            </a:r>
          </a:p>
          <a:p>
            <a:pPr algn="l" marL="557924" indent="-278962" lvl="1">
              <a:lnSpc>
                <a:spcPts val="3617"/>
              </a:lnSpc>
              <a:spcBef>
                <a:spcPct val="0"/>
              </a:spcBef>
              <a:buFont typeface="Arial"/>
              <a:buChar char="•"/>
            </a:pPr>
            <a:r>
              <a:rPr lang="en-US" sz="2584">
                <a:solidFill>
                  <a:srgbClr val="000000"/>
                </a:solidFill>
                <a:latin typeface="Poppins"/>
                <a:ea typeface="Poppins"/>
                <a:cs typeface="Poppins"/>
                <a:sym typeface="Poppins"/>
              </a:rPr>
              <a:t> (START1PTR &gt; START0PTR).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70629" y="788109"/>
            <a:ext cx="11303442" cy="2865331"/>
          </a:xfrm>
          <a:prstGeom prst="rect">
            <a:avLst/>
          </a:prstGeom>
        </p:spPr>
        <p:txBody>
          <a:bodyPr anchor="t" rtlCol="false" tIns="0" lIns="0" bIns="0" rIns="0">
            <a:spAutoFit/>
          </a:bodyPr>
          <a:lstStyle/>
          <a:p>
            <a:pPr algn="l">
              <a:lnSpc>
                <a:spcPts val="3768"/>
              </a:lnSpc>
            </a:pPr>
            <a:r>
              <a:rPr lang="en-US" sz="2691" b="true">
                <a:solidFill>
                  <a:srgbClr val="000000"/>
                </a:solidFill>
                <a:latin typeface="Poppins Bold"/>
                <a:ea typeface="Poppins Bold"/>
                <a:cs typeface="Poppins Bold"/>
                <a:sym typeface="Poppins Bold"/>
              </a:rPr>
              <a:t>4.ENDERROR </a:t>
            </a:r>
          </a:p>
          <a:p>
            <a:pPr algn="l" marL="581134" indent="-290567" lvl="1">
              <a:lnSpc>
                <a:spcPts val="3768"/>
              </a:lnSpc>
              <a:buFont typeface="Arial"/>
              <a:buChar char="•"/>
            </a:pPr>
            <a:r>
              <a:rPr lang="en-US" sz="2691">
                <a:solidFill>
                  <a:srgbClr val="000000"/>
                </a:solidFill>
                <a:latin typeface="Poppins"/>
                <a:ea typeface="Poppins"/>
                <a:cs typeface="Poppins"/>
                <a:sym typeface="Poppins"/>
              </a:rPr>
              <a:t>Indicates error on packets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Width = same as END.</a:t>
            </a:r>
          </a:p>
          <a:p>
            <a:pPr algn="l" marL="581134" indent="-290567" lvl="1">
              <a:lnSpc>
                <a:spcPts val="3768"/>
              </a:lnSpc>
              <a:buFont typeface="Arial"/>
              <a:buChar char="•"/>
            </a:pPr>
            <a:r>
              <a:rPr lang="en-US" sz="2691">
                <a:solidFill>
                  <a:srgbClr val="000000"/>
                </a:solidFill>
                <a:latin typeface="Poppins"/>
                <a:ea typeface="Poppins"/>
                <a:cs typeface="Poppins"/>
                <a:sym typeface="Poppins"/>
              </a:rPr>
              <a:t>ENDERROR[N] = 1 → Nth ending packet has error.</a:t>
            </a:r>
          </a:p>
          <a:p>
            <a:pPr algn="l" marL="581134" indent="-290567" lvl="1">
              <a:lnSpc>
                <a:spcPts val="3768"/>
              </a:lnSpc>
              <a:buFont typeface="Arial"/>
              <a:buChar char="•"/>
            </a:pPr>
            <a:r>
              <a:rPr lang="en-US" sz="2691">
                <a:solidFill>
                  <a:srgbClr val="000000"/>
                </a:solidFill>
                <a:latin typeface="Poppins"/>
                <a:ea typeface="Poppins"/>
                <a:cs typeface="Poppins"/>
                <a:sym typeface="Poppins"/>
              </a:rPr>
              <a:t>Rule: If ENDERROR[N] = 1, then END[N] must be 1.</a:t>
            </a:r>
          </a:p>
          <a:p>
            <a:pPr algn="l">
              <a:lnSpc>
                <a:spcPts val="3768"/>
              </a:lnSpc>
              <a:spcBef>
                <a:spcPct val="0"/>
              </a:spcBef>
            </a:pPr>
          </a:p>
        </p:txBody>
      </p:sp>
      <p:sp>
        <p:nvSpPr>
          <p:cNvPr name="TextBox 4" id="4"/>
          <p:cNvSpPr txBox="true"/>
          <p:nvPr/>
        </p:nvSpPr>
        <p:spPr>
          <a:xfrm rot="0">
            <a:off x="604426" y="3963171"/>
            <a:ext cx="11303442" cy="3845136"/>
          </a:xfrm>
          <a:prstGeom prst="rect">
            <a:avLst/>
          </a:prstGeom>
        </p:spPr>
        <p:txBody>
          <a:bodyPr anchor="t" rtlCol="false" tIns="0" lIns="0" bIns="0" rIns="0">
            <a:spAutoFit/>
          </a:bodyPr>
          <a:lstStyle/>
          <a:p>
            <a:pPr algn="l">
              <a:lnSpc>
                <a:spcPts val="3908"/>
              </a:lnSpc>
            </a:pPr>
            <a:r>
              <a:rPr lang="en-US" sz="2791" b="true">
                <a:solidFill>
                  <a:srgbClr val="000000"/>
                </a:solidFill>
                <a:latin typeface="Poppins Bold"/>
                <a:ea typeface="Poppins Bold"/>
                <a:cs typeface="Poppins Bold"/>
                <a:sym typeface="Poppins Bold"/>
              </a:rPr>
              <a:t>5.END[N]PTR (End Pointer)</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to the last 4 bytes of packet ending in this flit.</a:t>
            </a:r>
          </a:p>
          <a:p>
            <a:pPr algn="l" marL="581134" indent="-290567" lvl="1">
              <a:lnSpc>
                <a:spcPts val="3768"/>
              </a:lnSpc>
              <a:buFont typeface="Arial"/>
              <a:buChar char="•"/>
            </a:pPr>
            <a:r>
              <a:rPr lang="en-US" sz="2691">
                <a:solidFill>
                  <a:srgbClr val="000000"/>
                </a:solidFill>
                <a:latin typeface="Poppins"/>
                <a:ea typeface="Poppins"/>
                <a:cs typeface="Poppins"/>
                <a:sym typeface="Poppins"/>
              </a:rPr>
              <a:t>Valid only if END[N] = 1.</a:t>
            </a:r>
          </a:p>
          <a:p>
            <a:pPr algn="l" marL="581134" indent="-290567" lvl="1">
              <a:lnSpc>
                <a:spcPts val="3768"/>
              </a:lnSpc>
              <a:buFont typeface="Arial"/>
              <a:buChar char="•"/>
            </a:pPr>
            <a:r>
              <a:rPr lang="en-US" sz="2691">
                <a:solidFill>
                  <a:srgbClr val="000000"/>
                </a:solidFill>
                <a:latin typeface="Poppins"/>
                <a:ea typeface="Poppins"/>
                <a:cs typeface="Poppins"/>
                <a:sym typeface="Poppins"/>
              </a:rPr>
              <a:t>All packet ends are 4-byte aligned.</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 width = log₂(CXSDATAFLITWIDTH / 32) bits.</a:t>
            </a:r>
          </a:p>
          <a:p>
            <a:pPr algn="l" marL="581134" indent="-290567" lvl="1">
              <a:lnSpc>
                <a:spcPts val="3768"/>
              </a:lnSpc>
              <a:buFont typeface="Arial"/>
              <a:buChar char="•"/>
            </a:pPr>
            <a:r>
              <a:rPr lang="en-US" sz="2691">
                <a:solidFill>
                  <a:srgbClr val="000000"/>
                </a:solidFill>
                <a:latin typeface="Poppins"/>
                <a:ea typeface="Poppins"/>
                <a:cs typeface="Poppins"/>
                <a:sym typeface="Poppins"/>
              </a:rPr>
              <a:t>Pointers must be monotonically increasing</a:t>
            </a:r>
          </a:p>
          <a:p>
            <a:pPr algn="l" marL="581134" indent="-290567" lvl="1">
              <a:lnSpc>
                <a:spcPts val="3768"/>
              </a:lnSpc>
              <a:buFont typeface="Arial"/>
              <a:buChar char="•"/>
            </a:pPr>
            <a:r>
              <a:rPr lang="en-US" sz="2691">
                <a:solidFill>
                  <a:srgbClr val="000000"/>
                </a:solidFill>
                <a:latin typeface="Poppins"/>
                <a:ea typeface="Poppins"/>
                <a:cs typeface="Poppins"/>
                <a:sym typeface="Poppins"/>
              </a:rPr>
              <a:t> (END1PTR &gt; END0PTR).</a:t>
            </a:r>
          </a:p>
          <a:p>
            <a:pPr algn="l">
              <a:lnSpc>
                <a:spcPts val="376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205167" y="2489794"/>
          <a:ext cx="7543800" cy="5029200"/>
        </p:xfrm>
        <a:graphic>
          <a:graphicData uri="http://schemas.openxmlformats.org/presentationml/2006/ole">
            <p:oleObj imgW="9042400" imgH="6527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500503" y="275542"/>
            <a:ext cx="14195653"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 PACKET CONTROL F</a:t>
            </a:r>
            <a:r>
              <a:rPr lang="en-US" sz="5308">
                <a:solidFill>
                  <a:srgbClr val="000000"/>
                </a:solidFill>
                <a:latin typeface="League Spartan"/>
                <a:ea typeface="League Spartan"/>
                <a:cs typeface="League Spartan"/>
                <a:sym typeface="League Spartan"/>
              </a:rPr>
              <a:t>IELD STRUCTURE</a:t>
            </a:r>
          </a:p>
        </p:txBody>
      </p:sp>
      <p:sp>
        <p:nvSpPr>
          <p:cNvPr name="TextBox 5" id="5"/>
          <p:cNvSpPr txBox="true"/>
          <p:nvPr/>
        </p:nvSpPr>
        <p:spPr>
          <a:xfrm rot="0">
            <a:off x="1028700" y="1438894"/>
            <a:ext cx="5634574" cy="74610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CXSMAXPKTPERFLIT = 2, CXSDATAFLITWIDTH = 256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4634655"/>
            <a:ext cx="10548944"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 </a:t>
            </a:r>
            <a:r>
              <a:rPr lang="en-US" b="true" sz="5308">
                <a:solidFill>
                  <a:srgbClr val="000000"/>
                </a:solidFill>
                <a:latin typeface="League Spartan"/>
                <a:ea typeface="League Spartan"/>
                <a:cs typeface="League Spartan"/>
                <a:sym typeface="League Spartan"/>
              </a:rPr>
              <a:t>PACKET SIZE CONSTRAINTS</a:t>
            </a:r>
          </a:p>
        </p:txBody>
      </p:sp>
      <p:sp>
        <p:nvSpPr>
          <p:cNvPr name="TextBox 4" id="4"/>
          <p:cNvSpPr txBox="true"/>
          <p:nvPr/>
        </p:nvSpPr>
        <p:spPr>
          <a:xfrm rot="0">
            <a:off x="1884409" y="5665079"/>
            <a:ext cx="7829655" cy="1860525"/>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 A CXS interface transmits packets of data that meet the                 following requirements: </a:t>
            </a:r>
          </a:p>
          <a:p>
            <a:pPr algn="l">
              <a:lnSpc>
                <a:spcPts val="2976"/>
              </a:lnSpc>
            </a:pPr>
            <a:r>
              <a:rPr lang="en-US" sz="2125">
                <a:solidFill>
                  <a:srgbClr val="000000"/>
                </a:solidFill>
                <a:latin typeface="Poppins"/>
                <a:ea typeface="Poppins"/>
                <a:cs typeface="Poppins"/>
                <a:sym typeface="Poppins"/>
              </a:rPr>
              <a:t>• At least 4 bytes in size</a:t>
            </a:r>
          </a:p>
          <a:p>
            <a:pPr algn="l">
              <a:lnSpc>
                <a:spcPts val="2976"/>
              </a:lnSpc>
            </a:pPr>
            <a:r>
              <a:rPr lang="en-US" sz="2125">
                <a:solidFill>
                  <a:srgbClr val="000000"/>
                </a:solidFill>
                <a:latin typeface="Poppins"/>
                <a:ea typeface="Poppins"/>
                <a:cs typeface="Poppins"/>
                <a:sym typeface="Poppins"/>
              </a:rPr>
              <a:t> • A multiple of 4 bytes in size</a:t>
            </a:r>
          </a:p>
          <a:p>
            <a:pPr algn="l">
              <a:lnSpc>
                <a:spcPts val="2976"/>
              </a:lnSpc>
              <a:spcBef>
                <a:spcPct val="0"/>
              </a:spcBef>
            </a:pPr>
            <a:r>
              <a:rPr lang="en-US" sz="2125">
                <a:solidFill>
                  <a:srgbClr val="000000"/>
                </a:solidFill>
                <a:latin typeface="Poppins"/>
                <a:ea typeface="Poppins"/>
                <a:cs typeface="Poppins"/>
                <a:sym typeface="Poppins"/>
              </a:rPr>
              <a:t> • No upper limit on packet size</a:t>
            </a:r>
          </a:p>
        </p:txBody>
      </p:sp>
      <p:sp>
        <p:nvSpPr>
          <p:cNvPr name="AutoShape 5" id="5"/>
          <p:cNvSpPr/>
          <p:nvPr/>
        </p:nvSpPr>
        <p:spPr>
          <a:xfrm flipH="true">
            <a:off x="13938963" y="2414041"/>
            <a:ext cx="0" cy="120919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5226288" y="1726784"/>
            <a:ext cx="18740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a:t>
            </a:r>
          </a:p>
        </p:txBody>
      </p:sp>
      <p:sp>
        <p:nvSpPr>
          <p:cNvPr name="TextBox 7" id="7"/>
          <p:cNvSpPr txBox="true"/>
          <p:nvPr/>
        </p:nvSpPr>
        <p:spPr>
          <a:xfrm rot="0">
            <a:off x="14182778" y="1726784"/>
            <a:ext cx="198120"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2</a:t>
            </a:r>
          </a:p>
        </p:txBody>
      </p:sp>
      <p:sp>
        <p:nvSpPr>
          <p:cNvPr name="TextBox 8" id="8"/>
          <p:cNvSpPr txBox="true"/>
          <p:nvPr/>
        </p:nvSpPr>
        <p:spPr>
          <a:xfrm rot="0">
            <a:off x="12729360" y="1726784"/>
            <a:ext cx="21014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3</a:t>
            </a:r>
          </a:p>
        </p:txBody>
      </p:sp>
      <p:sp>
        <p:nvSpPr>
          <p:cNvPr name="TextBox 9" id="9"/>
          <p:cNvSpPr txBox="true"/>
          <p:nvPr/>
        </p:nvSpPr>
        <p:spPr>
          <a:xfrm rot="0">
            <a:off x="11462443" y="1726784"/>
            <a:ext cx="221218"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4</a:t>
            </a:r>
          </a:p>
        </p:txBody>
      </p:sp>
      <p:sp>
        <p:nvSpPr>
          <p:cNvPr name="TextBox 10" id="10"/>
          <p:cNvSpPr txBox="true"/>
          <p:nvPr/>
        </p:nvSpPr>
        <p:spPr>
          <a:xfrm rot="0">
            <a:off x="10214013" y="1726784"/>
            <a:ext cx="21395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5</a:t>
            </a:r>
          </a:p>
        </p:txBody>
      </p:sp>
      <p:sp>
        <p:nvSpPr>
          <p:cNvPr name="TextBox 11" id="11"/>
          <p:cNvSpPr txBox="true"/>
          <p:nvPr/>
        </p:nvSpPr>
        <p:spPr>
          <a:xfrm rot="0">
            <a:off x="9157274" y="1726784"/>
            <a:ext cx="23062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6</a:t>
            </a:r>
          </a:p>
        </p:txBody>
      </p:sp>
      <p:sp>
        <p:nvSpPr>
          <p:cNvPr name="TextBox 12" id="12"/>
          <p:cNvSpPr txBox="true"/>
          <p:nvPr/>
        </p:nvSpPr>
        <p:spPr>
          <a:xfrm rot="0">
            <a:off x="7925751" y="1726784"/>
            <a:ext cx="180142"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7</a:t>
            </a:r>
          </a:p>
        </p:txBody>
      </p:sp>
      <p:sp>
        <p:nvSpPr>
          <p:cNvPr name="TextBox 13" id="13"/>
          <p:cNvSpPr txBox="true"/>
          <p:nvPr/>
        </p:nvSpPr>
        <p:spPr>
          <a:xfrm rot="0">
            <a:off x="5331706" y="1726784"/>
            <a:ext cx="229553"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9</a:t>
            </a:r>
          </a:p>
        </p:txBody>
      </p:sp>
      <p:sp>
        <p:nvSpPr>
          <p:cNvPr name="TextBox 14" id="14"/>
          <p:cNvSpPr txBox="true"/>
          <p:nvPr/>
        </p:nvSpPr>
        <p:spPr>
          <a:xfrm rot="0">
            <a:off x="6684941" y="1726784"/>
            <a:ext cx="217765"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8</a:t>
            </a:r>
          </a:p>
        </p:txBody>
      </p:sp>
      <p:sp>
        <p:nvSpPr>
          <p:cNvPr name="TextBox 15" id="15"/>
          <p:cNvSpPr txBox="true"/>
          <p:nvPr/>
        </p:nvSpPr>
        <p:spPr>
          <a:xfrm rot="0">
            <a:off x="4175847" y="1726784"/>
            <a:ext cx="428863"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10</a:t>
            </a:r>
          </a:p>
        </p:txBody>
      </p:sp>
      <p:sp>
        <p:nvSpPr>
          <p:cNvPr name="TextBox 16" id="16"/>
          <p:cNvSpPr txBox="true"/>
          <p:nvPr/>
        </p:nvSpPr>
        <p:spPr>
          <a:xfrm rot="0">
            <a:off x="1865260" y="1726784"/>
            <a:ext cx="385524"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12</a:t>
            </a:r>
          </a:p>
        </p:txBody>
      </p:sp>
      <p:sp>
        <p:nvSpPr>
          <p:cNvPr name="TextBox 17" id="17"/>
          <p:cNvSpPr txBox="true"/>
          <p:nvPr/>
        </p:nvSpPr>
        <p:spPr>
          <a:xfrm rot="0">
            <a:off x="3170900" y="1726784"/>
            <a:ext cx="374690"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11</a:t>
            </a:r>
          </a:p>
        </p:txBody>
      </p:sp>
      <p:sp>
        <p:nvSpPr>
          <p:cNvPr name="TextBox 18" id="18"/>
          <p:cNvSpPr txBox="true"/>
          <p:nvPr/>
        </p:nvSpPr>
        <p:spPr>
          <a:xfrm rot="0">
            <a:off x="648918" y="1726784"/>
            <a:ext cx="397431"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13</a:t>
            </a:r>
          </a:p>
        </p:txBody>
      </p:sp>
      <p:sp>
        <p:nvSpPr>
          <p:cNvPr name="AutoShape 19" id="19"/>
          <p:cNvSpPr/>
          <p:nvPr/>
        </p:nvSpPr>
        <p:spPr>
          <a:xfrm flipH="true">
            <a:off x="15300940" y="2414041"/>
            <a:ext cx="0" cy="1209190"/>
          </a:xfrm>
          <a:prstGeom prst="line">
            <a:avLst/>
          </a:prstGeom>
          <a:ln cap="flat" w="38100">
            <a:solidFill>
              <a:srgbClr val="000000"/>
            </a:solidFill>
            <a:prstDash val="solid"/>
            <a:headEnd type="none" len="sm" w="sm"/>
            <a:tailEnd type="none" len="sm" w="sm"/>
          </a:ln>
        </p:spPr>
      </p:sp>
      <p:sp>
        <p:nvSpPr>
          <p:cNvPr name="AutoShape 20" id="20"/>
          <p:cNvSpPr/>
          <p:nvPr/>
        </p:nvSpPr>
        <p:spPr>
          <a:xfrm flipH="true">
            <a:off x="10340041" y="2414041"/>
            <a:ext cx="0" cy="1209190"/>
          </a:xfrm>
          <a:prstGeom prst="line">
            <a:avLst/>
          </a:prstGeom>
          <a:ln cap="flat" w="38100">
            <a:solidFill>
              <a:srgbClr val="000000"/>
            </a:solidFill>
            <a:prstDash val="solid"/>
            <a:headEnd type="none" len="sm" w="sm"/>
            <a:tailEnd type="none" len="sm" w="sm"/>
          </a:ln>
        </p:spPr>
      </p:sp>
      <p:sp>
        <p:nvSpPr>
          <p:cNvPr name="AutoShape 21" id="21"/>
          <p:cNvSpPr/>
          <p:nvPr/>
        </p:nvSpPr>
        <p:spPr>
          <a:xfrm flipH="true">
            <a:off x="12853483" y="2414041"/>
            <a:ext cx="0" cy="1209190"/>
          </a:xfrm>
          <a:prstGeom prst="line">
            <a:avLst/>
          </a:prstGeom>
          <a:ln cap="flat" w="38100">
            <a:solidFill>
              <a:srgbClr val="000000"/>
            </a:solidFill>
            <a:prstDash val="solid"/>
            <a:headEnd type="none" len="sm" w="sm"/>
            <a:tailEnd type="none" len="sm" w="sm"/>
          </a:ln>
        </p:spPr>
      </p:sp>
      <p:sp>
        <p:nvSpPr>
          <p:cNvPr name="AutoShape 22" id="22"/>
          <p:cNvSpPr/>
          <p:nvPr/>
        </p:nvSpPr>
        <p:spPr>
          <a:xfrm flipH="true">
            <a:off x="4371228" y="2414041"/>
            <a:ext cx="0" cy="1209190"/>
          </a:xfrm>
          <a:prstGeom prst="line">
            <a:avLst/>
          </a:prstGeom>
          <a:ln cap="flat" w="38100">
            <a:solidFill>
              <a:srgbClr val="000000"/>
            </a:solidFill>
            <a:prstDash val="solid"/>
            <a:headEnd type="none" len="sm" w="sm"/>
            <a:tailEnd type="none" len="sm" w="sm"/>
          </a:ln>
        </p:spPr>
      </p:sp>
      <p:sp>
        <p:nvSpPr>
          <p:cNvPr name="AutoShape 23" id="23"/>
          <p:cNvSpPr/>
          <p:nvPr/>
        </p:nvSpPr>
        <p:spPr>
          <a:xfrm flipH="true">
            <a:off x="7996772" y="2414041"/>
            <a:ext cx="0" cy="1209190"/>
          </a:xfrm>
          <a:prstGeom prst="line">
            <a:avLst/>
          </a:prstGeom>
          <a:ln cap="flat" w="38100">
            <a:solidFill>
              <a:srgbClr val="000000"/>
            </a:solidFill>
            <a:prstDash val="solid"/>
            <a:headEnd type="none" len="sm" w="sm"/>
            <a:tailEnd type="none" len="sm" w="sm"/>
          </a:ln>
        </p:spPr>
      </p:sp>
      <p:sp>
        <p:nvSpPr>
          <p:cNvPr name="TextBox 24" id="24"/>
          <p:cNvSpPr txBox="true"/>
          <p:nvPr/>
        </p:nvSpPr>
        <p:spPr>
          <a:xfrm rot="0">
            <a:off x="16202481" y="1726784"/>
            <a:ext cx="248126"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0</a:t>
            </a:r>
          </a:p>
        </p:txBody>
      </p:sp>
      <p:sp>
        <p:nvSpPr>
          <p:cNvPr name="TextBox 25" id="25"/>
          <p:cNvSpPr txBox="true"/>
          <p:nvPr/>
        </p:nvSpPr>
        <p:spPr>
          <a:xfrm rot="0">
            <a:off x="15808563" y="2583407"/>
            <a:ext cx="1035963"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start</a:t>
            </a:r>
          </a:p>
        </p:txBody>
      </p:sp>
      <p:sp>
        <p:nvSpPr>
          <p:cNvPr name="TextBox 26" id="26"/>
          <p:cNvSpPr txBox="true"/>
          <p:nvPr/>
        </p:nvSpPr>
        <p:spPr>
          <a:xfrm rot="0">
            <a:off x="1314418" y="2964407"/>
            <a:ext cx="2043827"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END1PTR</a:t>
            </a:r>
          </a:p>
        </p:txBody>
      </p:sp>
      <p:sp>
        <p:nvSpPr>
          <p:cNvPr name="TextBox 27" id="27"/>
          <p:cNvSpPr txBox="true"/>
          <p:nvPr/>
        </p:nvSpPr>
        <p:spPr>
          <a:xfrm rot="0">
            <a:off x="5176627" y="2848519"/>
            <a:ext cx="2119789"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END0PTR</a:t>
            </a:r>
          </a:p>
        </p:txBody>
      </p:sp>
      <p:sp>
        <p:nvSpPr>
          <p:cNvPr name="TextBox 28" id="28"/>
          <p:cNvSpPr txBox="true"/>
          <p:nvPr/>
        </p:nvSpPr>
        <p:spPr>
          <a:xfrm rot="0">
            <a:off x="8015822" y="2781845"/>
            <a:ext cx="2205871" cy="514349"/>
          </a:xfrm>
          <a:prstGeom prst="rect">
            <a:avLst/>
          </a:prstGeom>
        </p:spPr>
        <p:txBody>
          <a:bodyPr anchor="t" rtlCol="false" tIns="0" lIns="0" bIns="0" rIns="0">
            <a:spAutoFit/>
          </a:bodyPr>
          <a:lstStyle/>
          <a:p>
            <a:pPr algn="ctr">
              <a:lnSpc>
                <a:spcPts val="4200"/>
              </a:lnSpc>
            </a:pPr>
            <a:r>
              <a:rPr lang="en-US" sz="3000" b="true">
                <a:solidFill>
                  <a:srgbClr val="000000"/>
                </a:solidFill>
                <a:latin typeface="Canva Sans Bold"/>
                <a:ea typeface="Canva Sans Bold"/>
                <a:cs typeface="Canva Sans Bold"/>
                <a:sym typeface="Canva Sans Bold"/>
              </a:rPr>
              <a:t>END ERROR</a:t>
            </a:r>
          </a:p>
        </p:txBody>
      </p:sp>
      <p:sp>
        <p:nvSpPr>
          <p:cNvPr name="TextBox 29" id="29"/>
          <p:cNvSpPr txBox="true"/>
          <p:nvPr/>
        </p:nvSpPr>
        <p:spPr>
          <a:xfrm rot="0">
            <a:off x="10982443" y="2735807"/>
            <a:ext cx="960001"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END</a:t>
            </a:r>
          </a:p>
        </p:txBody>
      </p:sp>
      <p:sp>
        <p:nvSpPr>
          <p:cNvPr name="TextBox 30" id="30"/>
          <p:cNvSpPr txBox="true"/>
          <p:nvPr/>
        </p:nvSpPr>
        <p:spPr>
          <a:xfrm rot="0">
            <a:off x="13025403" y="2583407"/>
            <a:ext cx="741640"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s1p</a:t>
            </a:r>
          </a:p>
        </p:txBody>
      </p:sp>
      <p:sp>
        <p:nvSpPr>
          <p:cNvPr name="TextBox 31" id="31"/>
          <p:cNvSpPr txBox="true"/>
          <p:nvPr/>
        </p:nvSpPr>
        <p:spPr>
          <a:xfrm rot="0">
            <a:off x="14161132" y="2583407"/>
            <a:ext cx="817602"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s0p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3033" y="282500"/>
            <a:ext cx="17209037" cy="746200"/>
          </a:xfrm>
          <a:prstGeom prst="rect">
            <a:avLst/>
          </a:prstGeom>
        </p:spPr>
        <p:txBody>
          <a:bodyPr anchor="t" rtlCol="false" tIns="0" lIns="0" bIns="0" rIns="0">
            <a:spAutoFit/>
          </a:bodyPr>
          <a:lstStyle/>
          <a:p>
            <a:pPr algn="ctr">
              <a:lnSpc>
                <a:spcPts val="6120"/>
              </a:lnSpc>
            </a:pPr>
            <a:r>
              <a:rPr lang="en-US" b="true" sz="4372">
                <a:solidFill>
                  <a:srgbClr val="000000"/>
                </a:solidFill>
                <a:latin typeface="League Spartan"/>
                <a:ea typeface="League Spartan"/>
                <a:cs typeface="League Spartan"/>
                <a:sym typeface="League Spartan"/>
              </a:rPr>
              <a:t>IN</a:t>
            </a:r>
            <a:r>
              <a:rPr lang="en-US" b="true" sz="4372">
                <a:solidFill>
                  <a:srgbClr val="000000"/>
                </a:solidFill>
                <a:latin typeface="League Spartan"/>
                <a:ea typeface="League Spartan"/>
                <a:cs typeface="League Spartan"/>
                <a:sym typeface="League Spartan"/>
              </a:rPr>
              <a:t>TERFACE CONTROL WITH EXPLICIT CREDIT RETURN</a:t>
            </a:r>
          </a:p>
        </p:txBody>
      </p:sp>
      <p:sp>
        <p:nvSpPr>
          <p:cNvPr name="TextBox 4" id="4"/>
          <p:cNvSpPr txBox="true"/>
          <p:nvPr/>
        </p:nvSpPr>
        <p:spPr>
          <a:xfrm rot="0">
            <a:off x="1168410" y="1241061"/>
            <a:ext cx="16442488" cy="1962918"/>
          </a:xfrm>
          <a:prstGeom prst="rect">
            <a:avLst/>
          </a:prstGeom>
        </p:spPr>
        <p:txBody>
          <a:bodyPr anchor="t" rtlCol="false" tIns="0" lIns="0" bIns="0" rIns="0">
            <a:spAutoFit/>
          </a:bodyPr>
          <a:lstStyle/>
          <a:p>
            <a:pPr algn="l" marL="479248" indent="-239624" lvl="1">
              <a:lnSpc>
                <a:spcPts val="3107"/>
              </a:lnSpc>
              <a:buFont typeface="Arial"/>
              <a:buChar char="•"/>
            </a:pPr>
            <a:r>
              <a:rPr lang="en-US" sz="2219">
                <a:solidFill>
                  <a:srgbClr val="303642"/>
                </a:solidFill>
                <a:latin typeface="Poppins"/>
                <a:ea typeface="Poppins"/>
                <a:cs typeface="Poppins"/>
                <a:sym typeface="Poppins"/>
              </a:rPr>
              <a:t>A CXS interface can be optionally configured to include signaling for activation and deactivation, using the CXSLINKCONTROL property. The property can be set to None or Explicit_Credit_Return. When the CXSLINKCONTROL property is set to None, there are no signals for interface activation and deactivation. This setting requires that the Receiver must always send credits when they are available, and the Transmitter must always be able to receive them.</a:t>
            </a:r>
          </a:p>
        </p:txBody>
      </p:sp>
      <p:sp>
        <p:nvSpPr>
          <p:cNvPr name="TextBox 5" id="5"/>
          <p:cNvSpPr txBox="true"/>
          <p:nvPr/>
        </p:nvSpPr>
        <p:spPr>
          <a:xfrm rot="0">
            <a:off x="1028700" y="4113717"/>
            <a:ext cx="12283836" cy="2353443"/>
          </a:xfrm>
          <a:prstGeom prst="rect">
            <a:avLst/>
          </a:prstGeom>
        </p:spPr>
        <p:txBody>
          <a:bodyPr anchor="t" rtlCol="false" tIns="0" lIns="0" bIns="0" rIns="0">
            <a:spAutoFit/>
          </a:bodyPr>
          <a:lstStyle/>
          <a:p>
            <a:pPr algn="l">
              <a:lnSpc>
                <a:spcPts val="3107"/>
              </a:lnSpc>
            </a:pPr>
            <a:r>
              <a:rPr lang="en-US" sz="2219" b="true">
                <a:solidFill>
                  <a:srgbClr val="303642"/>
                </a:solidFill>
                <a:latin typeface="Poppins Bold"/>
                <a:ea typeface="Poppins Bold"/>
                <a:cs typeface="Poppins Bold"/>
                <a:sym typeface="Poppins Bold"/>
              </a:rPr>
              <a:t>CXSCRDRTN – Credit Return</a:t>
            </a:r>
          </a:p>
          <a:p>
            <a:pPr algn="l" marL="479248" indent="-239624" lvl="1">
              <a:lnSpc>
                <a:spcPts val="3107"/>
              </a:lnSpc>
              <a:buFont typeface="Arial"/>
              <a:buChar char="•"/>
            </a:pPr>
            <a:r>
              <a:rPr lang="en-US" sz="2219">
                <a:solidFill>
                  <a:srgbClr val="303642"/>
                </a:solidFill>
                <a:latin typeface="Poppins"/>
                <a:ea typeface="Poppins"/>
                <a:cs typeface="Poppins"/>
                <a:sym typeface="Poppins"/>
              </a:rPr>
              <a:t>Direction: Transmitter → Receiver</a:t>
            </a:r>
          </a:p>
          <a:p>
            <a:pPr algn="l" marL="479248" indent="-239624" lvl="1">
              <a:lnSpc>
                <a:spcPts val="3107"/>
              </a:lnSpc>
              <a:buFont typeface="Arial"/>
              <a:buChar char="•"/>
            </a:pPr>
            <a:r>
              <a:rPr lang="en-US" sz="2219">
                <a:solidFill>
                  <a:srgbClr val="303642"/>
                </a:solidFill>
                <a:latin typeface="Poppins"/>
                <a:ea typeface="Poppins"/>
                <a:cs typeface="Poppins"/>
                <a:sym typeface="Poppins"/>
              </a:rPr>
              <a:t>Returned when transmitter does NOT use a previously granted credit</a:t>
            </a:r>
          </a:p>
          <a:p>
            <a:pPr algn="l" marL="479248" indent="-239624" lvl="1">
              <a:lnSpc>
                <a:spcPts val="3107"/>
              </a:lnSpc>
              <a:buFont typeface="Arial"/>
              <a:buChar char="•"/>
            </a:pPr>
            <a:r>
              <a:rPr lang="en-US" sz="2219">
                <a:solidFill>
                  <a:srgbClr val="303642"/>
                </a:solidFill>
                <a:latin typeface="Poppins"/>
                <a:ea typeface="Poppins"/>
                <a:cs typeface="Poppins"/>
                <a:sym typeface="Poppins"/>
              </a:rPr>
              <a:t>Can be asserted only when CXSVALID = 0</a:t>
            </a:r>
          </a:p>
          <a:p>
            <a:pPr algn="l" marL="479248" indent="-239624" lvl="1">
              <a:lnSpc>
                <a:spcPts val="3107"/>
              </a:lnSpc>
              <a:buFont typeface="Arial"/>
              <a:buChar char="•"/>
            </a:pPr>
            <a:r>
              <a:rPr lang="en-US" sz="2219">
                <a:solidFill>
                  <a:srgbClr val="303642"/>
                </a:solidFill>
                <a:latin typeface="Poppins"/>
                <a:ea typeface="Poppins"/>
                <a:cs typeface="Poppins"/>
                <a:sym typeface="Poppins"/>
              </a:rPr>
              <a:t>Helps receiver reuse credits early and maintain flow control efficiency</a:t>
            </a:r>
          </a:p>
          <a:p>
            <a:pPr algn="r">
              <a:lnSpc>
                <a:spcPts val="3107"/>
              </a:lnSpc>
              <a:spcBef>
                <a:spcPct val="0"/>
              </a:spcBef>
            </a:pPr>
          </a:p>
        </p:txBody>
      </p:sp>
      <p:sp>
        <p:nvSpPr>
          <p:cNvPr name="TextBox 6" id="6"/>
          <p:cNvSpPr txBox="true"/>
          <p:nvPr/>
        </p:nvSpPr>
        <p:spPr>
          <a:xfrm rot="0">
            <a:off x="1028700" y="6554080"/>
            <a:ext cx="10832850" cy="1962918"/>
          </a:xfrm>
          <a:prstGeom prst="rect">
            <a:avLst/>
          </a:prstGeom>
        </p:spPr>
        <p:txBody>
          <a:bodyPr anchor="t" rtlCol="false" tIns="0" lIns="0" bIns="0" rIns="0">
            <a:spAutoFit/>
          </a:bodyPr>
          <a:lstStyle/>
          <a:p>
            <a:pPr algn="just">
              <a:lnSpc>
                <a:spcPts val="3107"/>
              </a:lnSpc>
            </a:pPr>
            <a:r>
              <a:rPr lang="en-US" sz="2219" b="true">
                <a:solidFill>
                  <a:srgbClr val="303642"/>
                </a:solidFill>
                <a:latin typeface="Poppins Bold"/>
                <a:ea typeface="Poppins Bold"/>
                <a:cs typeface="Poppins Bold"/>
                <a:sym typeface="Poppins Bold"/>
              </a:rPr>
              <a:t>CXSACTIVEREQ – Link Activation Request</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Direction: Transmitter → Receiver</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Used to request activation or deactivation of the CXS link</a:t>
            </a:r>
          </a:p>
          <a:p>
            <a:pPr algn="just" marL="479248" indent="-239624" lvl="1">
              <a:lnSpc>
                <a:spcPts val="3107"/>
              </a:lnSpc>
              <a:buFont typeface="Arial"/>
              <a:buChar char="•"/>
            </a:pPr>
            <a:r>
              <a:rPr lang="en-US" sz="2219">
                <a:solidFill>
                  <a:srgbClr val="303642"/>
                </a:solidFill>
                <a:latin typeface="Poppins"/>
                <a:ea typeface="Poppins"/>
                <a:cs typeface="Poppins"/>
                <a:sym typeface="Poppins"/>
              </a:rPr>
              <a:t>Initiates link state transitions (STOP → ACTIVATE → RUN)</a:t>
            </a:r>
          </a:p>
          <a:p>
            <a:pPr algn="ctr">
              <a:lnSpc>
                <a:spcPts val="3107"/>
              </a:lnSpc>
              <a:spcBef>
                <a:spcPct val="0"/>
              </a:spcBef>
            </a:pPr>
          </a:p>
        </p:txBody>
      </p:sp>
      <p:sp>
        <p:nvSpPr>
          <p:cNvPr name="TextBox 7" id="7"/>
          <p:cNvSpPr txBox="true"/>
          <p:nvPr/>
        </p:nvSpPr>
        <p:spPr>
          <a:xfrm rot="0">
            <a:off x="-1557031" y="3423054"/>
            <a:ext cx="16584045" cy="481114"/>
          </a:xfrm>
          <a:prstGeom prst="rect">
            <a:avLst/>
          </a:prstGeom>
        </p:spPr>
        <p:txBody>
          <a:bodyPr anchor="t" rtlCol="false" tIns="0" lIns="0" bIns="0" rIns="0">
            <a:spAutoFit/>
          </a:bodyPr>
          <a:lstStyle/>
          <a:p>
            <a:pPr algn="ctr">
              <a:lnSpc>
                <a:spcPts val="3931"/>
              </a:lnSpc>
              <a:spcBef>
                <a:spcPct val="0"/>
              </a:spcBef>
            </a:pPr>
            <a:r>
              <a:rPr lang="en-US" b="true" sz="2808">
                <a:solidFill>
                  <a:srgbClr val="000000"/>
                </a:solidFill>
                <a:latin typeface="League Spartan"/>
                <a:ea typeface="League Spartan"/>
                <a:cs typeface="League Spartan"/>
                <a:sym typeface="League Spartan"/>
              </a:rPr>
              <a:t>SIGNALS FOR LINK CONTROL USING EXPLICIT CREDIT RETURN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75255" y="2547247"/>
            <a:ext cx="9719404" cy="2232000"/>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CXSDEACTHINT – Deactivation Hint</a:t>
            </a:r>
          </a:p>
          <a:p>
            <a:pPr algn="l" marL="458997" indent="-229499" lvl="1">
              <a:lnSpc>
                <a:spcPts val="2976"/>
              </a:lnSpc>
              <a:buFont typeface="Arial"/>
              <a:buChar char="•"/>
            </a:pPr>
            <a:r>
              <a:rPr lang="en-US" sz="2125">
                <a:solidFill>
                  <a:srgbClr val="000000"/>
                </a:solidFill>
                <a:latin typeface="Poppins"/>
                <a:ea typeface="Poppins"/>
                <a:cs typeface="Poppins"/>
                <a:sym typeface="Poppins"/>
              </a:rPr>
              <a:t>Direction: Receiver → Transmitter</a:t>
            </a:r>
          </a:p>
          <a:p>
            <a:pPr algn="l" marL="458997" indent="-229499" lvl="1">
              <a:lnSpc>
                <a:spcPts val="2976"/>
              </a:lnSpc>
              <a:buFont typeface="Arial"/>
              <a:buChar char="•"/>
            </a:pPr>
            <a:r>
              <a:rPr lang="en-US" sz="2125">
                <a:solidFill>
                  <a:srgbClr val="000000"/>
                </a:solidFill>
                <a:latin typeface="Poppins"/>
                <a:ea typeface="Poppins"/>
                <a:cs typeface="Poppins"/>
                <a:sym typeface="Poppins"/>
              </a:rPr>
              <a:t>Receiver indicates it would like the link to be deactivated soon</a:t>
            </a:r>
          </a:p>
          <a:p>
            <a:pPr algn="l" marL="458997" indent="-229499" lvl="1">
              <a:lnSpc>
                <a:spcPts val="2976"/>
              </a:lnSpc>
              <a:buFont typeface="Arial"/>
              <a:buChar char="•"/>
            </a:pPr>
            <a:r>
              <a:rPr lang="en-US" sz="2125">
                <a:solidFill>
                  <a:srgbClr val="000000"/>
                </a:solidFill>
                <a:latin typeface="Poppins"/>
                <a:ea typeface="Poppins"/>
                <a:cs typeface="Poppins"/>
                <a:sym typeface="Poppins"/>
              </a:rPr>
              <a:t>Used for power saving or idle-time optimization</a:t>
            </a:r>
          </a:p>
          <a:p>
            <a:pPr algn="l" marL="458997" indent="-229499" lvl="1">
              <a:lnSpc>
                <a:spcPts val="2976"/>
              </a:lnSpc>
              <a:buFont typeface="Arial"/>
              <a:buChar char="•"/>
            </a:pPr>
            <a:r>
              <a:rPr lang="en-US" sz="2125">
                <a:solidFill>
                  <a:srgbClr val="000000"/>
                </a:solidFill>
                <a:latin typeface="Poppins"/>
                <a:ea typeface="Poppins"/>
                <a:cs typeface="Poppins"/>
                <a:sym typeface="Poppins"/>
              </a:rPr>
              <a:t>Does not force deactivation — transmitter decides when safe</a:t>
            </a:r>
          </a:p>
          <a:p>
            <a:pPr algn="l">
              <a:lnSpc>
                <a:spcPts val="2976"/>
              </a:lnSpc>
              <a:spcBef>
                <a:spcPct val="0"/>
              </a:spcBef>
            </a:pPr>
          </a:p>
        </p:txBody>
      </p:sp>
      <p:sp>
        <p:nvSpPr>
          <p:cNvPr name="TextBox 4" id="4"/>
          <p:cNvSpPr txBox="true"/>
          <p:nvPr/>
        </p:nvSpPr>
        <p:spPr>
          <a:xfrm rot="0">
            <a:off x="790450" y="743872"/>
            <a:ext cx="9105526" cy="1860525"/>
          </a:xfrm>
          <a:prstGeom prst="rect">
            <a:avLst/>
          </a:prstGeom>
        </p:spPr>
        <p:txBody>
          <a:bodyPr anchor="t" rtlCol="false" tIns="0" lIns="0" bIns="0" rIns="0">
            <a:spAutoFit/>
          </a:bodyPr>
          <a:lstStyle/>
          <a:p>
            <a:pPr algn="l">
              <a:lnSpc>
                <a:spcPts val="2976"/>
              </a:lnSpc>
            </a:pPr>
            <a:r>
              <a:rPr lang="en-US" sz="2125" b="true">
                <a:solidFill>
                  <a:srgbClr val="000000"/>
                </a:solidFill>
                <a:latin typeface="Poppins Bold"/>
                <a:ea typeface="Poppins Bold"/>
                <a:cs typeface="Poppins Bold"/>
                <a:sym typeface="Poppins Bold"/>
              </a:rPr>
              <a:t>CXSACTIVEACK – Link Activation Acknowledge</a:t>
            </a:r>
          </a:p>
          <a:p>
            <a:pPr algn="l" marL="458997" indent="-229499" lvl="1">
              <a:lnSpc>
                <a:spcPts val="2976"/>
              </a:lnSpc>
              <a:buFont typeface="Arial"/>
              <a:buChar char="•"/>
            </a:pPr>
            <a:r>
              <a:rPr lang="en-US" sz="2125">
                <a:solidFill>
                  <a:srgbClr val="000000"/>
                </a:solidFill>
                <a:latin typeface="Poppins"/>
                <a:ea typeface="Poppins"/>
                <a:cs typeface="Poppins"/>
                <a:sym typeface="Poppins"/>
              </a:rPr>
              <a:t>Direction: Receiver → Transmitter</a:t>
            </a:r>
          </a:p>
          <a:p>
            <a:pPr algn="l" marL="458997" indent="-229499" lvl="1">
              <a:lnSpc>
                <a:spcPts val="2976"/>
              </a:lnSpc>
              <a:buFont typeface="Arial"/>
              <a:buChar char="•"/>
            </a:pPr>
            <a:r>
              <a:rPr lang="en-US" sz="2125">
                <a:solidFill>
                  <a:srgbClr val="000000"/>
                </a:solidFill>
                <a:latin typeface="Poppins"/>
                <a:ea typeface="Poppins"/>
                <a:cs typeface="Poppins"/>
                <a:sym typeface="Poppins"/>
              </a:rPr>
              <a:t>Confirms the transmitter's activation/deactivation request</a:t>
            </a:r>
          </a:p>
          <a:p>
            <a:pPr algn="l" marL="458997" indent="-229499" lvl="1">
              <a:lnSpc>
                <a:spcPts val="2976"/>
              </a:lnSpc>
              <a:buFont typeface="Arial"/>
              <a:buChar char="•"/>
            </a:pPr>
            <a:r>
              <a:rPr lang="en-US" sz="2125">
                <a:solidFill>
                  <a:srgbClr val="000000"/>
                </a:solidFill>
                <a:latin typeface="Poppins"/>
                <a:ea typeface="Poppins"/>
                <a:cs typeface="Poppins"/>
                <a:sym typeface="Poppins"/>
              </a:rPr>
              <a:t>Ensures both sides remain in the same link state</a:t>
            </a:r>
          </a:p>
          <a:p>
            <a:pPr algn="l">
              <a:lnSpc>
                <a:spcPts val="2976"/>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749131" y="3627726"/>
            <a:ext cx="7831471" cy="5375447"/>
          </a:xfrm>
          <a:custGeom>
            <a:avLst/>
            <a:gdLst/>
            <a:ahLst/>
            <a:cxnLst/>
            <a:rect r="r" b="b" t="t" l="l"/>
            <a:pathLst>
              <a:path h="5375447" w="7831471">
                <a:moveTo>
                  <a:pt x="0" y="0"/>
                </a:moveTo>
                <a:lnTo>
                  <a:pt x="7831471" y="0"/>
                </a:lnTo>
                <a:lnTo>
                  <a:pt x="7831471" y="5375448"/>
                </a:lnTo>
                <a:lnTo>
                  <a:pt x="0" y="5375448"/>
                </a:lnTo>
                <a:lnTo>
                  <a:pt x="0" y="0"/>
                </a:lnTo>
                <a:close/>
              </a:path>
            </a:pathLst>
          </a:custGeom>
          <a:blipFill>
            <a:blip r:embed="rId3"/>
            <a:stretch>
              <a:fillRect l="0" t="0" r="0" b="0"/>
            </a:stretch>
          </a:blipFill>
        </p:spPr>
      </p:sp>
      <p:sp>
        <p:nvSpPr>
          <p:cNvPr name="TextBox 4" id="4"/>
          <p:cNvSpPr txBox="true"/>
          <p:nvPr/>
        </p:nvSpPr>
        <p:spPr>
          <a:xfrm rot="0">
            <a:off x="489231" y="290410"/>
            <a:ext cx="14969124" cy="738290"/>
          </a:xfrm>
          <a:prstGeom prst="rect">
            <a:avLst/>
          </a:prstGeom>
        </p:spPr>
        <p:txBody>
          <a:bodyPr anchor="t" rtlCol="false" tIns="0" lIns="0" bIns="0" rIns="0">
            <a:spAutoFit/>
          </a:bodyPr>
          <a:lstStyle/>
          <a:p>
            <a:pPr algn="l">
              <a:lnSpc>
                <a:spcPts val="6031"/>
              </a:lnSpc>
            </a:pPr>
            <a:r>
              <a:rPr lang="en-US" sz="4308">
                <a:solidFill>
                  <a:srgbClr val="000000"/>
                </a:solidFill>
                <a:latin typeface="League Spartan"/>
                <a:ea typeface="League Spartan"/>
                <a:cs typeface="League Spartan"/>
                <a:sym typeface="League Spartan"/>
              </a:rPr>
              <a:t> R</a:t>
            </a:r>
            <a:r>
              <a:rPr lang="en-US" sz="4308">
                <a:solidFill>
                  <a:srgbClr val="000000"/>
                </a:solidFill>
                <a:latin typeface="League Spartan"/>
                <a:ea typeface="League Spartan"/>
                <a:cs typeface="League Spartan"/>
                <a:sym typeface="League Spartan"/>
              </a:rPr>
              <a:t>EQUEST AND ACKNOWLEDGMENT HANDSHAKING</a:t>
            </a:r>
          </a:p>
        </p:txBody>
      </p:sp>
      <p:sp>
        <p:nvSpPr>
          <p:cNvPr name="TextBox 5" id="5"/>
          <p:cNvSpPr txBox="true"/>
          <p:nvPr/>
        </p:nvSpPr>
        <p:spPr>
          <a:xfrm rot="0">
            <a:off x="1307736" y="1228060"/>
            <a:ext cx="12100509" cy="74610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 Request and acknowledge handshaking uses CXSACTIVEREQ and CXSACTIVEACK as primary signals. </a:t>
            </a:r>
          </a:p>
        </p:txBody>
      </p:sp>
      <p:sp>
        <p:nvSpPr>
          <p:cNvPr name="TextBox 6" id="6"/>
          <p:cNvSpPr txBox="true"/>
          <p:nvPr/>
        </p:nvSpPr>
        <p:spPr>
          <a:xfrm rot="0">
            <a:off x="1958819" y="2601134"/>
            <a:ext cx="14969124" cy="563664"/>
          </a:xfrm>
          <a:prstGeom prst="rect">
            <a:avLst/>
          </a:prstGeom>
        </p:spPr>
        <p:txBody>
          <a:bodyPr anchor="t" rtlCol="false" tIns="0" lIns="0" bIns="0" rIns="0">
            <a:spAutoFit/>
          </a:bodyPr>
          <a:lstStyle/>
          <a:p>
            <a:pPr algn="l">
              <a:lnSpc>
                <a:spcPts val="4631"/>
              </a:lnSpc>
            </a:pPr>
            <a:r>
              <a:rPr lang="en-US" sz="3308">
                <a:solidFill>
                  <a:srgbClr val="000000"/>
                </a:solidFill>
                <a:latin typeface="League Spartan"/>
                <a:ea typeface="League Spartan"/>
                <a:cs typeface="League Spartan"/>
                <a:sym typeface="League Spartan"/>
              </a:rPr>
              <a:t> FO</a:t>
            </a:r>
            <a:r>
              <a:rPr lang="en-US" sz="3308">
                <a:solidFill>
                  <a:srgbClr val="000000"/>
                </a:solidFill>
                <a:latin typeface="League Spartan"/>
                <a:ea typeface="League Spartan"/>
                <a:cs typeface="League Spartan"/>
                <a:sym typeface="League Spartan"/>
              </a:rPr>
              <a:t>UR STATES ARE DEFINED FOR THE INTERFACE OPERATION:</a:t>
            </a:r>
          </a:p>
        </p:txBody>
      </p:sp>
      <p:sp>
        <p:nvSpPr>
          <p:cNvPr name="TextBox 7" id="7"/>
          <p:cNvSpPr txBox="true"/>
          <p:nvPr/>
        </p:nvSpPr>
        <p:spPr>
          <a:xfrm rot="0">
            <a:off x="2241436" y="3364823"/>
            <a:ext cx="12100509" cy="1489050"/>
          </a:xfrm>
          <a:prstGeom prst="rect">
            <a:avLst/>
          </a:prstGeom>
        </p:spPr>
        <p:txBody>
          <a:bodyPr anchor="t" rtlCol="false" tIns="0" lIns="0" bIns="0" rIns="0">
            <a:spAutoFit/>
          </a:bodyPr>
          <a:lstStyle/>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stop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Active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Run state</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Deactive State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0000"/>
                </a:solidFill>
                <a:latin typeface="League Spartan"/>
                <a:ea typeface="League Spartan"/>
                <a:cs typeface="League Spartan"/>
                <a:sym typeface="League Spartan"/>
              </a:rPr>
              <a:t>THANK YOU</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38682" y="1791504"/>
            <a:ext cx="9010636" cy="967259"/>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PLANNING</a:t>
            </a:r>
          </a:p>
        </p:txBody>
      </p:sp>
      <p:sp>
        <p:nvSpPr>
          <p:cNvPr name="TextBox 4" id="4"/>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OUR NEW</a:t>
            </a:r>
          </a:p>
        </p:txBody>
      </p:sp>
      <p:sp>
        <p:nvSpPr>
          <p:cNvPr name="TextBox 5" id="5"/>
          <p:cNvSpPr txBox="true"/>
          <p:nvPr/>
        </p:nvSpPr>
        <p:spPr>
          <a:xfrm rot="0">
            <a:off x="4981898" y="269208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pic>
        <p:nvPicPr>
          <p:cNvPr name="Picture 6" id="6"/>
          <p:cNvPicPr>
            <a:picLocks noChangeAspect="true"/>
          </p:cNvPicPr>
          <p:nvPr/>
        </p:nvPicPr>
        <p:blipFill>
          <a:blip r:embed="rId3"/>
          <a:stretch>
            <a:fillRect/>
          </a:stretch>
        </p:blipFill>
        <p:spPr>
          <a:xfrm rot="0">
            <a:off x="1634350" y="4251065"/>
            <a:ext cx="2628900" cy="2628900"/>
          </a:xfrm>
          <a:prstGeom prst="rect">
            <a:avLst/>
          </a:prstGeom>
        </p:spPr>
      </p:pic>
      <p:pic>
        <p:nvPicPr>
          <p:cNvPr name="Picture 7" id="7"/>
          <p:cNvPicPr>
            <a:picLocks noChangeAspect="true"/>
          </p:cNvPicPr>
          <p:nvPr/>
        </p:nvPicPr>
        <p:blipFill>
          <a:blip r:embed="rId4"/>
          <a:stretch>
            <a:fillRect/>
          </a:stretch>
        </p:blipFill>
        <p:spPr>
          <a:xfrm rot="0">
            <a:off x="1634350" y="7635615"/>
            <a:ext cx="2628900" cy="1533525"/>
          </a:xfrm>
          <a:prstGeom prst="rect">
            <a:avLst/>
          </a:prstGeom>
        </p:spPr>
      </p:pic>
      <p:pic>
        <p:nvPicPr>
          <p:cNvPr name="Picture 8" id="8"/>
          <p:cNvPicPr>
            <a:picLocks noChangeAspect="true"/>
          </p:cNvPicPr>
          <p:nvPr/>
        </p:nvPicPr>
        <p:blipFill>
          <a:blip r:embed="rId5"/>
          <a:stretch>
            <a:fillRect/>
          </a:stretch>
        </p:blipFill>
        <p:spPr>
          <a:xfrm rot="0">
            <a:off x="11187954" y="4463976"/>
            <a:ext cx="5528993" cy="5255074"/>
          </a:xfrm>
          <a:prstGeom prst="rect">
            <a:avLst/>
          </a:prstGeom>
        </p:spPr>
      </p:pic>
      <p:sp>
        <p:nvSpPr>
          <p:cNvPr name="TextBox 9" id="9"/>
          <p:cNvSpPr txBox="true"/>
          <p:nvPr/>
        </p:nvSpPr>
        <p:spPr>
          <a:xfrm rot="0">
            <a:off x="4736325" y="4894226"/>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0" id="10"/>
          <p:cNvSpPr txBox="true"/>
          <p:nvPr/>
        </p:nvSpPr>
        <p:spPr>
          <a:xfrm rot="0">
            <a:off x="4736325" y="7807065"/>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DAG6UkK6dOM</dc:identifier>
  <dcterms:modified xsi:type="dcterms:W3CDTF">2011-08-01T06:04:30Z</dcterms:modified>
  <cp:revision>1</cp:revision>
  <dc:title>Blue &amp; white company profile presentation</dc:title>
</cp:coreProperties>
</file>