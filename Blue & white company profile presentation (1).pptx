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Spartan" charset="1" panose="00000800000000000000"/>
      <p:regular r:id="rId21"/>
    </p:embeddedFont>
    <p:embeddedFont>
      <p:font typeface="Poppins" charset="1" panose="00000500000000000000"/>
      <p:regular r:id="rId22"/>
    </p:embeddedFont>
    <p:embeddedFont>
      <p:font typeface="Poppins Bold" charset="1" panose="00000800000000000000"/>
      <p:regular r:id="rId23"/>
    </p:embeddedFont>
    <p:embeddedFont>
      <p:font typeface="Roboto" charset="1" panose="02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embeddings/oleObject1.bin" Type="http://schemas.openxmlformats.org/officeDocument/2006/relationships/oleObjec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embeddings/oleObject2.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1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928092" y="4673169"/>
            <a:ext cx="12431816" cy="845412"/>
          </a:xfrm>
          <a:prstGeom prst="rect">
            <a:avLst/>
          </a:prstGeom>
        </p:spPr>
        <p:txBody>
          <a:bodyPr anchor="t" rtlCol="false" tIns="0" lIns="0" bIns="0" rIns="0">
            <a:spAutoFit/>
          </a:bodyPr>
          <a:lstStyle/>
          <a:p>
            <a:pPr algn="ctr">
              <a:lnSpc>
                <a:spcPts val="6952"/>
              </a:lnSpc>
            </a:pPr>
            <a:r>
              <a:rPr lang="en-US" b="true" sz="4966">
                <a:solidFill>
                  <a:srgbClr val="000000"/>
                </a:solidFill>
                <a:latin typeface="League Spartan"/>
                <a:ea typeface="League Spartan"/>
                <a:cs typeface="League Spartan"/>
                <a:sym typeface="League Spartan"/>
              </a:rPr>
              <a:t>CXS( CREDITED EXTENSIBLE STREAM)</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880587" y="5800188"/>
            <a:ext cx="8526827"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Boddu Giresh</a:t>
            </a:r>
          </a:p>
          <a:p>
            <a:pPr algn="ctr">
              <a:lnSpc>
                <a:spcPts val="3107"/>
              </a:lnSpc>
              <a:spcBef>
                <a:spcPct val="0"/>
              </a:spcBef>
            </a:pPr>
            <a:r>
              <a:rPr lang="en-US" sz="2219">
                <a:solidFill>
                  <a:srgbClr val="303642"/>
                </a:solidFill>
                <a:latin typeface="Poppins"/>
                <a:ea typeface="Poppins"/>
                <a:cs typeface="Poppins"/>
                <a:sym typeface="Poppins"/>
              </a:rPr>
              <a:t>CHIPWEAVE TECHNOLOGIES PVT LTD</a:t>
            </a:r>
          </a:p>
        </p:txBody>
      </p:sp>
      <p:grpSp>
        <p:nvGrpSpPr>
          <p:cNvPr name="Group 8" id="8"/>
          <p:cNvGrpSpPr/>
          <p:nvPr/>
        </p:nvGrpSpPr>
        <p:grpSpPr>
          <a:xfrm rot="0">
            <a:off x="16467343" y="4057750"/>
            <a:ext cx="3086100" cy="2171499"/>
            <a:chOff x="0" y="0"/>
            <a:chExt cx="812800" cy="571917"/>
          </a:xfrm>
        </p:grpSpPr>
        <p:sp>
          <p:nvSpPr>
            <p:cNvPr name="Freeform 9" id="9"/>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0" id="10"/>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446818" y="8630505"/>
            <a:ext cx="897167" cy="2183545"/>
            <a:chOff x="0" y="0"/>
            <a:chExt cx="236291" cy="575090"/>
          </a:xfrm>
        </p:grpSpPr>
        <p:sp>
          <p:nvSpPr>
            <p:cNvPr name="Freeform 4" id="4"/>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5" id="5"/>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750617"/>
            <a:ext cx="16000084" cy="738290"/>
          </a:xfrm>
          <a:prstGeom prst="rect">
            <a:avLst/>
          </a:prstGeom>
        </p:spPr>
        <p:txBody>
          <a:bodyPr anchor="t" rtlCol="false" tIns="0" lIns="0" bIns="0" rIns="0">
            <a:spAutoFit/>
          </a:bodyPr>
          <a:lstStyle/>
          <a:p>
            <a:pPr algn="l">
              <a:lnSpc>
                <a:spcPts val="6031"/>
              </a:lnSpc>
            </a:pPr>
            <a:r>
              <a:rPr lang="en-US" sz="4308">
                <a:solidFill>
                  <a:srgbClr val="303642"/>
                </a:solidFill>
                <a:latin typeface="League Spartan"/>
                <a:ea typeface="League Spartan"/>
                <a:cs typeface="League Spartan"/>
                <a:sym typeface="League Spartan"/>
              </a:rPr>
              <a:t>ABOUT THE CXS STREAMING INTERFACE PROTOCOL</a:t>
            </a:r>
          </a:p>
        </p:txBody>
      </p:sp>
      <p:sp>
        <p:nvSpPr>
          <p:cNvPr name="TextBox 7" id="7"/>
          <p:cNvSpPr txBox="true"/>
          <p:nvPr/>
        </p:nvSpPr>
        <p:spPr>
          <a:xfrm rot="0">
            <a:off x="1028700" y="2287889"/>
            <a:ext cx="15475233" cy="1489050"/>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303642"/>
                </a:solidFill>
                <a:latin typeface="Poppins"/>
                <a:ea typeface="Poppins"/>
                <a:cs typeface="Poppins"/>
                <a:sym typeface="Poppins"/>
              </a:rPr>
              <a:t>CXS is a high-speed, l</a:t>
            </a:r>
            <a:r>
              <a:rPr lang="en-US" sz="2125">
                <a:solidFill>
                  <a:srgbClr val="303642"/>
                </a:solidFill>
                <a:latin typeface="Poppins"/>
                <a:ea typeface="Poppins"/>
                <a:cs typeface="Poppins"/>
                <a:sym typeface="Poppins"/>
              </a:rPr>
              <a:t>ow-latency, streaming interface protocol mainly used for die-to-die communication, NoC connectivity, and chiplet architectures. It is designed to move large amounts of data efficiently between blocks, IPs, or chiplets, similar in nature to AMBA CHI streaming, AXI-Stream, or PIPE interfaces.</a:t>
            </a:r>
          </a:p>
          <a:p>
            <a:pPr algn="l">
              <a:lnSpc>
                <a:spcPts val="2976"/>
              </a:lnSpc>
            </a:pPr>
          </a:p>
        </p:txBody>
      </p:sp>
      <p:sp>
        <p:nvSpPr>
          <p:cNvPr name="TextBox 8" id="8"/>
          <p:cNvSpPr txBox="true"/>
          <p:nvPr/>
        </p:nvSpPr>
        <p:spPr>
          <a:xfrm rot="0">
            <a:off x="709411" y="5426930"/>
            <a:ext cx="9541073" cy="2603475"/>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303642"/>
                </a:solidFill>
                <a:latin typeface="Poppins"/>
                <a:ea typeface="Poppins"/>
                <a:cs typeface="Poppins"/>
                <a:sym typeface="Poppins"/>
              </a:rPr>
              <a:t>High bandwidth</a:t>
            </a:r>
            <a:r>
              <a:rPr lang="en-US" sz="2125">
                <a:solidFill>
                  <a:srgbClr val="303642"/>
                </a:solidFill>
                <a:latin typeface="Poppins"/>
                <a:ea typeface="Poppins"/>
                <a:cs typeface="Poppins"/>
                <a:sym typeface="Poppins"/>
              </a:rPr>
              <a:t> with scalable data width (32 to 1024 bits)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Low latency, minimal overhead</a:t>
            </a:r>
          </a:p>
          <a:p>
            <a:pPr algn="l" marL="458997" indent="-229499" lvl="1">
              <a:lnSpc>
                <a:spcPts val="2976"/>
              </a:lnSpc>
              <a:buFont typeface="Arial"/>
              <a:buChar char="•"/>
            </a:pPr>
            <a:r>
              <a:rPr lang="en-US" sz="2125">
                <a:solidFill>
                  <a:srgbClr val="303642"/>
                </a:solidFill>
                <a:latin typeface="Poppins"/>
                <a:ea typeface="Poppins"/>
                <a:cs typeface="Poppins"/>
                <a:sym typeface="Poppins"/>
              </a:rPr>
              <a:t>Supports packetized and raw streaming data</a:t>
            </a:r>
          </a:p>
          <a:p>
            <a:pPr algn="l" marL="458997" indent="-229499" lvl="1">
              <a:lnSpc>
                <a:spcPts val="2976"/>
              </a:lnSpc>
              <a:buFont typeface="Arial"/>
              <a:buChar char="•"/>
            </a:pPr>
            <a:r>
              <a:rPr lang="en-US" sz="2125">
                <a:solidFill>
                  <a:srgbClr val="303642"/>
                </a:solidFill>
                <a:latin typeface="Poppins"/>
                <a:ea typeface="Poppins"/>
                <a:cs typeface="Poppins"/>
                <a:sym typeface="Poppins"/>
              </a:rPr>
              <a:t>Supports flow control, backpressure, credits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Designed for multi-die / chiplet interconnects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Works with high-speed PHY (like BoW, UCIe, proprietary interfaces)</a:t>
            </a:r>
          </a:p>
          <a:p>
            <a:pPr algn="l">
              <a:lnSpc>
                <a:spcPts val="2976"/>
              </a:lnSpc>
              <a:spcBef>
                <a:spcPct val="0"/>
              </a:spcBef>
            </a:pPr>
          </a:p>
        </p:txBody>
      </p:sp>
      <p:sp>
        <p:nvSpPr>
          <p:cNvPr name="TextBox 9" id="9"/>
          <p:cNvSpPr txBox="true"/>
          <p:nvPr/>
        </p:nvSpPr>
        <p:spPr>
          <a:xfrm rot="0">
            <a:off x="709411" y="4009615"/>
            <a:ext cx="16000084" cy="738290"/>
          </a:xfrm>
          <a:prstGeom prst="rect">
            <a:avLst/>
          </a:prstGeom>
        </p:spPr>
        <p:txBody>
          <a:bodyPr anchor="t" rtlCol="false" tIns="0" lIns="0" bIns="0" rIns="0">
            <a:spAutoFit/>
          </a:bodyPr>
          <a:lstStyle/>
          <a:p>
            <a:pPr algn="l">
              <a:lnSpc>
                <a:spcPts val="6031"/>
              </a:lnSpc>
            </a:pPr>
            <a:r>
              <a:rPr lang="en-US" sz="4308">
                <a:solidFill>
                  <a:srgbClr val="303642"/>
                </a:solidFill>
                <a:latin typeface="League Spartan"/>
                <a:ea typeface="League Spartan"/>
                <a:cs typeface="League Spartan"/>
                <a:sym typeface="League Spartan"/>
              </a:rPr>
              <a:t>MAIN GOALS OF CXS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970541" y="2006345"/>
            <a:ext cx="1601933" cy="6466659"/>
            <a:chOff x="0" y="0"/>
            <a:chExt cx="421908" cy="1703153"/>
          </a:xfrm>
        </p:grpSpPr>
        <p:sp>
          <p:nvSpPr>
            <p:cNvPr name="Freeform 4" id="4"/>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5" id="5"/>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graphicFrame>
        <p:nvGraphicFramePr>
          <p:cNvPr name="Object 6" id="6"/>
          <p:cNvGraphicFramePr/>
          <p:nvPr/>
        </p:nvGraphicFramePr>
        <p:xfrm>
          <a:off x="1229516" y="1886599"/>
          <a:ext cx="9429750" cy="8172450"/>
        </p:xfrm>
        <a:graphic>
          <a:graphicData uri="http://schemas.openxmlformats.org/presentationml/2006/ole">
            <p:oleObj imgW="11315700" imgH="10058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1023322" y="1091794"/>
            <a:ext cx="14139846" cy="794805"/>
          </a:xfrm>
          <a:prstGeom prst="rect">
            <a:avLst/>
          </a:prstGeom>
        </p:spPr>
        <p:txBody>
          <a:bodyPr anchor="t" rtlCol="false" tIns="0" lIns="0" bIns="0" rIns="0">
            <a:spAutoFit/>
          </a:bodyPr>
          <a:lstStyle/>
          <a:p>
            <a:pPr algn="r">
              <a:lnSpc>
                <a:spcPts val="6591"/>
              </a:lnSpc>
            </a:pPr>
            <a:r>
              <a:rPr lang="en-US" b="true" sz="4708">
                <a:solidFill>
                  <a:srgbClr val="303642"/>
                </a:solidFill>
                <a:latin typeface="League Spartan"/>
                <a:ea typeface="League Spartan"/>
                <a:cs typeface="League Spartan"/>
                <a:sym typeface="League Spartan"/>
              </a:rPr>
              <a:t>MANDATORY AND OPTION</a:t>
            </a:r>
            <a:r>
              <a:rPr lang="en-US" b="true" sz="4708">
                <a:solidFill>
                  <a:srgbClr val="303642"/>
                </a:solidFill>
                <a:latin typeface="League Spartan"/>
                <a:ea typeface="League Spartan"/>
                <a:cs typeface="League Spartan"/>
                <a:sym typeface="League Spartan"/>
              </a:rPr>
              <a:t>AL CXS SIGNALS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67864" y="737728"/>
            <a:ext cx="15127457" cy="960831"/>
          </a:xfrm>
          <a:prstGeom prst="rect">
            <a:avLst/>
          </a:prstGeom>
        </p:spPr>
        <p:txBody>
          <a:bodyPr anchor="t" rtlCol="false" tIns="0" lIns="0" bIns="0" rIns="0">
            <a:spAutoFit/>
          </a:bodyPr>
          <a:lstStyle/>
          <a:p>
            <a:pPr algn="ctr">
              <a:lnSpc>
                <a:spcPts val="7940"/>
              </a:lnSpc>
            </a:pPr>
            <a:r>
              <a:rPr lang="en-US" sz="5672">
                <a:solidFill>
                  <a:srgbClr val="000000"/>
                </a:solidFill>
                <a:latin typeface="League Spartan"/>
                <a:ea typeface="League Spartan"/>
                <a:cs typeface="League Spartan"/>
                <a:sym typeface="League Spartan"/>
              </a:rPr>
              <a:t>CXS PACKETS</a:t>
            </a:r>
          </a:p>
        </p:txBody>
      </p:sp>
      <p:sp>
        <p:nvSpPr>
          <p:cNvPr name="TextBox 4" id="4"/>
          <p:cNvSpPr txBox="true"/>
          <p:nvPr/>
        </p:nvSpPr>
        <p:spPr>
          <a:xfrm rot="0">
            <a:off x="1209155" y="1870139"/>
            <a:ext cx="16789209" cy="1181868"/>
          </a:xfrm>
          <a:prstGeom prst="rect">
            <a:avLst/>
          </a:prstGeom>
        </p:spPr>
        <p:txBody>
          <a:bodyPr anchor="t" rtlCol="false" tIns="0" lIns="0" bIns="0" rIns="0">
            <a:spAutoFit/>
          </a:bodyPr>
          <a:lstStyle/>
          <a:p>
            <a:pPr algn="l" marL="479248" indent="-239624" lvl="1">
              <a:lnSpc>
                <a:spcPts val="3107"/>
              </a:lnSpc>
              <a:buFont typeface="Arial"/>
              <a:buChar char="•"/>
            </a:pPr>
            <a:r>
              <a:rPr lang="en-US" sz="2219">
                <a:solidFill>
                  <a:srgbClr val="303642"/>
                </a:solidFill>
                <a:latin typeface="Poppins"/>
                <a:ea typeface="Poppins"/>
                <a:cs typeface="Poppins"/>
                <a:sym typeface="Poppins"/>
              </a:rPr>
              <a:t>The data that is transmitted on the CXS interface is organized into packets. When the property CXSMAXPKTPERFLIT is greater than 1, there can be multiple packets per flit. This chapter describes how multiple packets are packed into a CXS flit. In CCIX or PCIe terminology, this is a Transaction Layer Packet (TLP).</a:t>
            </a:r>
          </a:p>
        </p:txBody>
      </p:sp>
      <p:sp>
        <p:nvSpPr>
          <p:cNvPr name="TextBox 5" id="5"/>
          <p:cNvSpPr txBox="true"/>
          <p:nvPr/>
        </p:nvSpPr>
        <p:spPr>
          <a:xfrm rot="0">
            <a:off x="613879" y="3961632"/>
            <a:ext cx="16789209" cy="1181868"/>
          </a:xfrm>
          <a:prstGeom prst="rect">
            <a:avLst/>
          </a:prstGeom>
        </p:spPr>
        <p:txBody>
          <a:bodyPr anchor="t" rtlCol="false" tIns="0" lIns="0" bIns="0" rIns="0">
            <a:spAutoFit/>
          </a:bodyPr>
          <a:lstStyle/>
          <a:p>
            <a:pPr algn="l">
              <a:lnSpc>
                <a:spcPts val="3107"/>
              </a:lnSpc>
            </a:pPr>
            <a:r>
              <a:rPr lang="en-US" sz="2219" b="true">
                <a:solidFill>
                  <a:srgbClr val="303642"/>
                </a:solidFill>
                <a:latin typeface="Poppins Bold"/>
                <a:ea typeface="Poppins Bold"/>
                <a:cs typeface="Poppins Bold"/>
                <a:sym typeface="Poppins Bold"/>
              </a:rPr>
              <a:t>The CXS packets are described in the following sections</a:t>
            </a:r>
          </a:p>
          <a:p>
            <a:pPr algn="l">
              <a:lnSpc>
                <a:spcPts val="3107"/>
              </a:lnSpc>
            </a:pPr>
          </a:p>
          <a:p>
            <a:pPr algn="l">
              <a:lnSpc>
                <a:spcPts val="3107"/>
              </a:lnSpc>
            </a:pPr>
          </a:p>
        </p:txBody>
      </p:sp>
      <p:sp>
        <p:nvSpPr>
          <p:cNvPr name="TextBox 6" id="6"/>
          <p:cNvSpPr txBox="true"/>
          <p:nvPr/>
        </p:nvSpPr>
        <p:spPr>
          <a:xfrm rot="0">
            <a:off x="749395" y="4519229"/>
            <a:ext cx="16789209" cy="1572393"/>
          </a:xfrm>
          <a:prstGeom prst="rect">
            <a:avLst/>
          </a:prstGeom>
        </p:spPr>
        <p:txBody>
          <a:bodyPr anchor="t" rtlCol="false" tIns="0" lIns="0" bIns="0" rIns="0">
            <a:spAutoFit/>
          </a:bodyPr>
          <a:lstStyle/>
          <a:p>
            <a:pPr algn="l" marL="479248" indent="-239624" lvl="1">
              <a:lnSpc>
                <a:spcPts val="3107"/>
              </a:lnSpc>
              <a:buFont typeface="Arial"/>
              <a:buChar char="•"/>
            </a:pPr>
            <a:r>
              <a:rPr lang="en-US" sz="2219">
                <a:solidFill>
                  <a:srgbClr val="303642"/>
                </a:solidFill>
                <a:latin typeface="Poppins"/>
                <a:ea typeface="Poppins"/>
                <a:cs typeface="Poppins"/>
                <a:sym typeface="Poppins"/>
              </a:rPr>
              <a:t>Packet Position Constraints</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Control Signal</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Size Constraints</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Examples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768267" y="596089"/>
            <a:ext cx="12428427"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 P</a:t>
            </a:r>
            <a:r>
              <a:rPr lang="en-US" b="true" sz="5308">
                <a:solidFill>
                  <a:srgbClr val="000000"/>
                </a:solidFill>
                <a:latin typeface="League Spartan"/>
                <a:ea typeface="League Spartan"/>
                <a:cs typeface="League Spartan"/>
                <a:sym typeface="League Spartan"/>
              </a:rPr>
              <a:t>ACKET POSITION CONSTRAINTS</a:t>
            </a:r>
          </a:p>
        </p:txBody>
      </p:sp>
      <p:sp>
        <p:nvSpPr>
          <p:cNvPr name="TextBox 4" id="4"/>
          <p:cNvSpPr txBox="true"/>
          <p:nvPr/>
        </p:nvSpPr>
        <p:spPr>
          <a:xfrm rot="0">
            <a:off x="1158917" y="1755134"/>
            <a:ext cx="14042849" cy="148905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CXSMAXPKTPERFLIT specifies the maximum number of packets that can have bytes in a flit. There can be up to CXSMAXPKTPERFLIT new packets starting in a flit, and up to CXSMAXPKTPERFLIT packets ending in a flit. This defines the maximum packets per flit, including any packet started in previous flits and any packet started in this flit which will be completed in subsequent flits.</a:t>
            </a:r>
          </a:p>
        </p:txBody>
      </p:sp>
      <p:sp>
        <p:nvSpPr>
          <p:cNvPr name="TextBox 5" id="5"/>
          <p:cNvSpPr txBox="true"/>
          <p:nvPr/>
        </p:nvSpPr>
        <p:spPr>
          <a:xfrm rot="0">
            <a:off x="1158917" y="5168925"/>
            <a:ext cx="14042849" cy="4089375"/>
          </a:xfrm>
          <a:prstGeom prst="rect">
            <a:avLst/>
          </a:prstGeom>
        </p:spPr>
        <p:txBody>
          <a:bodyPr anchor="t" rtlCol="false" tIns="0" lIns="0" bIns="0" rIns="0">
            <a:spAutoFit/>
          </a:bodyPr>
          <a:lstStyle/>
          <a:p>
            <a:pPr algn="l">
              <a:lnSpc>
                <a:spcPts val="2976"/>
              </a:lnSpc>
            </a:pPr>
            <a:r>
              <a:rPr lang="en-US" sz="2125" b="true">
                <a:solidFill>
                  <a:srgbClr val="000000"/>
                </a:solidFill>
                <a:latin typeface="Poppins Bold"/>
                <a:ea typeface="Poppins Bold"/>
                <a:cs typeface="Poppins Bold"/>
                <a:sym typeface="Poppins Bold"/>
              </a:rPr>
              <a:t> When CXSMAXPKTPERFLIT is greater than 1: </a:t>
            </a:r>
          </a:p>
          <a:p>
            <a:pPr algn="l">
              <a:lnSpc>
                <a:spcPts val="2976"/>
              </a:lnSpc>
            </a:pPr>
            <a:r>
              <a:rPr lang="en-US" sz="2125">
                <a:solidFill>
                  <a:srgbClr val="000000"/>
                </a:solidFill>
                <a:latin typeface="Poppins"/>
                <a:ea typeface="Poppins"/>
                <a:cs typeface="Poppins"/>
                <a:sym typeface="Poppins"/>
              </a:rPr>
              <a:t>• The first byte of a packet must be placed on an aligned 16-byte boundary.</a:t>
            </a:r>
          </a:p>
          <a:p>
            <a:pPr algn="l">
              <a:lnSpc>
                <a:spcPts val="2976"/>
              </a:lnSpc>
            </a:pPr>
            <a:r>
              <a:rPr lang="en-US" sz="2125">
                <a:solidFill>
                  <a:srgbClr val="000000"/>
                </a:solidFill>
                <a:latin typeface="Poppins"/>
                <a:ea typeface="Poppins"/>
                <a:cs typeface="Poppins"/>
                <a:sym typeface="Poppins"/>
              </a:rPr>
              <a:t>• Subsequent bytes of the packet occupy subsequent bytes of the flit. </a:t>
            </a:r>
          </a:p>
          <a:p>
            <a:pPr algn="l">
              <a:lnSpc>
                <a:spcPts val="2976"/>
              </a:lnSpc>
            </a:pPr>
            <a:r>
              <a:rPr lang="en-US" sz="2125">
                <a:solidFill>
                  <a:srgbClr val="000000"/>
                </a:solidFill>
                <a:latin typeface="Poppins"/>
                <a:ea typeface="Poppins"/>
                <a:cs typeface="Poppins"/>
                <a:sym typeface="Poppins"/>
              </a:rPr>
              <a:t>• Packets can end on any four-byte aligned boundary.</a:t>
            </a:r>
          </a:p>
          <a:p>
            <a:pPr algn="l">
              <a:lnSpc>
                <a:spcPts val="2976"/>
              </a:lnSpc>
            </a:pPr>
            <a:r>
              <a:rPr lang="en-US" sz="2125">
                <a:solidFill>
                  <a:srgbClr val="000000"/>
                </a:solidFill>
                <a:latin typeface="Poppins"/>
                <a:ea typeface="Poppins"/>
                <a:cs typeface="Poppins"/>
                <a:sym typeface="Poppins"/>
              </a:rPr>
              <a:t>• The packet that starts at a byte position will occupy every subsequent byte in that flit until the packet  ends or the flit ends. </a:t>
            </a:r>
          </a:p>
          <a:p>
            <a:pPr algn="l">
              <a:lnSpc>
                <a:spcPts val="2976"/>
              </a:lnSpc>
            </a:pPr>
            <a:r>
              <a:rPr lang="en-US" sz="2125">
                <a:solidFill>
                  <a:srgbClr val="000000"/>
                </a:solidFill>
                <a:latin typeface="Poppins"/>
                <a:ea typeface="Poppins"/>
                <a:cs typeface="Poppins"/>
                <a:sym typeface="Poppins"/>
              </a:rPr>
              <a:t>• If there are remaining bytes in the packet when the flit ends, that packet will start at byte[0] of the next            flit and occupy every subsequent byte position until the packet ends or the flit ends.</a:t>
            </a:r>
          </a:p>
          <a:p>
            <a:pPr algn="l">
              <a:lnSpc>
                <a:spcPts val="2976"/>
              </a:lnSpc>
            </a:pPr>
            <a:r>
              <a:rPr lang="en-US" sz="2125">
                <a:solidFill>
                  <a:srgbClr val="000000"/>
                </a:solidFill>
                <a:latin typeface="Poppins"/>
                <a:ea typeface="Poppins"/>
                <a:cs typeface="Poppins"/>
                <a:sym typeface="Poppins"/>
              </a:rPr>
              <a:t>• When a packet ends within a flit, the remaining bytes in the flit can be unused. </a:t>
            </a:r>
          </a:p>
          <a:p>
            <a:pPr algn="l">
              <a:lnSpc>
                <a:spcPts val="2976"/>
              </a:lnSpc>
              <a:spcBef>
                <a:spcPct val="0"/>
              </a:spcBef>
            </a:pPr>
            <a:r>
              <a:rPr lang="en-US" sz="2125">
                <a:solidFill>
                  <a:srgbClr val="000000"/>
                </a:solidFill>
                <a:latin typeface="Poppins"/>
                <a:ea typeface="Poppins"/>
                <a:cs typeface="Poppins"/>
                <a:sym typeface="Poppins"/>
              </a:rPr>
              <a:t>• Any packet in a flit must begin at the first available 16-byte boundary relative to the start of the flit or the ending of a previous packet</a:t>
            </a:r>
          </a:p>
        </p:txBody>
      </p:sp>
      <p:sp>
        <p:nvSpPr>
          <p:cNvPr name="TextBox 6" id="6"/>
          <p:cNvSpPr txBox="true"/>
          <p:nvPr/>
        </p:nvSpPr>
        <p:spPr>
          <a:xfrm rot="0">
            <a:off x="1028700" y="3177510"/>
            <a:ext cx="14439787" cy="1535149"/>
          </a:xfrm>
          <a:prstGeom prst="rect">
            <a:avLst/>
          </a:prstGeom>
        </p:spPr>
        <p:txBody>
          <a:bodyPr anchor="t" rtlCol="false" tIns="0" lIns="0" bIns="0" rIns="0">
            <a:spAutoFit/>
          </a:bodyPr>
          <a:lstStyle/>
          <a:p>
            <a:pPr algn="l">
              <a:lnSpc>
                <a:spcPts val="3060"/>
              </a:lnSpc>
            </a:pPr>
            <a:r>
              <a:rPr lang="en-US" sz="2186" b="true">
                <a:solidFill>
                  <a:srgbClr val="000000"/>
                </a:solidFill>
                <a:latin typeface="Poppins Bold"/>
                <a:ea typeface="Poppins Bold"/>
                <a:cs typeface="Poppins Bold"/>
                <a:sym typeface="Poppins Bold"/>
              </a:rPr>
              <a:t> When CXSMAXPKTPERFLIT is 1: </a:t>
            </a:r>
          </a:p>
          <a:p>
            <a:pPr algn="l">
              <a:lnSpc>
                <a:spcPts val="3060"/>
              </a:lnSpc>
            </a:pPr>
            <a:r>
              <a:rPr lang="en-US" sz="2186">
                <a:solidFill>
                  <a:srgbClr val="000000"/>
                </a:solidFill>
                <a:latin typeface="Poppins"/>
                <a:ea typeface="Poppins"/>
                <a:cs typeface="Poppins"/>
                <a:sym typeface="Poppins"/>
              </a:rPr>
              <a:t>• Packets start on the first byte of CXSDATA.</a:t>
            </a:r>
          </a:p>
          <a:p>
            <a:pPr algn="l">
              <a:lnSpc>
                <a:spcPts val="3060"/>
              </a:lnSpc>
            </a:pPr>
            <a:r>
              <a:rPr lang="en-US" sz="2186">
                <a:solidFill>
                  <a:srgbClr val="000000"/>
                </a:solidFill>
                <a:latin typeface="Poppins"/>
                <a:ea typeface="Poppins"/>
                <a:cs typeface="Poppins"/>
                <a:sym typeface="Poppins"/>
              </a:rPr>
              <a:t> • Packets end on the last byte of CXSDATA. </a:t>
            </a:r>
          </a:p>
          <a:p>
            <a:pPr algn="l">
              <a:lnSpc>
                <a:spcPts val="3060"/>
              </a:lnSpc>
              <a:spcBef>
                <a:spcPct val="0"/>
              </a:spcBef>
            </a:pPr>
            <a:r>
              <a:rPr lang="en-US" sz="2186">
                <a:solidFill>
                  <a:srgbClr val="000000"/>
                </a:solidFill>
                <a:latin typeface="Poppins"/>
                <a:ea typeface="Poppins"/>
                <a:cs typeface="Poppins"/>
                <a:sym typeface="Poppins"/>
              </a:rPr>
              <a:t>• Packets do not span across multiple flits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7577" y="397620"/>
            <a:ext cx="14846736"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PACKE</a:t>
            </a:r>
            <a:r>
              <a:rPr lang="en-US" sz="5308">
                <a:solidFill>
                  <a:srgbClr val="000000"/>
                </a:solidFill>
                <a:latin typeface="League Spartan"/>
                <a:ea typeface="League Spartan"/>
                <a:cs typeface="League Spartan"/>
                <a:sym typeface="League Spartan"/>
              </a:rPr>
              <a:t>T CONTROL SIGNAL</a:t>
            </a:r>
          </a:p>
        </p:txBody>
      </p:sp>
      <p:sp>
        <p:nvSpPr>
          <p:cNvPr name="TextBox 4" id="4"/>
          <p:cNvSpPr txBox="true"/>
          <p:nvPr/>
        </p:nvSpPr>
        <p:spPr>
          <a:xfrm rot="0">
            <a:off x="672203" y="1420291"/>
            <a:ext cx="11624540"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The control fields of a CXS packet are signaled using CXSCNTL. This section describes the fields and positioning within the CXSCNTL signal</a:t>
            </a:r>
          </a:p>
        </p:txBody>
      </p:sp>
      <p:sp>
        <p:nvSpPr>
          <p:cNvPr name="TextBox 5" id="5"/>
          <p:cNvSpPr txBox="true"/>
          <p:nvPr/>
        </p:nvSpPr>
        <p:spPr>
          <a:xfrm rot="0">
            <a:off x="672203" y="3544408"/>
            <a:ext cx="12554659"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The CXSCNTL signal contains five fields. The widths of each field, and therefore the bit position of each field, vary with the properties of the interface</a:t>
            </a:r>
          </a:p>
        </p:txBody>
      </p:sp>
      <p:sp>
        <p:nvSpPr>
          <p:cNvPr name="TextBox 6" id="6"/>
          <p:cNvSpPr txBox="true"/>
          <p:nvPr/>
        </p:nvSpPr>
        <p:spPr>
          <a:xfrm rot="0">
            <a:off x="672203" y="2736674"/>
            <a:ext cx="14846736" cy="455079"/>
          </a:xfrm>
          <a:prstGeom prst="rect">
            <a:avLst/>
          </a:prstGeom>
        </p:spPr>
        <p:txBody>
          <a:bodyPr anchor="t" rtlCol="false" tIns="0" lIns="0" bIns="0" rIns="0">
            <a:spAutoFit/>
          </a:bodyPr>
          <a:lstStyle/>
          <a:p>
            <a:pPr algn="l">
              <a:lnSpc>
                <a:spcPts val="3791"/>
              </a:lnSpc>
            </a:pPr>
            <a:r>
              <a:rPr lang="en-US" sz="2708">
                <a:solidFill>
                  <a:srgbClr val="000000"/>
                </a:solidFill>
                <a:latin typeface="League Spartan"/>
                <a:ea typeface="League Spartan"/>
                <a:cs typeface="League Spartan"/>
                <a:sym typeface="League Spartan"/>
              </a:rPr>
              <a:t> PACKE</a:t>
            </a:r>
            <a:r>
              <a:rPr lang="en-US" sz="2708">
                <a:solidFill>
                  <a:srgbClr val="000000"/>
                </a:solidFill>
                <a:latin typeface="League Spartan"/>
                <a:ea typeface="League Spartan"/>
                <a:cs typeface="League Spartan"/>
                <a:sym typeface="League Spartan"/>
              </a:rPr>
              <a:t>T CONTROL FIELDS </a:t>
            </a:r>
          </a:p>
        </p:txBody>
      </p:sp>
      <p:sp>
        <p:nvSpPr>
          <p:cNvPr name="TextBox 7" id="7"/>
          <p:cNvSpPr txBox="true"/>
          <p:nvPr/>
        </p:nvSpPr>
        <p:spPr>
          <a:xfrm rot="0">
            <a:off x="672203" y="4833433"/>
            <a:ext cx="12554659" cy="3808070"/>
          </a:xfrm>
          <a:prstGeom prst="rect">
            <a:avLst/>
          </a:prstGeom>
        </p:spPr>
        <p:txBody>
          <a:bodyPr anchor="t" rtlCol="false" tIns="0" lIns="0" bIns="0" rIns="0">
            <a:spAutoFit/>
          </a:bodyPr>
          <a:lstStyle/>
          <a:p>
            <a:pPr algn="l">
              <a:lnSpc>
                <a:spcPts val="3536"/>
              </a:lnSpc>
            </a:pPr>
            <a:r>
              <a:rPr lang="en-US" sz="2525" b="true">
                <a:solidFill>
                  <a:srgbClr val="000000"/>
                </a:solidFill>
                <a:latin typeface="Poppins Bold"/>
                <a:ea typeface="Poppins Bold"/>
                <a:cs typeface="Poppins Bold"/>
                <a:sym typeface="Poppins Bold"/>
              </a:rPr>
              <a:t>1.START Field</a:t>
            </a:r>
          </a:p>
          <a:p>
            <a:pPr algn="l" marL="458997" indent="-229499" lvl="1">
              <a:lnSpc>
                <a:spcPts val="2976"/>
              </a:lnSpc>
              <a:buFont typeface="Arial"/>
              <a:buChar char="•"/>
            </a:pPr>
            <a:r>
              <a:rPr lang="en-US" sz="2125">
                <a:solidFill>
                  <a:srgbClr val="000000"/>
                </a:solidFill>
                <a:latin typeface="Poppins"/>
                <a:ea typeface="Poppins"/>
                <a:cs typeface="Poppins"/>
                <a:sym typeface="Poppins"/>
              </a:rPr>
              <a:t>Indicates how many packets start in the current flit.</a:t>
            </a:r>
          </a:p>
          <a:p>
            <a:pPr algn="l" marL="458997" indent="-229499" lvl="1">
              <a:lnSpc>
                <a:spcPts val="2976"/>
              </a:lnSpc>
              <a:buFont typeface="Arial"/>
              <a:buChar char="•"/>
            </a:pPr>
            <a:r>
              <a:rPr lang="en-US" sz="2125">
                <a:solidFill>
                  <a:srgbClr val="000000"/>
                </a:solidFill>
                <a:latin typeface="Poppins"/>
                <a:ea typeface="Poppins"/>
                <a:cs typeface="Poppins"/>
                <a:sym typeface="Poppins"/>
              </a:rPr>
              <a:t>Width = CXSMAXPKTPERFLIT.</a:t>
            </a:r>
          </a:p>
          <a:p>
            <a:pPr algn="l" marL="458997" indent="-229499" lvl="1">
              <a:lnSpc>
                <a:spcPts val="2976"/>
              </a:lnSpc>
              <a:buFont typeface="Arial"/>
              <a:buChar char="•"/>
            </a:pPr>
            <a:r>
              <a:rPr lang="en-US" sz="2125">
                <a:solidFill>
                  <a:srgbClr val="000000"/>
                </a:solidFill>
                <a:latin typeface="Poppins"/>
                <a:ea typeface="Poppins"/>
                <a:cs typeface="Poppins"/>
                <a:sym typeface="Poppins"/>
              </a:rPr>
              <a:t>Rule: If START[N] = 1, then all lower bits START[N-1:0] must be 1.</a:t>
            </a:r>
          </a:p>
          <a:p>
            <a:pPr algn="l" marL="458997" indent="-229499" lvl="1">
              <a:lnSpc>
                <a:spcPts val="2976"/>
              </a:lnSpc>
              <a:buFont typeface="Arial"/>
              <a:buChar char="•"/>
            </a:pPr>
            <a:r>
              <a:rPr lang="en-US" sz="2125">
                <a:solidFill>
                  <a:srgbClr val="000000"/>
                </a:solidFill>
                <a:latin typeface="Poppins"/>
                <a:ea typeface="Poppins"/>
                <a:cs typeface="Poppins"/>
                <a:sym typeface="Poppins"/>
              </a:rPr>
              <a:t>Example (CXSMAXPKTPERFLIT = 4):</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START[0] = 1 → at least 1 packet starts</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START[1] = 1 → at least 2 packets start</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START[2] = 1 → at least 3 packets start</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START[3] = 1 → at least 4 packets start</a:t>
            </a:r>
          </a:p>
          <a:p>
            <a:pPr algn="l">
              <a:lnSpc>
                <a:spcPts val="297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19448" y="4653012"/>
            <a:ext cx="12554659" cy="4854550"/>
          </a:xfrm>
          <a:prstGeom prst="rect">
            <a:avLst/>
          </a:prstGeom>
        </p:spPr>
        <p:txBody>
          <a:bodyPr anchor="t" rtlCol="false" tIns="0" lIns="0" bIns="0" rIns="0">
            <a:spAutoFit/>
          </a:bodyPr>
          <a:lstStyle/>
          <a:p>
            <a:pPr algn="l">
              <a:lnSpc>
                <a:spcPts val="3676"/>
              </a:lnSpc>
            </a:pPr>
            <a:r>
              <a:rPr lang="en-US" sz="2625" b="true">
                <a:solidFill>
                  <a:srgbClr val="000000"/>
                </a:solidFill>
                <a:latin typeface="Poppins Bold"/>
                <a:ea typeface="Poppins Bold"/>
                <a:cs typeface="Poppins Bold"/>
                <a:sym typeface="Poppins Bold"/>
              </a:rPr>
              <a:t>3.END Field</a:t>
            </a:r>
          </a:p>
          <a:p>
            <a:pPr algn="l" marL="545355" indent="-272678" lvl="1">
              <a:lnSpc>
                <a:spcPts val="3536"/>
              </a:lnSpc>
              <a:buFont typeface="Arial"/>
              <a:buChar char="•"/>
            </a:pPr>
            <a:r>
              <a:rPr lang="en-US" sz="2525">
                <a:solidFill>
                  <a:srgbClr val="000000"/>
                </a:solidFill>
                <a:latin typeface="Poppins"/>
                <a:ea typeface="Poppins"/>
                <a:cs typeface="Poppins"/>
                <a:sym typeface="Poppins"/>
              </a:rPr>
              <a:t>Indicates how many packets end in this flit.</a:t>
            </a:r>
          </a:p>
          <a:p>
            <a:pPr algn="l" marL="545355" indent="-272678" lvl="1">
              <a:lnSpc>
                <a:spcPts val="3536"/>
              </a:lnSpc>
              <a:buFont typeface="Arial"/>
              <a:buChar char="•"/>
            </a:pPr>
            <a:r>
              <a:rPr lang="en-US" sz="2525">
                <a:solidFill>
                  <a:srgbClr val="000000"/>
                </a:solidFill>
                <a:latin typeface="Poppins"/>
                <a:ea typeface="Poppins"/>
                <a:cs typeface="Poppins"/>
                <a:sym typeface="Poppins"/>
              </a:rPr>
              <a:t>Width = CXSMAXPKTPERFLIT.</a:t>
            </a:r>
          </a:p>
          <a:p>
            <a:pPr algn="l" marL="545355" indent="-272678" lvl="1">
              <a:lnSpc>
                <a:spcPts val="3536"/>
              </a:lnSpc>
              <a:buFont typeface="Arial"/>
              <a:buChar char="•"/>
            </a:pPr>
            <a:r>
              <a:rPr lang="en-US" sz="2525">
                <a:solidFill>
                  <a:srgbClr val="000000"/>
                </a:solidFill>
                <a:latin typeface="Poppins"/>
                <a:ea typeface="Poppins"/>
                <a:cs typeface="Poppins"/>
                <a:sym typeface="Poppins"/>
              </a:rPr>
              <a:t>Rule: If END[N] = 1, all lower bits END[N-1:0] must be 1.</a:t>
            </a:r>
          </a:p>
          <a:p>
            <a:pPr algn="l" marL="545355" indent="-272678" lvl="1">
              <a:lnSpc>
                <a:spcPts val="3536"/>
              </a:lnSpc>
              <a:buFont typeface="Arial"/>
              <a:buChar char="•"/>
            </a:pPr>
            <a:r>
              <a:rPr lang="en-US" sz="2525">
                <a:solidFill>
                  <a:srgbClr val="000000"/>
                </a:solidFill>
                <a:latin typeface="Poppins"/>
                <a:ea typeface="Poppins"/>
                <a:cs typeface="Poppins"/>
                <a:sym typeface="Poppins"/>
              </a:rPr>
              <a:t>Example (CXSMAXPKTPERFLIT = 4):</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END[0] = 1 → 1 packet ends</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END[1] = 1 → 2 packets end</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END[2] = 1 → 3 packets end</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END[3] = 1 → 4 packets end</a:t>
            </a:r>
          </a:p>
          <a:p>
            <a:pPr algn="l">
              <a:lnSpc>
                <a:spcPts val="3396"/>
              </a:lnSpc>
            </a:pPr>
          </a:p>
          <a:p>
            <a:pPr algn="l">
              <a:lnSpc>
                <a:spcPts val="2976"/>
              </a:lnSpc>
              <a:spcBef>
                <a:spcPct val="0"/>
              </a:spcBef>
            </a:pPr>
          </a:p>
        </p:txBody>
      </p:sp>
      <p:sp>
        <p:nvSpPr>
          <p:cNvPr name="TextBox 4" id="4"/>
          <p:cNvSpPr txBox="true"/>
          <p:nvPr/>
        </p:nvSpPr>
        <p:spPr>
          <a:xfrm rot="0">
            <a:off x="470629" y="797634"/>
            <a:ext cx="11303442" cy="4345866"/>
          </a:xfrm>
          <a:prstGeom prst="rect">
            <a:avLst/>
          </a:prstGeom>
        </p:spPr>
        <p:txBody>
          <a:bodyPr anchor="t" rtlCol="false" tIns="0" lIns="0" bIns="0" rIns="0">
            <a:spAutoFit/>
          </a:bodyPr>
          <a:lstStyle/>
          <a:p>
            <a:pPr algn="l">
              <a:lnSpc>
                <a:spcPts val="3348"/>
              </a:lnSpc>
            </a:pPr>
            <a:r>
              <a:rPr lang="en-US" sz="2391" b="true">
                <a:solidFill>
                  <a:srgbClr val="000000"/>
                </a:solidFill>
                <a:latin typeface="Poppins Bold"/>
                <a:ea typeface="Poppins Bold"/>
                <a:cs typeface="Poppins Bold"/>
                <a:sym typeface="Poppins Bold"/>
              </a:rPr>
              <a:t>2.START[N]PTR (Start Pointer)</a:t>
            </a:r>
          </a:p>
          <a:p>
            <a:pPr algn="l" marL="557924" indent="-278962" lvl="1">
              <a:lnSpc>
                <a:spcPts val="3617"/>
              </a:lnSpc>
              <a:buFont typeface="Arial"/>
              <a:buChar char="•"/>
            </a:pPr>
            <a:r>
              <a:rPr lang="en-US" sz="2584">
                <a:solidFill>
                  <a:srgbClr val="000000"/>
                </a:solidFill>
                <a:latin typeface="Poppins"/>
                <a:ea typeface="Poppins"/>
                <a:cs typeface="Poppins"/>
                <a:sym typeface="Poppins"/>
              </a:rPr>
              <a:t>Array of pointers for packet start positions inside the flit.</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 valid only if matching START[N] = 1.</a:t>
            </a:r>
          </a:p>
          <a:p>
            <a:pPr algn="l" marL="557924" indent="-278962" lvl="1">
              <a:lnSpc>
                <a:spcPts val="3617"/>
              </a:lnSpc>
              <a:buFont typeface="Arial"/>
              <a:buChar char="•"/>
            </a:pPr>
            <a:r>
              <a:rPr lang="en-US" sz="2584">
                <a:solidFill>
                  <a:srgbClr val="000000"/>
                </a:solidFill>
                <a:latin typeface="Poppins"/>
                <a:ea typeface="Poppins"/>
                <a:cs typeface="Poppins"/>
                <a:sym typeface="Poppins"/>
              </a:rPr>
              <a:t>All packet starts are 16-byte aligned.</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 width = log₂(CXSDATAFLITWIDTH / 128) bits.</a:t>
            </a:r>
          </a:p>
          <a:p>
            <a:pPr algn="l" marL="557924" indent="-278962" lvl="1">
              <a:lnSpc>
                <a:spcPts val="3617"/>
              </a:lnSpc>
              <a:buFont typeface="Arial"/>
              <a:buChar char="•"/>
            </a:pPr>
            <a:r>
              <a:rPr lang="en-US" sz="2584">
                <a:solidFill>
                  <a:srgbClr val="000000"/>
                </a:solidFill>
                <a:latin typeface="Poppins"/>
                <a:ea typeface="Poppins"/>
                <a:cs typeface="Poppins"/>
                <a:sym typeface="Poppins"/>
              </a:rPr>
              <a:t>Actual start byte = (START[N]PTR &lt;&lt; 4).</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Pointers must be monotonically increasing</a:t>
            </a:r>
          </a:p>
          <a:p>
            <a:pPr algn="l" marL="557924" indent="-278962" lvl="1">
              <a:lnSpc>
                <a:spcPts val="3617"/>
              </a:lnSpc>
              <a:buFont typeface="Arial"/>
              <a:buChar char="•"/>
            </a:pPr>
            <a:r>
              <a:rPr lang="en-US" sz="2584">
                <a:solidFill>
                  <a:srgbClr val="000000"/>
                </a:solidFill>
                <a:latin typeface="Poppins"/>
                <a:ea typeface="Poppins"/>
                <a:cs typeface="Poppins"/>
                <a:sym typeface="Poppins"/>
              </a:rPr>
              <a:t> (START1PTR &gt; START0PTR).</a:t>
            </a:r>
          </a:p>
          <a:p>
            <a:pPr algn="l">
              <a:lnSpc>
                <a:spcPts val="3057"/>
              </a:lnSpc>
            </a:pPr>
          </a:p>
          <a:p>
            <a:pPr algn="l">
              <a:lnSpc>
                <a:spcPts val="267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70629" y="788109"/>
            <a:ext cx="11303442" cy="2865331"/>
          </a:xfrm>
          <a:prstGeom prst="rect">
            <a:avLst/>
          </a:prstGeom>
        </p:spPr>
        <p:txBody>
          <a:bodyPr anchor="t" rtlCol="false" tIns="0" lIns="0" bIns="0" rIns="0">
            <a:spAutoFit/>
          </a:bodyPr>
          <a:lstStyle/>
          <a:p>
            <a:pPr algn="l">
              <a:lnSpc>
                <a:spcPts val="3768"/>
              </a:lnSpc>
            </a:pPr>
            <a:r>
              <a:rPr lang="en-US" sz="2691" b="true">
                <a:solidFill>
                  <a:srgbClr val="000000"/>
                </a:solidFill>
                <a:latin typeface="Poppins Bold"/>
                <a:ea typeface="Poppins Bold"/>
                <a:cs typeface="Poppins Bold"/>
                <a:sym typeface="Poppins Bold"/>
              </a:rPr>
              <a:t>4.ENDERROR Field</a:t>
            </a:r>
          </a:p>
          <a:p>
            <a:pPr algn="l" marL="581134" indent="-290567" lvl="1">
              <a:lnSpc>
                <a:spcPts val="3768"/>
              </a:lnSpc>
              <a:buFont typeface="Arial"/>
              <a:buChar char="•"/>
            </a:pPr>
            <a:r>
              <a:rPr lang="en-US" sz="2691">
                <a:solidFill>
                  <a:srgbClr val="000000"/>
                </a:solidFill>
                <a:latin typeface="Poppins"/>
                <a:ea typeface="Poppins"/>
                <a:cs typeface="Poppins"/>
                <a:sym typeface="Poppins"/>
              </a:rPr>
              <a:t>Indicates error on packets ending in this flit.</a:t>
            </a:r>
          </a:p>
          <a:p>
            <a:pPr algn="l" marL="581134" indent="-290567" lvl="1">
              <a:lnSpc>
                <a:spcPts val="3768"/>
              </a:lnSpc>
              <a:buFont typeface="Arial"/>
              <a:buChar char="•"/>
            </a:pPr>
            <a:r>
              <a:rPr lang="en-US" sz="2691">
                <a:solidFill>
                  <a:srgbClr val="000000"/>
                </a:solidFill>
                <a:latin typeface="Poppins"/>
                <a:ea typeface="Poppins"/>
                <a:cs typeface="Poppins"/>
                <a:sym typeface="Poppins"/>
              </a:rPr>
              <a:t>Width = same as END.</a:t>
            </a:r>
          </a:p>
          <a:p>
            <a:pPr algn="l" marL="581134" indent="-290567" lvl="1">
              <a:lnSpc>
                <a:spcPts val="3768"/>
              </a:lnSpc>
              <a:buFont typeface="Arial"/>
              <a:buChar char="•"/>
            </a:pPr>
            <a:r>
              <a:rPr lang="en-US" sz="2691">
                <a:solidFill>
                  <a:srgbClr val="000000"/>
                </a:solidFill>
                <a:latin typeface="Poppins"/>
                <a:ea typeface="Poppins"/>
                <a:cs typeface="Poppins"/>
                <a:sym typeface="Poppins"/>
              </a:rPr>
              <a:t>ENDERROR[N] = 1 → Nth ending packet has error.</a:t>
            </a:r>
          </a:p>
          <a:p>
            <a:pPr algn="l" marL="581134" indent="-290567" lvl="1">
              <a:lnSpc>
                <a:spcPts val="3768"/>
              </a:lnSpc>
              <a:buFont typeface="Arial"/>
              <a:buChar char="•"/>
            </a:pPr>
            <a:r>
              <a:rPr lang="en-US" sz="2691">
                <a:solidFill>
                  <a:srgbClr val="000000"/>
                </a:solidFill>
                <a:latin typeface="Poppins"/>
                <a:ea typeface="Poppins"/>
                <a:cs typeface="Poppins"/>
                <a:sym typeface="Poppins"/>
              </a:rPr>
              <a:t>Rule: If ENDERROR[N] = 1, then END[N] must be 1.</a:t>
            </a:r>
          </a:p>
          <a:p>
            <a:pPr algn="l">
              <a:lnSpc>
                <a:spcPts val="3768"/>
              </a:lnSpc>
              <a:spcBef>
                <a:spcPct val="0"/>
              </a:spcBef>
            </a:pPr>
          </a:p>
        </p:txBody>
      </p:sp>
      <p:sp>
        <p:nvSpPr>
          <p:cNvPr name="TextBox 4" id="4"/>
          <p:cNvSpPr txBox="true"/>
          <p:nvPr/>
        </p:nvSpPr>
        <p:spPr>
          <a:xfrm rot="0">
            <a:off x="604426" y="3963171"/>
            <a:ext cx="11303442" cy="4321386"/>
          </a:xfrm>
          <a:prstGeom prst="rect">
            <a:avLst/>
          </a:prstGeom>
        </p:spPr>
        <p:txBody>
          <a:bodyPr anchor="t" rtlCol="false" tIns="0" lIns="0" bIns="0" rIns="0">
            <a:spAutoFit/>
          </a:bodyPr>
          <a:lstStyle/>
          <a:p>
            <a:pPr algn="l">
              <a:lnSpc>
                <a:spcPts val="3908"/>
              </a:lnSpc>
            </a:pPr>
            <a:r>
              <a:rPr lang="en-US" sz="2791" b="true">
                <a:solidFill>
                  <a:srgbClr val="000000"/>
                </a:solidFill>
                <a:latin typeface="Poppins Bold"/>
                <a:ea typeface="Poppins Bold"/>
                <a:cs typeface="Poppins Bold"/>
                <a:sym typeface="Poppins Bold"/>
              </a:rPr>
              <a:t>5.END[N]PTR (End Pointer)</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 to the last 4 bytes of packet ending in this flit.</a:t>
            </a:r>
          </a:p>
          <a:p>
            <a:pPr algn="l" marL="581134" indent="-290567" lvl="1">
              <a:lnSpc>
                <a:spcPts val="3768"/>
              </a:lnSpc>
              <a:buFont typeface="Arial"/>
              <a:buChar char="•"/>
            </a:pPr>
            <a:r>
              <a:rPr lang="en-US" sz="2691">
                <a:solidFill>
                  <a:srgbClr val="000000"/>
                </a:solidFill>
                <a:latin typeface="Poppins"/>
                <a:ea typeface="Poppins"/>
                <a:cs typeface="Poppins"/>
                <a:sym typeface="Poppins"/>
              </a:rPr>
              <a:t>Valid only if END[N] = 1.</a:t>
            </a:r>
          </a:p>
          <a:p>
            <a:pPr algn="l" marL="581134" indent="-290567" lvl="1">
              <a:lnSpc>
                <a:spcPts val="3768"/>
              </a:lnSpc>
              <a:buFont typeface="Arial"/>
              <a:buChar char="•"/>
            </a:pPr>
            <a:r>
              <a:rPr lang="en-US" sz="2691">
                <a:solidFill>
                  <a:srgbClr val="000000"/>
                </a:solidFill>
                <a:latin typeface="Poppins"/>
                <a:ea typeface="Poppins"/>
                <a:cs typeface="Poppins"/>
                <a:sym typeface="Poppins"/>
              </a:rPr>
              <a:t>All packet ends are 4-byte aligned.</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 width = log₂(CXSDATAFLITWIDTH / 32) bits.</a:t>
            </a:r>
          </a:p>
          <a:p>
            <a:pPr algn="l" marL="581134" indent="-290567" lvl="1">
              <a:lnSpc>
                <a:spcPts val="3768"/>
              </a:lnSpc>
              <a:buFont typeface="Arial"/>
              <a:buChar char="•"/>
            </a:pPr>
            <a:r>
              <a:rPr lang="en-US" sz="2691">
                <a:solidFill>
                  <a:srgbClr val="000000"/>
                </a:solidFill>
                <a:latin typeface="Poppins"/>
                <a:ea typeface="Poppins"/>
                <a:cs typeface="Poppins"/>
                <a:sym typeface="Poppins"/>
              </a:rPr>
              <a:t>Actual last byte = ((END[N]PTR &lt;&lt; 2) + 3).</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Pointers must be monotonically increasing</a:t>
            </a:r>
          </a:p>
          <a:p>
            <a:pPr algn="l" marL="581134" indent="-290567" lvl="1">
              <a:lnSpc>
                <a:spcPts val="3768"/>
              </a:lnSpc>
              <a:buFont typeface="Arial"/>
              <a:buChar char="•"/>
            </a:pPr>
            <a:r>
              <a:rPr lang="en-US" sz="2691">
                <a:solidFill>
                  <a:srgbClr val="000000"/>
                </a:solidFill>
                <a:latin typeface="Poppins"/>
                <a:ea typeface="Poppins"/>
                <a:cs typeface="Poppins"/>
                <a:sym typeface="Poppins"/>
              </a:rPr>
              <a:t> (END1PTR &gt; END0PTR).</a:t>
            </a:r>
          </a:p>
          <a:p>
            <a:pPr algn="l">
              <a:lnSpc>
                <a:spcPts val="3768"/>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1205167" y="2489794"/>
          <a:ext cx="7543800" cy="5029200"/>
        </p:xfrm>
        <a:graphic>
          <a:graphicData uri="http://schemas.openxmlformats.org/presentationml/2006/ole">
            <p:oleObj imgW="9042400" imgH="652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500503" y="275542"/>
            <a:ext cx="14195653"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 PACKET CONTROL F</a:t>
            </a:r>
            <a:r>
              <a:rPr lang="en-US" sz="5308">
                <a:solidFill>
                  <a:srgbClr val="000000"/>
                </a:solidFill>
                <a:latin typeface="League Spartan"/>
                <a:ea typeface="League Spartan"/>
                <a:cs typeface="League Spartan"/>
                <a:sym typeface="League Spartan"/>
              </a:rPr>
              <a:t>IELD STRUCTURE</a:t>
            </a:r>
          </a:p>
        </p:txBody>
      </p:sp>
      <p:sp>
        <p:nvSpPr>
          <p:cNvPr name="TextBox 5" id="5"/>
          <p:cNvSpPr txBox="true"/>
          <p:nvPr/>
        </p:nvSpPr>
        <p:spPr>
          <a:xfrm rot="0">
            <a:off x="1028700" y="1438894"/>
            <a:ext cx="5634574"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CXSMAXPKTPERFLIT = 2, CXSDATAFLITWIDTH = 256</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4634655"/>
            <a:ext cx="10548944"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 </a:t>
            </a:r>
            <a:r>
              <a:rPr lang="en-US" b="true" sz="5308">
                <a:solidFill>
                  <a:srgbClr val="000000"/>
                </a:solidFill>
                <a:latin typeface="League Spartan"/>
                <a:ea typeface="League Spartan"/>
                <a:cs typeface="League Spartan"/>
                <a:sym typeface="League Spartan"/>
              </a:rPr>
              <a:t>PACKET SIZE CONSTRAINTS</a:t>
            </a:r>
          </a:p>
        </p:txBody>
      </p:sp>
      <p:sp>
        <p:nvSpPr>
          <p:cNvPr name="TextBox 4" id="4"/>
          <p:cNvSpPr txBox="true"/>
          <p:nvPr/>
        </p:nvSpPr>
        <p:spPr>
          <a:xfrm rot="0">
            <a:off x="1028700" y="5665079"/>
            <a:ext cx="8685364" cy="1860525"/>
          </a:xfrm>
          <a:prstGeom prst="rect">
            <a:avLst/>
          </a:prstGeom>
        </p:spPr>
        <p:txBody>
          <a:bodyPr anchor="t" rtlCol="false" tIns="0" lIns="0" bIns="0" rIns="0">
            <a:spAutoFit/>
          </a:bodyPr>
          <a:lstStyle/>
          <a:p>
            <a:pPr algn="l">
              <a:lnSpc>
                <a:spcPts val="2976"/>
              </a:lnSpc>
            </a:pPr>
            <a:r>
              <a:rPr lang="en-US" sz="2125">
                <a:solidFill>
                  <a:srgbClr val="000000"/>
                </a:solidFill>
                <a:latin typeface="Poppins"/>
                <a:ea typeface="Poppins"/>
                <a:cs typeface="Poppins"/>
                <a:sym typeface="Poppins"/>
              </a:rPr>
              <a:t> A CXS interface transmits packets of data that meet the          following requirements: </a:t>
            </a:r>
          </a:p>
          <a:p>
            <a:pPr algn="l">
              <a:lnSpc>
                <a:spcPts val="2976"/>
              </a:lnSpc>
            </a:pPr>
            <a:r>
              <a:rPr lang="en-US" sz="2125">
                <a:solidFill>
                  <a:srgbClr val="000000"/>
                </a:solidFill>
                <a:latin typeface="Poppins"/>
                <a:ea typeface="Poppins"/>
                <a:cs typeface="Poppins"/>
                <a:sym typeface="Poppins"/>
              </a:rPr>
              <a:t>• At least 4 bytes in size</a:t>
            </a:r>
          </a:p>
          <a:p>
            <a:pPr algn="l">
              <a:lnSpc>
                <a:spcPts val="2976"/>
              </a:lnSpc>
            </a:pPr>
            <a:r>
              <a:rPr lang="en-US" sz="2125">
                <a:solidFill>
                  <a:srgbClr val="000000"/>
                </a:solidFill>
                <a:latin typeface="Poppins"/>
                <a:ea typeface="Poppins"/>
                <a:cs typeface="Poppins"/>
                <a:sym typeface="Poppins"/>
              </a:rPr>
              <a:t> • A multiple of 4 bytes in size</a:t>
            </a:r>
          </a:p>
          <a:p>
            <a:pPr algn="l">
              <a:lnSpc>
                <a:spcPts val="2976"/>
              </a:lnSpc>
              <a:spcBef>
                <a:spcPct val="0"/>
              </a:spcBef>
            </a:pPr>
            <a:r>
              <a:rPr lang="en-US" sz="2125">
                <a:solidFill>
                  <a:srgbClr val="000000"/>
                </a:solidFill>
                <a:latin typeface="Poppins"/>
                <a:ea typeface="Poppins"/>
                <a:cs typeface="Poppins"/>
                <a:sym typeface="Poppins"/>
              </a:rPr>
              <a:t> • No upper limit on packet size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2336296" y="4065560"/>
            <a:ext cx="2960881" cy="2960544"/>
            <a:chOff x="0" y="0"/>
            <a:chExt cx="6350013" cy="6349289"/>
          </a:xfrm>
        </p:grpSpPr>
        <p:sp>
          <p:nvSpPr>
            <p:cNvPr name="Freeform 4" id="4"/>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3"/>
              <a:stretch>
                <a:fillRect l="0" t="-5" r="0" b="-5"/>
              </a:stretch>
            </a:blipFill>
          </p:spPr>
        </p:sp>
      </p:grpSp>
      <p:sp>
        <p:nvSpPr>
          <p:cNvPr name="TextBox 5" id="5"/>
          <p:cNvSpPr txBox="true"/>
          <p:nvPr/>
        </p:nvSpPr>
        <p:spPr>
          <a:xfrm rot="0">
            <a:off x="5676618" y="1791504"/>
            <a:ext cx="6756386" cy="967259"/>
          </a:xfrm>
          <a:prstGeom prst="rect">
            <a:avLst/>
          </a:prstGeom>
        </p:spPr>
        <p:txBody>
          <a:bodyPr anchor="t" rtlCol="false" tIns="0" lIns="0" bIns="0" rIns="0">
            <a:spAutoFit/>
          </a:bodyPr>
          <a:lstStyle/>
          <a:p>
            <a:pPr algn="ctr">
              <a:lnSpc>
                <a:spcPts val="7940"/>
              </a:lnSpc>
            </a:pPr>
            <a:r>
              <a:rPr lang="en-US" b="true" sz="5672">
                <a:solidFill>
                  <a:srgbClr val="000000"/>
                </a:solidFill>
                <a:latin typeface="League Spartan"/>
                <a:ea typeface="League Spartan"/>
                <a:cs typeface="League Spartan"/>
                <a:sym typeface="League Spartan"/>
              </a:rPr>
              <a:t>TEAM MEMBERS</a:t>
            </a:r>
          </a:p>
        </p:txBody>
      </p:sp>
      <p:sp>
        <p:nvSpPr>
          <p:cNvPr name="TextBox 6" id="6"/>
          <p:cNvSpPr txBox="true"/>
          <p:nvPr/>
        </p:nvSpPr>
        <p:spPr>
          <a:xfrm rot="0">
            <a:off x="6118918" y="1116794"/>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MEET OUR</a:t>
            </a:r>
          </a:p>
        </p:txBody>
      </p:sp>
      <p:sp>
        <p:nvSpPr>
          <p:cNvPr name="TextBox 7" id="7"/>
          <p:cNvSpPr txBox="true"/>
          <p:nvPr/>
        </p:nvSpPr>
        <p:spPr>
          <a:xfrm rot="0">
            <a:off x="4981898" y="2711137"/>
            <a:ext cx="8145827" cy="791448"/>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grpSp>
        <p:nvGrpSpPr>
          <p:cNvPr name="Group 8" id="8"/>
          <p:cNvGrpSpPr>
            <a:grpSpLocks noChangeAspect="true"/>
          </p:cNvGrpSpPr>
          <p:nvPr/>
        </p:nvGrpSpPr>
        <p:grpSpPr>
          <a:xfrm rot="0">
            <a:off x="7575089" y="4065560"/>
            <a:ext cx="2960881" cy="2960544"/>
            <a:chOff x="0" y="0"/>
            <a:chExt cx="6350013" cy="6349289"/>
          </a:xfrm>
        </p:grpSpPr>
        <p:sp>
          <p:nvSpPr>
            <p:cNvPr name="Freeform 9" id="9"/>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4"/>
              <a:stretch>
                <a:fillRect l="0" t="0" r="0" b="-11"/>
              </a:stretch>
            </a:blipFill>
          </p:spPr>
        </p:sp>
      </p:grpSp>
      <p:grpSp>
        <p:nvGrpSpPr>
          <p:cNvPr name="Group 10" id="10"/>
          <p:cNvGrpSpPr>
            <a:grpSpLocks noChangeAspect="true"/>
          </p:cNvGrpSpPr>
          <p:nvPr/>
        </p:nvGrpSpPr>
        <p:grpSpPr>
          <a:xfrm rot="0">
            <a:off x="12812445" y="4065560"/>
            <a:ext cx="2960881" cy="2960544"/>
            <a:chOff x="0" y="0"/>
            <a:chExt cx="6350013" cy="6349289"/>
          </a:xfrm>
        </p:grpSpPr>
        <p:sp>
          <p:nvSpPr>
            <p:cNvPr name="Freeform 11" id="11"/>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5"/>
              <a:stretch>
                <a:fillRect l="0" t="0" r="0" b="-11"/>
              </a:stretch>
            </a:blipFill>
          </p:spPr>
        </p:sp>
      </p:grpSp>
      <p:sp>
        <p:nvSpPr>
          <p:cNvPr name="TextBox 12" id="12"/>
          <p:cNvSpPr txBox="true"/>
          <p:nvPr/>
        </p:nvSpPr>
        <p:spPr>
          <a:xfrm rot="0">
            <a:off x="1871310" y="7521404"/>
            <a:ext cx="4247608" cy="1572602"/>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3" id="13"/>
          <p:cNvSpPr txBox="true"/>
          <p:nvPr/>
        </p:nvSpPr>
        <p:spPr>
          <a:xfrm rot="0">
            <a:off x="6931726" y="7521404"/>
            <a:ext cx="4247608" cy="1572602"/>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4" id="14"/>
          <p:cNvSpPr txBox="true"/>
          <p:nvPr/>
        </p:nvSpPr>
        <p:spPr>
          <a:xfrm rot="0">
            <a:off x="12169082" y="7521404"/>
            <a:ext cx="4247608" cy="1572602"/>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3173913"/>
            <a:ext cx="6021380"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FLOW CHART</a:t>
            </a:r>
          </a:p>
        </p:txBody>
      </p:sp>
      <p:sp>
        <p:nvSpPr>
          <p:cNvPr name="TextBox 4" id="4"/>
          <p:cNvSpPr txBox="true"/>
          <p:nvPr/>
        </p:nvSpPr>
        <p:spPr>
          <a:xfrm rot="0">
            <a:off x="1028700" y="2361785"/>
            <a:ext cx="4842085"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OUR YEARLY</a:t>
            </a:r>
          </a:p>
        </p:txBody>
      </p:sp>
      <p:sp>
        <p:nvSpPr>
          <p:cNvPr name="TextBox 5" id="5"/>
          <p:cNvSpPr txBox="true"/>
          <p:nvPr/>
        </p:nvSpPr>
        <p:spPr>
          <a:xfrm rot="0">
            <a:off x="1028700" y="4832814"/>
            <a:ext cx="55710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6" id="6"/>
          <p:cNvSpPr txBox="true"/>
          <p:nvPr/>
        </p:nvSpPr>
        <p:spPr>
          <a:xfrm rot="0">
            <a:off x="1028700" y="6693340"/>
            <a:ext cx="55710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pic>
        <p:nvPicPr>
          <p:cNvPr name="Picture 7" id="7"/>
          <p:cNvPicPr>
            <a:picLocks noChangeAspect="true"/>
          </p:cNvPicPr>
          <p:nvPr/>
        </p:nvPicPr>
        <p:blipFill>
          <a:blip r:embed="rId3"/>
          <a:stretch>
            <a:fillRect/>
          </a:stretch>
        </p:blipFill>
        <p:spPr>
          <a:xfrm rot="0">
            <a:off x="6883300" y="-166973"/>
            <a:ext cx="11319272" cy="10620946"/>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4004499"/>
            <a:ext cx="6021380"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DETAILS 2</a:t>
            </a:r>
          </a:p>
        </p:txBody>
      </p:sp>
      <p:sp>
        <p:nvSpPr>
          <p:cNvPr name="TextBox 4" id="4"/>
          <p:cNvSpPr txBox="true"/>
          <p:nvPr/>
        </p:nvSpPr>
        <p:spPr>
          <a:xfrm rot="0">
            <a:off x="1028700" y="5060151"/>
            <a:ext cx="55710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pic>
        <p:nvPicPr>
          <p:cNvPr name="Picture 5" id="5"/>
          <p:cNvPicPr>
            <a:picLocks noChangeAspect="true"/>
          </p:cNvPicPr>
          <p:nvPr/>
        </p:nvPicPr>
        <p:blipFill>
          <a:blip r:embed="rId3"/>
          <a:stretch>
            <a:fillRect/>
          </a:stretch>
        </p:blipFill>
        <p:spPr>
          <a:xfrm rot="0">
            <a:off x="6774256" y="-386163"/>
            <a:ext cx="11199056" cy="11059325"/>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38682" y="1791504"/>
            <a:ext cx="9010636" cy="967259"/>
          </a:xfrm>
          <a:prstGeom prst="rect">
            <a:avLst/>
          </a:prstGeom>
        </p:spPr>
        <p:txBody>
          <a:bodyPr anchor="t" rtlCol="false" tIns="0" lIns="0" bIns="0" rIns="0">
            <a:spAutoFit/>
          </a:bodyPr>
          <a:lstStyle/>
          <a:p>
            <a:pPr algn="ctr">
              <a:lnSpc>
                <a:spcPts val="7940"/>
              </a:lnSpc>
            </a:pPr>
            <a:r>
              <a:rPr lang="en-US" sz="5672">
                <a:solidFill>
                  <a:srgbClr val="000000"/>
                </a:solidFill>
                <a:latin typeface="League Spartan"/>
                <a:ea typeface="League Spartan"/>
                <a:cs typeface="League Spartan"/>
                <a:sym typeface="League Spartan"/>
              </a:rPr>
              <a:t>PLANNING</a:t>
            </a:r>
          </a:p>
        </p:txBody>
      </p:sp>
      <p:sp>
        <p:nvSpPr>
          <p:cNvPr name="TextBox 4" id="4"/>
          <p:cNvSpPr txBox="true"/>
          <p:nvPr/>
        </p:nvSpPr>
        <p:spPr>
          <a:xfrm rot="0">
            <a:off x="6118918" y="1116794"/>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OUR NEW</a:t>
            </a:r>
          </a:p>
        </p:txBody>
      </p:sp>
      <p:sp>
        <p:nvSpPr>
          <p:cNvPr name="TextBox 5" id="5"/>
          <p:cNvSpPr txBox="true"/>
          <p:nvPr/>
        </p:nvSpPr>
        <p:spPr>
          <a:xfrm rot="0">
            <a:off x="4981898" y="2692087"/>
            <a:ext cx="8145827" cy="791448"/>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pic>
        <p:nvPicPr>
          <p:cNvPr name="Picture 6" id="6"/>
          <p:cNvPicPr>
            <a:picLocks noChangeAspect="true"/>
          </p:cNvPicPr>
          <p:nvPr/>
        </p:nvPicPr>
        <p:blipFill>
          <a:blip r:embed="rId3"/>
          <a:stretch>
            <a:fillRect/>
          </a:stretch>
        </p:blipFill>
        <p:spPr>
          <a:xfrm rot="0">
            <a:off x="1634350" y="4251065"/>
            <a:ext cx="2628900" cy="2628900"/>
          </a:xfrm>
          <a:prstGeom prst="rect">
            <a:avLst/>
          </a:prstGeom>
        </p:spPr>
      </p:pic>
      <p:pic>
        <p:nvPicPr>
          <p:cNvPr name="Picture 7" id="7"/>
          <p:cNvPicPr>
            <a:picLocks noChangeAspect="true"/>
          </p:cNvPicPr>
          <p:nvPr/>
        </p:nvPicPr>
        <p:blipFill>
          <a:blip r:embed="rId4"/>
          <a:stretch>
            <a:fillRect/>
          </a:stretch>
        </p:blipFill>
        <p:spPr>
          <a:xfrm rot="0">
            <a:off x="1634350" y="7635615"/>
            <a:ext cx="2628900" cy="1533525"/>
          </a:xfrm>
          <a:prstGeom prst="rect">
            <a:avLst/>
          </a:prstGeom>
        </p:spPr>
      </p:pic>
      <p:pic>
        <p:nvPicPr>
          <p:cNvPr name="Picture 8" id="8"/>
          <p:cNvPicPr>
            <a:picLocks noChangeAspect="true"/>
          </p:cNvPicPr>
          <p:nvPr/>
        </p:nvPicPr>
        <p:blipFill>
          <a:blip r:embed="rId5"/>
          <a:stretch>
            <a:fillRect/>
          </a:stretch>
        </p:blipFill>
        <p:spPr>
          <a:xfrm rot="0">
            <a:off x="11187954" y="4463976"/>
            <a:ext cx="5528993" cy="5255074"/>
          </a:xfrm>
          <a:prstGeom prst="rect">
            <a:avLst/>
          </a:prstGeom>
        </p:spPr>
      </p:pic>
      <p:sp>
        <p:nvSpPr>
          <p:cNvPr name="TextBox 9" id="9"/>
          <p:cNvSpPr txBox="true"/>
          <p:nvPr/>
        </p:nvSpPr>
        <p:spPr>
          <a:xfrm rot="0">
            <a:off x="4736325" y="4894226"/>
            <a:ext cx="4117804" cy="1294953"/>
          </a:xfrm>
          <a:prstGeom prst="rect">
            <a:avLst/>
          </a:prstGeom>
        </p:spPr>
        <p:txBody>
          <a:bodyPr anchor="t" rtlCol="false" tIns="0" lIns="0" bIns="0" rIns="0">
            <a:spAutoFit/>
          </a:bodyPr>
          <a:lstStyle/>
          <a:p>
            <a:pPr algn="l">
              <a:lnSpc>
                <a:spcPts val="2574"/>
              </a:lnSpc>
              <a:spcBef>
                <a:spcPct val="0"/>
              </a:spcBef>
            </a:pPr>
            <a:r>
              <a:rPr lang="en-US" sz="1838">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0" id="10"/>
          <p:cNvSpPr txBox="true"/>
          <p:nvPr/>
        </p:nvSpPr>
        <p:spPr>
          <a:xfrm rot="0">
            <a:off x="4736325" y="7807065"/>
            <a:ext cx="4117804" cy="1294953"/>
          </a:xfrm>
          <a:prstGeom prst="rect">
            <a:avLst/>
          </a:prstGeom>
        </p:spPr>
        <p:txBody>
          <a:bodyPr anchor="t" rtlCol="false" tIns="0" lIns="0" bIns="0" rIns="0">
            <a:spAutoFit/>
          </a:bodyPr>
          <a:lstStyle/>
          <a:p>
            <a:pPr algn="l">
              <a:lnSpc>
                <a:spcPts val="2574"/>
              </a:lnSpc>
              <a:spcBef>
                <a:spcPct val="0"/>
              </a:spcBef>
            </a:pPr>
            <a:r>
              <a:rPr lang="en-US" sz="1838">
                <a:solidFill>
                  <a:srgbClr val="303642"/>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3297" y="3191597"/>
            <a:ext cx="8421405" cy="1265381"/>
          </a:xfrm>
          <a:prstGeom prst="rect">
            <a:avLst/>
          </a:prstGeom>
        </p:spPr>
        <p:txBody>
          <a:bodyPr anchor="t" rtlCol="false" tIns="0" lIns="0" bIns="0" rIns="0">
            <a:spAutoFit/>
          </a:bodyPr>
          <a:lstStyle/>
          <a:p>
            <a:pPr algn="ctr">
              <a:lnSpc>
                <a:spcPts val="10334"/>
              </a:lnSpc>
            </a:pPr>
            <a:r>
              <a:rPr lang="en-US" b="true" sz="7382">
                <a:solidFill>
                  <a:srgbClr val="000000"/>
                </a:solidFill>
                <a:latin typeface="League Spartan"/>
                <a:ea typeface="League Spartan"/>
                <a:cs typeface="League Spartan"/>
                <a:sym typeface="League Spartan"/>
              </a:rPr>
              <a:t>THANK YOU</a:t>
            </a:r>
          </a:p>
        </p:txBody>
      </p:sp>
      <p:grpSp>
        <p:nvGrpSpPr>
          <p:cNvPr name="Group 10" id="10"/>
          <p:cNvGrpSpPr/>
          <p:nvPr/>
        </p:nvGrpSpPr>
        <p:grpSpPr>
          <a:xfrm rot="0">
            <a:off x="7616825" y="6705600"/>
            <a:ext cx="3054350" cy="761278"/>
            <a:chOff x="0" y="0"/>
            <a:chExt cx="804438" cy="200501"/>
          </a:xfrm>
        </p:grpSpPr>
        <p:sp>
          <p:nvSpPr>
            <p:cNvPr name="Freeform 11" id="11"/>
            <p:cNvSpPr/>
            <p:nvPr/>
          </p:nvSpPr>
          <p:spPr>
            <a:xfrm flipH="false" flipV="false" rot="0">
              <a:off x="0" y="0"/>
              <a:ext cx="804438" cy="200501"/>
            </a:xfrm>
            <a:custGeom>
              <a:avLst/>
              <a:gdLst/>
              <a:ahLst/>
              <a:cxnLst/>
              <a:rect r="r" b="b" t="t" l="l"/>
              <a:pathLst>
                <a:path h="200501" w="804438">
                  <a:moveTo>
                    <a:pt x="100251" y="0"/>
                  </a:moveTo>
                  <a:lnTo>
                    <a:pt x="704187" y="0"/>
                  </a:lnTo>
                  <a:cubicBezTo>
                    <a:pt x="730775" y="0"/>
                    <a:pt x="756275" y="10562"/>
                    <a:pt x="775075" y="29363"/>
                  </a:cubicBezTo>
                  <a:cubicBezTo>
                    <a:pt x="793876" y="48163"/>
                    <a:pt x="804438" y="73662"/>
                    <a:pt x="804438" y="100251"/>
                  </a:cubicBezTo>
                  <a:lnTo>
                    <a:pt x="804438" y="100251"/>
                  </a:lnTo>
                  <a:cubicBezTo>
                    <a:pt x="804438" y="155617"/>
                    <a:pt x="759554" y="200501"/>
                    <a:pt x="704187" y="200501"/>
                  </a:cubicBezTo>
                  <a:lnTo>
                    <a:pt x="100251" y="200501"/>
                  </a:lnTo>
                  <a:cubicBezTo>
                    <a:pt x="44884" y="200501"/>
                    <a:pt x="0" y="155617"/>
                    <a:pt x="0" y="100251"/>
                  </a:cubicBezTo>
                  <a:lnTo>
                    <a:pt x="0" y="100251"/>
                  </a:lnTo>
                  <a:cubicBezTo>
                    <a:pt x="0" y="44884"/>
                    <a:pt x="44884" y="0"/>
                    <a:pt x="100251" y="0"/>
                  </a:cubicBezTo>
                  <a:close/>
                </a:path>
              </a:pathLst>
            </a:custGeom>
            <a:solidFill>
              <a:srgbClr val="004AAD"/>
            </a:solidFill>
          </p:spPr>
        </p:sp>
        <p:sp>
          <p:nvSpPr>
            <p:cNvPr name="TextBox 12" id="12"/>
            <p:cNvSpPr txBox="true"/>
            <p:nvPr/>
          </p:nvSpPr>
          <p:spPr>
            <a:xfrm>
              <a:off x="0" y="-47625"/>
              <a:ext cx="804438" cy="248126"/>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7347826" y="6846823"/>
            <a:ext cx="3592349" cy="535981"/>
          </a:xfrm>
          <a:prstGeom prst="rect">
            <a:avLst/>
          </a:prstGeom>
        </p:spPr>
        <p:txBody>
          <a:bodyPr anchor="t" rtlCol="false" tIns="0" lIns="0" bIns="0" rIns="0">
            <a:spAutoFit/>
          </a:bodyPr>
          <a:lstStyle/>
          <a:p>
            <a:pPr algn="ctr">
              <a:lnSpc>
                <a:spcPts val="4408"/>
              </a:lnSpc>
            </a:pPr>
            <a:r>
              <a:rPr lang="en-US" sz="3148">
                <a:solidFill>
                  <a:srgbClr val="303642"/>
                </a:solidFill>
                <a:latin typeface="League Spartan"/>
                <a:ea typeface="League Spartan"/>
                <a:cs typeface="League Spartan"/>
                <a:sym typeface="League Spartan"/>
              </a:rPr>
              <a:t>VISIT US</a:t>
            </a:r>
          </a:p>
        </p:txBody>
      </p:sp>
      <p:sp>
        <p:nvSpPr>
          <p:cNvPr name="Freeform 14" id="14"/>
          <p:cNvSpPr/>
          <p:nvPr/>
        </p:nvSpPr>
        <p:spPr>
          <a:xfrm flipH="false" flipV="false" rot="0">
            <a:off x="3409363" y="8688897"/>
            <a:ext cx="759903" cy="759903"/>
          </a:xfrm>
          <a:custGeom>
            <a:avLst/>
            <a:gdLst/>
            <a:ahLst/>
            <a:cxnLst/>
            <a:rect r="r" b="b" t="t" l="l"/>
            <a:pathLst>
              <a:path h="759903" w="759903">
                <a:moveTo>
                  <a:pt x="0" y="0"/>
                </a:moveTo>
                <a:lnTo>
                  <a:pt x="759903" y="0"/>
                </a:lnTo>
                <a:lnTo>
                  <a:pt x="759903" y="759903"/>
                </a:lnTo>
                <a:lnTo>
                  <a:pt x="0" y="7599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8105697" y="8659101"/>
            <a:ext cx="762324" cy="762324"/>
          </a:xfrm>
          <a:custGeom>
            <a:avLst/>
            <a:gdLst/>
            <a:ahLst/>
            <a:cxnLst/>
            <a:rect r="r" b="b" t="t" l="l"/>
            <a:pathLst>
              <a:path h="762324" w="762324">
                <a:moveTo>
                  <a:pt x="0" y="0"/>
                </a:moveTo>
                <a:lnTo>
                  <a:pt x="762323" y="0"/>
                </a:lnTo>
                <a:lnTo>
                  <a:pt x="762323" y="762323"/>
                </a:lnTo>
                <a:lnTo>
                  <a:pt x="0" y="7623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9268070" y="8716674"/>
            <a:ext cx="5610566" cy="573007"/>
          </a:xfrm>
          <a:prstGeom prst="rect">
            <a:avLst/>
          </a:prstGeom>
        </p:spPr>
        <p:txBody>
          <a:bodyPr anchor="t" rtlCol="false" tIns="0" lIns="0" bIns="0" rIns="0">
            <a:spAutoFit/>
          </a:bodyPr>
          <a:lstStyle/>
          <a:p>
            <a:pPr algn="l" marL="0" indent="0" lvl="0">
              <a:lnSpc>
                <a:spcPts val="4641"/>
              </a:lnSpc>
              <a:spcBef>
                <a:spcPct val="0"/>
              </a:spcBef>
            </a:pPr>
            <a:r>
              <a:rPr lang="en-US" sz="3315" u="none">
                <a:solidFill>
                  <a:srgbClr val="000000"/>
                </a:solidFill>
                <a:latin typeface="Roboto"/>
                <a:ea typeface="Roboto"/>
                <a:cs typeface="Roboto"/>
                <a:sym typeface="Roboto"/>
              </a:rPr>
              <a:t>www.reallygreatsite.com</a:t>
            </a:r>
          </a:p>
        </p:txBody>
      </p:sp>
      <p:sp>
        <p:nvSpPr>
          <p:cNvPr name="TextBox 17" id="17"/>
          <p:cNvSpPr txBox="true"/>
          <p:nvPr/>
        </p:nvSpPr>
        <p:spPr>
          <a:xfrm rot="0">
            <a:off x="4522475" y="8762274"/>
            <a:ext cx="3500346" cy="573007"/>
          </a:xfrm>
          <a:prstGeom prst="rect">
            <a:avLst/>
          </a:prstGeom>
        </p:spPr>
        <p:txBody>
          <a:bodyPr anchor="t" rtlCol="false" tIns="0" lIns="0" bIns="0" rIns="0">
            <a:spAutoFit/>
          </a:bodyPr>
          <a:lstStyle/>
          <a:p>
            <a:pPr algn="l" marL="0" indent="0" lvl="0">
              <a:lnSpc>
                <a:spcPts val="4641"/>
              </a:lnSpc>
              <a:spcBef>
                <a:spcPct val="0"/>
              </a:spcBef>
            </a:pPr>
            <a:r>
              <a:rPr lang="en-US" sz="3315" u="none">
                <a:solidFill>
                  <a:srgbClr val="000000"/>
                </a:solidFill>
                <a:latin typeface="Roboto"/>
                <a:ea typeface="Roboto"/>
                <a:cs typeface="Roboto"/>
                <a:sym typeface="Roboto"/>
              </a:rPr>
              <a:t>+123-456-7890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DAG6UkK6dOM</dc:identifier>
  <dcterms:modified xsi:type="dcterms:W3CDTF">2011-08-01T06:04:30Z</dcterms:modified>
  <cp:revision>1</cp:revision>
  <dc:title>Blue &amp; white company profile presentation</dc:title>
</cp:coreProperties>
</file>