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15.jpg" ContentType="image/jpeg"/>
  <Override PartName="/ppt/media/image16.jpg" ContentType="image/jpeg"/>
  <Override PartName="/ppt/media/image17.jpg" ContentType="image/jpeg"/>
  <Override PartName="/ppt/media/image18.jpg" ContentType="image/jpeg"/>
  <Override PartName="/ppt/media/image19.jpg" ContentType="image/jpeg"/>
  <Override PartName="/ppt/media/image20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0" d="100"/>
          <a:sy n="50" d="100"/>
        </p:scale>
        <p:origin x="72" y="12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400" b="1" i="0">
                <a:solidFill>
                  <a:srgbClr val="3F3C3D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950" b="0" i="0">
                <a:solidFill>
                  <a:srgbClr val="535353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400" b="1" i="0">
                <a:solidFill>
                  <a:srgbClr val="3F3C3D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950" b="0" i="0">
                <a:solidFill>
                  <a:srgbClr val="535353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400" b="1" i="0">
                <a:solidFill>
                  <a:srgbClr val="3F3C3D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E8E8E8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661539" cy="3533412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-2042" y="6526097"/>
            <a:ext cx="3910147" cy="3760902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4541415" y="9464179"/>
            <a:ext cx="11673205" cy="0"/>
          </a:xfrm>
          <a:custGeom>
            <a:avLst/>
            <a:gdLst/>
            <a:ahLst/>
            <a:cxnLst/>
            <a:rect l="l" t="t" r="r" b="b"/>
            <a:pathLst>
              <a:path w="11673205">
                <a:moveTo>
                  <a:pt x="0" y="0"/>
                </a:moveTo>
                <a:lnTo>
                  <a:pt x="11672840" y="0"/>
                </a:lnTo>
              </a:path>
            </a:pathLst>
          </a:custGeom>
          <a:ln w="9524">
            <a:solidFill>
              <a:srgbClr val="53535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400" b="1" i="0">
                <a:solidFill>
                  <a:srgbClr val="3F3C3D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E8E8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21505" y="-69214"/>
            <a:ext cx="16164369" cy="236121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400" b="1" i="0">
                <a:solidFill>
                  <a:srgbClr val="3F3C3D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752964" y="3287803"/>
            <a:ext cx="12507594" cy="65100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950" b="0" i="0">
                <a:solidFill>
                  <a:srgbClr val="535353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661539" cy="353341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702312" y="6882983"/>
            <a:ext cx="4585687" cy="3404016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0" y="6597918"/>
            <a:ext cx="4175760" cy="3689350"/>
            <a:chOff x="0" y="6597918"/>
            <a:chExt cx="4175760" cy="3689350"/>
          </a:xfrm>
        </p:grpSpPr>
        <p:sp>
          <p:nvSpPr>
            <p:cNvPr id="5" name="object 5"/>
            <p:cNvSpPr/>
            <p:nvPr/>
          </p:nvSpPr>
          <p:spPr>
            <a:xfrm>
              <a:off x="0" y="6597918"/>
              <a:ext cx="4175760" cy="3689350"/>
            </a:xfrm>
            <a:custGeom>
              <a:avLst/>
              <a:gdLst/>
              <a:ahLst/>
              <a:cxnLst/>
              <a:rect l="l" t="t" r="r" b="b"/>
              <a:pathLst>
                <a:path w="4175760" h="3689350">
                  <a:moveTo>
                    <a:pt x="4175440" y="3689081"/>
                  </a:moveTo>
                  <a:lnTo>
                    <a:pt x="0" y="0"/>
                  </a:lnTo>
                  <a:lnTo>
                    <a:pt x="0" y="3689081"/>
                  </a:lnTo>
                  <a:lnTo>
                    <a:pt x="4175440" y="3689081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6727806"/>
              <a:ext cx="3559810" cy="3559810"/>
            </a:xfrm>
            <a:custGeom>
              <a:avLst/>
              <a:gdLst/>
              <a:ahLst/>
              <a:cxnLst/>
              <a:rect l="l" t="t" r="r" b="b"/>
              <a:pathLst>
                <a:path w="3559810" h="3559809">
                  <a:moveTo>
                    <a:pt x="0" y="3559193"/>
                  </a:moveTo>
                  <a:lnTo>
                    <a:pt x="3559193" y="3559193"/>
                  </a:lnTo>
                  <a:lnTo>
                    <a:pt x="0" y="0"/>
                  </a:lnTo>
                  <a:lnTo>
                    <a:pt x="0" y="3559193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15488054" y="0"/>
            <a:ext cx="2800350" cy="2526030"/>
            <a:chOff x="15488054" y="0"/>
            <a:chExt cx="2800350" cy="2526030"/>
          </a:xfrm>
        </p:grpSpPr>
        <p:sp>
          <p:nvSpPr>
            <p:cNvPr id="8" name="object 8"/>
            <p:cNvSpPr/>
            <p:nvPr/>
          </p:nvSpPr>
          <p:spPr>
            <a:xfrm>
              <a:off x="15488054" y="0"/>
              <a:ext cx="2800350" cy="2526030"/>
            </a:xfrm>
            <a:custGeom>
              <a:avLst/>
              <a:gdLst/>
              <a:ahLst/>
              <a:cxnLst/>
              <a:rect l="l" t="t" r="r" b="b"/>
              <a:pathLst>
                <a:path w="2800350" h="2526030">
                  <a:moveTo>
                    <a:pt x="0" y="0"/>
                  </a:moveTo>
                  <a:lnTo>
                    <a:pt x="2799944" y="2525886"/>
                  </a:lnTo>
                  <a:lnTo>
                    <a:pt x="279994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5844815" y="0"/>
              <a:ext cx="2443480" cy="2443480"/>
            </a:xfrm>
            <a:custGeom>
              <a:avLst/>
              <a:gdLst/>
              <a:ahLst/>
              <a:cxnLst/>
              <a:rect l="l" t="t" r="r" b="b"/>
              <a:pathLst>
                <a:path w="2443480" h="2443480">
                  <a:moveTo>
                    <a:pt x="2443184" y="0"/>
                  </a:moveTo>
                  <a:lnTo>
                    <a:pt x="0" y="0"/>
                  </a:lnTo>
                  <a:lnTo>
                    <a:pt x="2443184" y="2443184"/>
                  </a:lnTo>
                  <a:lnTo>
                    <a:pt x="2443184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3444116" y="3845481"/>
            <a:ext cx="11400155" cy="1779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500" dirty="0"/>
              <a:t>AXI</a:t>
            </a:r>
            <a:r>
              <a:rPr sz="11500" spc="-730" dirty="0"/>
              <a:t> </a:t>
            </a:r>
            <a:r>
              <a:rPr sz="11500" spc="145" dirty="0"/>
              <a:t>PROTOCOL</a:t>
            </a:r>
            <a:endParaRPr sz="11500"/>
          </a:p>
        </p:txBody>
      </p:sp>
      <p:sp>
        <p:nvSpPr>
          <p:cNvPr id="11" name="object 11"/>
          <p:cNvSpPr txBox="1"/>
          <p:nvPr/>
        </p:nvSpPr>
        <p:spPr>
          <a:xfrm>
            <a:off x="4543944" y="5522043"/>
            <a:ext cx="9200515" cy="16065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2719705">
              <a:lnSpc>
                <a:spcPct val="116599"/>
              </a:lnSpc>
              <a:spcBef>
                <a:spcPts val="95"/>
              </a:spcBef>
            </a:pPr>
            <a:r>
              <a:rPr sz="4450" spc="165" dirty="0">
                <a:solidFill>
                  <a:srgbClr val="535353"/>
                </a:solidFill>
                <a:latin typeface="Verdana"/>
                <a:cs typeface="Verdana"/>
              </a:rPr>
              <a:t>Boddu</a:t>
            </a:r>
            <a:r>
              <a:rPr sz="4450" spc="-459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4450" spc="90" dirty="0">
                <a:solidFill>
                  <a:srgbClr val="535353"/>
                </a:solidFill>
                <a:latin typeface="Verdana"/>
                <a:cs typeface="Verdana"/>
              </a:rPr>
              <a:t>giresh </a:t>
            </a:r>
            <a:r>
              <a:rPr sz="4450" spc="155" dirty="0">
                <a:solidFill>
                  <a:srgbClr val="535353"/>
                </a:solidFill>
                <a:latin typeface="Verdana"/>
                <a:cs typeface="Verdana"/>
              </a:rPr>
              <a:t>chipweave</a:t>
            </a:r>
            <a:r>
              <a:rPr sz="4450" spc="-434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4450" spc="165" dirty="0">
                <a:solidFill>
                  <a:srgbClr val="535353"/>
                </a:solidFill>
                <a:latin typeface="Verdana"/>
                <a:cs typeface="Verdana"/>
              </a:rPr>
              <a:t>technologies</a:t>
            </a:r>
            <a:r>
              <a:rPr sz="4450" spc="-434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4450" spc="135" dirty="0">
                <a:solidFill>
                  <a:srgbClr val="535353"/>
                </a:solidFill>
                <a:latin typeface="Verdana"/>
                <a:cs typeface="Verdana"/>
              </a:rPr>
              <a:t>pvt</a:t>
            </a:r>
            <a:r>
              <a:rPr sz="4450" spc="-434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4450" spc="140" dirty="0">
                <a:solidFill>
                  <a:srgbClr val="535353"/>
                </a:solidFill>
                <a:latin typeface="Verdana"/>
                <a:cs typeface="Verdana"/>
              </a:rPr>
              <a:t>ltd</a:t>
            </a:r>
            <a:endParaRPr sz="44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661539" cy="353341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214937" y="2650851"/>
            <a:ext cx="5858510" cy="12719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150" spc="150" dirty="0"/>
              <a:t>CONTENTS</a:t>
            </a:r>
            <a:endParaRPr sz="8150"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21816" y="4263846"/>
            <a:ext cx="152400" cy="1523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21816" y="4844871"/>
            <a:ext cx="152400" cy="1523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21816" y="5425896"/>
            <a:ext cx="152400" cy="1523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21816" y="6006921"/>
            <a:ext cx="152400" cy="15239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21816" y="6587946"/>
            <a:ext cx="152400" cy="15239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21816" y="7168971"/>
            <a:ext cx="152400" cy="15239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21816" y="7749996"/>
            <a:ext cx="152400" cy="152399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4271959" y="3972216"/>
            <a:ext cx="6614159" cy="40925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510030">
              <a:lnSpc>
                <a:spcPct val="117300"/>
              </a:lnSpc>
              <a:spcBef>
                <a:spcPts val="95"/>
              </a:spcBef>
            </a:pPr>
            <a:r>
              <a:rPr sz="3250" spc="85" dirty="0">
                <a:solidFill>
                  <a:srgbClr val="535353"/>
                </a:solidFill>
                <a:latin typeface="Verdana"/>
                <a:cs typeface="Verdana"/>
              </a:rPr>
              <a:t>Introduction</a:t>
            </a:r>
            <a:r>
              <a:rPr sz="3250" spc="-325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spc="155" dirty="0">
                <a:solidFill>
                  <a:srgbClr val="535353"/>
                </a:solidFill>
                <a:latin typeface="Verdana"/>
                <a:cs typeface="Verdana"/>
              </a:rPr>
              <a:t>to</a:t>
            </a:r>
            <a:r>
              <a:rPr sz="3250" spc="-325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spc="-25" dirty="0">
                <a:solidFill>
                  <a:srgbClr val="535353"/>
                </a:solidFill>
                <a:latin typeface="Verdana"/>
                <a:cs typeface="Verdana"/>
              </a:rPr>
              <a:t>AXI </a:t>
            </a:r>
            <a:r>
              <a:rPr sz="3250" spc="105" dirty="0">
                <a:solidFill>
                  <a:srgbClr val="535353"/>
                </a:solidFill>
                <a:latin typeface="Verdana"/>
                <a:cs typeface="Verdana"/>
              </a:rPr>
              <a:t>features</a:t>
            </a:r>
            <a:r>
              <a:rPr sz="3250" spc="-285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dirty="0">
                <a:solidFill>
                  <a:srgbClr val="535353"/>
                </a:solidFill>
                <a:latin typeface="Verdana"/>
                <a:cs typeface="Verdana"/>
              </a:rPr>
              <a:t>in</a:t>
            </a:r>
            <a:r>
              <a:rPr sz="3250" spc="-280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spc="-25" dirty="0">
                <a:solidFill>
                  <a:srgbClr val="535353"/>
                </a:solidFill>
                <a:latin typeface="Verdana"/>
                <a:cs typeface="Verdana"/>
              </a:rPr>
              <a:t>AXI </a:t>
            </a:r>
            <a:r>
              <a:rPr sz="3250" spc="-10" dirty="0">
                <a:solidFill>
                  <a:srgbClr val="535353"/>
                </a:solidFill>
                <a:latin typeface="Verdana"/>
                <a:cs typeface="Verdana"/>
              </a:rPr>
              <a:t>AXIchannels </a:t>
            </a:r>
            <a:r>
              <a:rPr sz="3250" spc="100" dirty="0">
                <a:solidFill>
                  <a:srgbClr val="535353"/>
                </a:solidFill>
                <a:latin typeface="Verdana"/>
                <a:cs typeface="Verdana"/>
              </a:rPr>
              <a:t>Interface&amp;interconnect </a:t>
            </a:r>
            <a:r>
              <a:rPr sz="3250" spc="-140" dirty="0">
                <a:solidFill>
                  <a:srgbClr val="535353"/>
                </a:solidFill>
                <a:latin typeface="Verdana"/>
                <a:cs typeface="Verdana"/>
              </a:rPr>
              <a:t>AXI</a:t>
            </a:r>
            <a:r>
              <a:rPr sz="3250" spc="-315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spc="50" dirty="0">
                <a:solidFill>
                  <a:srgbClr val="535353"/>
                </a:solidFill>
                <a:latin typeface="Verdana"/>
                <a:cs typeface="Verdana"/>
              </a:rPr>
              <a:t>signals</a:t>
            </a:r>
            <a:endParaRPr sz="3250">
              <a:latin typeface="Verdana"/>
              <a:cs typeface="Verdana"/>
            </a:endParaRPr>
          </a:p>
          <a:p>
            <a:pPr marL="12700" marR="5080">
              <a:lnSpc>
                <a:spcPct val="117300"/>
              </a:lnSpc>
            </a:pPr>
            <a:r>
              <a:rPr sz="3250" spc="105" dirty="0">
                <a:solidFill>
                  <a:srgbClr val="535353"/>
                </a:solidFill>
                <a:latin typeface="Verdana"/>
                <a:cs typeface="Verdana"/>
              </a:rPr>
              <a:t>hand</a:t>
            </a:r>
            <a:r>
              <a:rPr sz="3250" spc="-330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spc="60" dirty="0">
                <a:solidFill>
                  <a:srgbClr val="535353"/>
                </a:solidFill>
                <a:latin typeface="Verdana"/>
                <a:cs typeface="Verdana"/>
              </a:rPr>
              <a:t>shake</a:t>
            </a:r>
            <a:r>
              <a:rPr sz="3250" spc="-325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spc="80" dirty="0">
                <a:solidFill>
                  <a:srgbClr val="535353"/>
                </a:solidFill>
                <a:latin typeface="Verdana"/>
                <a:cs typeface="Verdana"/>
              </a:rPr>
              <a:t>&amp;burst</a:t>
            </a:r>
            <a:r>
              <a:rPr sz="3250" spc="-330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spc="95" dirty="0">
                <a:solidFill>
                  <a:srgbClr val="535353"/>
                </a:solidFill>
                <a:latin typeface="Verdana"/>
                <a:cs typeface="Verdana"/>
              </a:rPr>
              <a:t>transaction </a:t>
            </a:r>
            <a:r>
              <a:rPr sz="3250" spc="110" dirty="0">
                <a:solidFill>
                  <a:srgbClr val="535353"/>
                </a:solidFill>
                <a:latin typeface="Verdana"/>
                <a:cs typeface="Verdana"/>
              </a:rPr>
              <a:t>request</a:t>
            </a:r>
            <a:r>
              <a:rPr sz="3250" spc="-305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spc="90" dirty="0">
                <a:solidFill>
                  <a:srgbClr val="535353"/>
                </a:solidFill>
                <a:latin typeface="Verdana"/>
                <a:cs typeface="Verdana"/>
              </a:rPr>
              <a:t>attributes</a:t>
            </a:r>
            <a:endParaRPr sz="3250">
              <a:latin typeface="Verdana"/>
              <a:cs typeface="Verdan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21816" y="8331021"/>
            <a:ext cx="152400" cy="152399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4541415" y="9464179"/>
            <a:ext cx="11673205" cy="0"/>
          </a:xfrm>
          <a:custGeom>
            <a:avLst/>
            <a:gdLst/>
            <a:ahLst/>
            <a:cxnLst/>
            <a:rect l="l" t="t" r="r" b="b"/>
            <a:pathLst>
              <a:path w="11673205">
                <a:moveTo>
                  <a:pt x="0" y="0"/>
                </a:moveTo>
                <a:lnTo>
                  <a:pt x="11672840" y="0"/>
                </a:lnTo>
              </a:path>
            </a:pathLst>
          </a:custGeom>
          <a:ln w="9524">
            <a:solidFill>
              <a:srgbClr val="53535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6497427" y="9049049"/>
            <a:ext cx="705485" cy="7486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750" spc="-520" dirty="0">
                <a:solidFill>
                  <a:srgbClr val="535353"/>
                </a:solidFill>
                <a:latin typeface="Arial Black"/>
                <a:cs typeface="Arial Black"/>
              </a:rPr>
              <a:t>01</a:t>
            </a:r>
            <a:endParaRPr sz="475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661539" cy="353341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37878" rIns="0" bIns="0" rtlCol="0">
            <a:spAutoFit/>
          </a:bodyPr>
          <a:lstStyle/>
          <a:p>
            <a:pPr marL="1701800">
              <a:lnSpc>
                <a:spcPct val="100000"/>
              </a:lnSpc>
              <a:spcBef>
                <a:spcPts val="95"/>
              </a:spcBef>
            </a:pPr>
            <a:r>
              <a:rPr sz="8600" spc="-155" dirty="0"/>
              <a:t>INTRODUCTION</a:t>
            </a:r>
            <a:r>
              <a:rPr sz="8600" spc="-310" dirty="0"/>
              <a:t> </a:t>
            </a:r>
            <a:r>
              <a:rPr sz="8600" spc="130" dirty="0"/>
              <a:t>TO</a:t>
            </a:r>
            <a:r>
              <a:rPr sz="8600" spc="-310" dirty="0"/>
              <a:t> </a:t>
            </a:r>
            <a:r>
              <a:rPr sz="8600" spc="-25" dirty="0"/>
              <a:t>AXI</a:t>
            </a:r>
            <a:endParaRPr sz="8600"/>
          </a:p>
        </p:txBody>
      </p:sp>
      <p:sp>
        <p:nvSpPr>
          <p:cNvPr id="4" name="object 4"/>
          <p:cNvSpPr txBox="1"/>
          <p:nvPr/>
        </p:nvSpPr>
        <p:spPr>
          <a:xfrm>
            <a:off x="3066300" y="3520907"/>
            <a:ext cx="504190" cy="993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350" spc="-865" dirty="0">
                <a:solidFill>
                  <a:srgbClr val="3F3C3D"/>
                </a:solidFill>
                <a:latin typeface="Tahoma"/>
                <a:cs typeface="Tahoma"/>
              </a:rPr>
              <a:t>1.</a:t>
            </a:r>
            <a:endParaRPr sz="635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58984" y="3883055"/>
            <a:ext cx="11316970" cy="26638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7300"/>
              </a:lnSpc>
              <a:spcBef>
                <a:spcPts val="95"/>
              </a:spcBef>
            </a:pPr>
            <a:r>
              <a:rPr sz="3250" spc="110" dirty="0">
                <a:solidFill>
                  <a:srgbClr val="535353"/>
                </a:solidFill>
                <a:latin typeface="Verdana"/>
                <a:cs typeface="Verdana"/>
              </a:rPr>
              <a:t>Advance</a:t>
            </a:r>
            <a:r>
              <a:rPr sz="3250" spc="-320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spc="85" dirty="0">
                <a:solidFill>
                  <a:srgbClr val="535353"/>
                </a:solidFill>
                <a:latin typeface="Verdana"/>
                <a:cs typeface="Verdana"/>
              </a:rPr>
              <a:t>extensible</a:t>
            </a:r>
            <a:r>
              <a:rPr sz="3250" spc="-320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spc="130" dirty="0">
                <a:solidFill>
                  <a:srgbClr val="535353"/>
                </a:solidFill>
                <a:latin typeface="Verdana"/>
                <a:cs typeface="Verdana"/>
              </a:rPr>
              <a:t>interface</a:t>
            </a:r>
            <a:r>
              <a:rPr sz="3250" spc="-320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spc="75" dirty="0">
                <a:solidFill>
                  <a:srgbClr val="535353"/>
                </a:solidFill>
                <a:latin typeface="Verdana"/>
                <a:cs typeface="Verdana"/>
              </a:rPr>
              <a:t>it</a:t>
            </a:r>
            <a:r>
              <a:rPr sz="3250" spc="-320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dirty="0">
                <a:solidFill>
                  <a:srgbClr val="535353"/>
                </a:solidFill>
                <a:latin typeface="Verdana"/>
                <a:cs typeface="Verdana"/>
              </a:rPr>
              <a:t>is</a:t>
            </a:r>
            <a:r>
              <a:rPr sz="3250" spc="-320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spc="55" dirty="0">
                <a:solidFill>
                  <a:srgbClr val="535353"/>
                </a:solidFill>
                <a:latin typeface="Verdana"/>
                <a:cs typeface="Verdana"/>
              </a:rPr>
              <a:t>a</a:t>
            </a:r>
            <a:r>
              <a:rPr sz="3250" spc="-315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spc="110" dirty="0">
                <a:solidFill>
                  <a:srgbClr val="535353"/>
                </a:solidFill>
                <a:latin typeface="Verdana"/>
                <a:cs typeface="Verdana"/>
              </a:rPr>
              <a:t>part</a:t>
            </a:r>
            <a:r>
              <a:rPr sz="3250" spc="-320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spc="195" dirty="0">
                <a:solidFill>
                  <a:srgbClr val="535353"/>
                </a:solidFill>
                <a:latin typeface="Verdana"/>
                <a:cs typeface="Verdana"/>
              </a:rPr>
              <a:t>of</a:t>
            </a:r>
            <a:r>
              <a:rPr sz="3250" spc="-320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spc="35" dirty="0">
                <a:solidFill>
                  <a:srgbClr val="535353"/>
                </a:solidFill>
                <a:latin typeface="Verdana"/>
                <a:cs typeface="Verdana"/>
              </a:rPr>
              <a:t>AMBA </a:t>
            </a:r>
            <a:r>
              <a:rPr sz="3250" spc="140" dirty="0">
                <a:solidFill>
                  <a:srgbClr val="535353"/>
                </a:solidFill>
                <a:latin typeface="Verdana"/>
                <a:cs typeface="Verdana"/>
              </a:rPr>
              <a:t>protocols</a:t>
            </a:r>
            <a:r>
              <a:rPr sz="3250" spc="-320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spc="75" dirty="0">
                <a:solidFill>
                  <a:srgbClr val="535353"/>
                </a:solidFill>
                <a:latin typeface="Verdana"/>
                <a:cs typeface="Verdana"/>
              </a:rPr>
              <a:t>it</a:t>
            </a:r>
            <a:r>
              <a:rPr sz="3250" spc="-320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spc="90" dirty="0">
                <a:solidFill>
                  <a:srgbClr val="535353"/>
                </a:solidFill>
                <a:latin typeface="Verdana"/>
                <a:cs typeface="Verdana"/>
              </a:rPr>
              <a:t>provides</a:t>
            </a:r>
            <a:r>
              <a:rPr sz="3250" spc="-315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spc="75" dirty="0">
                <a:solidFill>
                  <a:srgbClr val="535353"/>
                </a:solidFill>
                <a:latin typeface="Verdana"/>
                <a:cs typeface="Verdana"/>
              </a:rPr>
              <a:t>high</a:t>
            </a:r>
            <a:r>
              <a:rPr sz="3250" spc="-320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spc="150" dirty="0">
                <a:solidFill>
                  <a:srgbClr val="535353"/>
                </a:solidFill>
                <a:latin typeface="Verdana"/>
                <a:cs typeface="Verdana"/>
              </a:rPr>
              <a:t>perfomance</a:t>
            </a:r>
            <a:r>
              <a:rPr sz="3250" spc="-320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spc="-10" dirty="0">
                <a:solidFill>
                  <a:srgbClr val="535353"/>
                </a:solidFill>
                <a:latin typeface="Verdana"/>
                <a:cs typeface="Verdana"/>
              </a:rPr>
              <a:t>,high </a:t>
            </a:r>
            <a:r>
              <a:rPr sz="3250" spc="75" dirty="0">
                <a:solidFill>
                  <a:srgbClr val="535353"/>
                </a:solidFill>
                <a:latin typeface="Verdana"/>
                <a:cs typeface="Verdana"/>
              </a:rPr>
              <a:t>speed,high</a:t>
            </a:r>
            <a:r>
              <a:rPr sz="3250" spc="-325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spc="125" dirty="0">
                <a:solidFill>
                  <a:srgbClr val="535353"/>
                </a:solidFill>
                <a:latin typeface="Verdana"/>
                <a:cs typeface="Verdana"/>
              </a:rPr>
              <a:t>frequency</a:t>
            </a:r>
            <a:r>
              <a:rPr sz="3250" spc="-310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spc="150" dirty="0">
                <a:solidFill>
                  <a:srgbClr val="535353"/>
                </a:solidFill>
                <a:latin typeface="Verdana"/>
                <a:cs typeface="Verdana"/>
              </a:rPr>
              <a:t>protcol</a:t>
            </a:r>
            <a:r>
              <a:rPr sz="3250" spc="-315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spc="160" dirty="0">
                <a:solidFill>
                  <a:srgbClr val="535353"/>
                </a:solidFill>
                <a:latin typeface="Verdana"/>
                <a:cs typeface="Verdana"/>
              </a:rPr>
              <a:t>compared</a:t>
            </a:r>
            <a:r>
              <a:rPr sz="3250" spc="-310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spc="155" dirty="0">
                <a:solidFill>
                  <a:srgbClr val="535353"/>
                </a:solidFill>
                <a:latin typeface="Verdana"/>
                <a:cs typeface="Verdana"/>
              </a:rPr>
              <a:t>to</a:t>
            </a:r>
            <a:r>
              <a:rPr sz="3250" spc="-310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spc="-10" dirty="0">
                <a:solidFill>
                  <a:srgbClr val="535353"/>
                </a:solidFill>
                <a:latin typeface="Verdana"/>
                <a:cs typeface="Verdana"/>
              </a:rPr>
              <a:t>APB/AHB</a:t>
            </a:r>
            <a:endParaRPr sz="32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3150"/>
              </a:spcBef>
            </a:pPr>
            <a:r>
              <a:rPr sz="3250" spc="75" dirty="0">
                <a:solidFill>
                  <a:srgbClr val="535353"/>
                </a:solidFill>
                <a:latin typeface="Verdana"/>
                <a:cs typeface="Verdana"/>
              </a:rPr>
              <a:t>it</a:t>
            </a:r>
            <a:r>
              <a:rPr sz="3250" spc="-315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dirty="0">
                <a:solidFill>
                  <a:srgbClr val="535353"/>
                </a:solidFill>
                <a:latin typeface="Verdana"/>
                <a:cs typeface="Verdana"/>
              </a:rPr>
              <a:t>is</a:t>
            </a:r>
            <a:r>
              <a:rPr sz="3250" spc="-310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spc="70" dirty="0">
                <a:solidFill>
                  <a:srgbClr val="535353"/>
                </a:solidFill>
                <a:latin typeface="Verdana"/>
                <a:cs typeface="Verdana"/>
              </a:rPr>
              <a:t>also</a:t>
            </a:r>
            <a:r>
              <a:rPr sz="3250" spc="-310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spc="120" dirty="0">
                <a:solidFill>
                  <a:srgbClr val="535353"/>
                </a:solidFill>
                <a:latin typeface="Verdana"/>
                <a:cs typeface="Verdana"/>
              </a:rPr>
              <a:t>supports</a:t>
            </a:r>
            <a:r>
              <a:rPr sz="3250" spc="-310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spc="55" dirty="0">
                <a:solidFill>
                  <a:srgbClr val="535353"/>
                </a:solidFill>
                <a:latin typeface="Verdana"/>
                <a:cs typeface="Verdana"/>
              </a:rPr>
              <a:t>a</a:t>
            </a:r>
            <a:r>
              <a:rPr sz="3250" spc="-310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spc="105" dirty="0">
                <a:solidFill>
                  <a:srgbClr val="535353"/>
                </a:solidFill>
                <a:latin typeface="Verdana"/>
                <a:cs typeface="Verdana"/>
              </a:rPr>
              <a:t>pipelined</a:t>
            </a:r>
            <a:r>
              <a:rPr sz="3250" spc="-310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spc="95" dirty="0">
                <a:solidFill>
                  <a:srgbClr val="535353"/>
                </a:solidFill>
                <a:latin typeface="Verdana"/>
                <a:cs typeface="Verdana"/>
              </a:rPr>
              <a:t>transcations</a:t>
            </a:r>
            <a:endParaRPr sz="325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81615" y="6010658"/>
            <a:ext cx="673100" cy="993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350" spc="-125" dirty="0">
                <a:solidFill>
                  <a:srgbClr val="3F3C3D"/>
                </a:solidFill>
                <a:latin typeface="Tahoma"/>
                <a:cs typeface="Tahoma"/>
              </a:rPr>
              <a:t>2.</a:t>
            </a:r>
            <a:endParaRPr sz="635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541415" y="9464179"/>
            <a:ext cx="11673205" cy="0"/>
          </a:xfrm>
          <a:custGeom>
            <a:avLst/>
            <a:gdLst/>
            <a:ahLst/>
            <a:cxnLst/>
            <a:rect l="l" t="t" r="r" b="b"/>
            <a:pathLst>
              <a:path w="11673205">
                <a:moveTo>
                  <a:pt x="0" y="0"/>
                </a:moveTo>
                <a:lnTo>
                  <a:pt x="11672840" y="0"/>
                </a:lnTo>
              </a:path>
            </a:pathLst>
          </a:custGeom>
          <a:ln w="9524">
            <a:solidFill>
              <a:srgbClr val="53535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6432389" y="9049049"/>
            <a:ext cx="835660" cy="7486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750" spc="-25" dirty="0">
                <a:solidFill>
                  <a:srgbClr val="535353"/>
                </a:solidFill>
                <a:latin typeface="Arial Black"/>
                <a:cs typeface="Arial Black"/>
              </a:rPr>
              <a:t>02</a:t>
            </a:r>
            <a:endParaRPr sz="475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661539" cy="353341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204543" y="2650851"/>
            <a:ext cx="7879080" cy="12719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150" dirty="0"/>
              <a:t>AXI</a:t>
            </a:r>
            <a:r>
              <a:rPr sz="8150" spc="-365" dirty="0"/>
              <a:t> </a:t>
            </a:r>
            <a:r>
              <a:rPr sz="8150" spc="245" dirty="0"/>
              <a:t>FEATURES</a:t>
            </a:r>
            <a:endParaRPr sz="8150"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-2042" y="6526097"/>
            <a:ext cx="3910147" cy="3760902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4541415" y="9464179"/>
            <a:ext cx="11673205" cy="0"/>
          </a:xfrm>
          <a:custGeom>
            <a:avLst/>
            <a:gdLst/>
            <a:ahLst/>
            <a:cxnLst/>
            <a:rect l="l" t="t" r="r" b="b"/>
            <a:pathLst>
              <a:path w="11673205">
                <a:moveTo>
                  <a:pt x="0" y="0"/>
                </a:moveTo>
                <a:lnTo>
                  <a:pt x="11672840" y="0"/>
                </a:lnTo>
              </a:path>
            </a:pathLst>
          </a:custGeom>
          <a:ln w="9524">
            <a:solidFill>
              <a:srgbClr val="53535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420292" y="4040218"/>
            <a:ext cx="13848715" cy="575754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425450" indent="-425450">
              <a:lnSpc>
                <a:spcPct val="100000"/>
              </a:lnSpc>
              <a:spcBef>
                <a:spcPts val="770"/>
              </a:spcBef>
              <a:buSzPct val="98461"/>
              <a:buAutoNum type="arabicPeriod"/>
              <a:tabLst>
                <a:tab pos="425450" algn="l"/>
              </a:tabLst>
            </a:pPr>
            <a:r>
              <a:rPr sz="3250" spc="90" dirty="0">
                <a:solidFill>
                  <a:srgbClr val="535353"/>
                </a:solidFill>
                <a:latin typeface="Verdana"/>
                <a:cs typeface="Verdana"/>
              </a:rPr>
              <a:t>Seperate</a:t>
            </a:r>
            <a:r>
              <a:rPr sz="3250" spc="-305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spc="110" dirty="0">
                <a:solidFill>
                  <a:srgbClr val="535353"/>
                </a:solidFill>
                <a:latin typeface="Verdana"/>
                <a:cs typeface="Verdana"/>
              </a:rPr>
              <a:t>Read/Write</a:t>
            </a:r>
            <a:r>
              <a:rPr sz="3250" spc="-305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spc="95" dirty="0">
                <a:solidFill>
                  <a:srgbClr val="535353"/>
                </a:solidFill>
                <a:latin typeface="Verdana"/>
                <a:cs typeface="Verdana"/>
              </a:rPr>
              <a:t>channels</a:t>
            </a:r>
            <a:endParaRPr sz="3250">
              <a:latin typeface="Verdana"/>
              <a:cs typeface="Verdana"/>
            </a:endParaRPr>
          </a:p>
          <a:p>
            <a:pPr marL="425450" indent="-425450">
              <a:lnSpc>
                <a:spcPct val="100000"/>
              </a:lnSpc>
              <a:spcBef>
                <a:spcPts val="675"/>
              </a:spcBef>
              <a:buSzPct val="98461"/>
              <a:buAutoNum type="arabicPeriod"/>
              <a:tabLst>
                <a:tab pos="425450" algn="l"/>
              </a:tabLst>
            </a:pPr>
            <a:r>
              <a:rPr sz="3250" spc="55" dirty="0">
                <a:solidFill>
                  <a:srgbClr val="535353"/>
                </a:solidFill>
                <a:latin typeface="Verdana"/>
                <a:cs typeface="Verdana"/>
              </a:rPr>
              <a:t>High</a:t>
            </a:r>
            <a:r>
              <a:rPr sz="3250" spc="-330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spc="140" dirty="0">
                <a:solidFill>
                  <a:srgbClr val="535353"/>
                </a:solidFill>
                <a:latin typeface="Verdana"/>
                <a:cs typeface="Verdana"/>
              </a:rPr>
              <a:t>band</a:t>
            </a:r>
            <a:r>
              <a:rPr sz="3250" spc="-330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spc="120" dirty="0">
                <a:solidFill>
                  <a:srgbClr val="535353"/>
                </a:solidFill>
                <a:latin typeface="Verdana"/>
                <a:cs typeface="Verdana"/>
              </a:rPr>
              <a:t>width</a:t>
            </a:r>
            <a:r>
              <a:rPr sz="3250" spc="-325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spc="114" dirty="0">
                <a:solidFill>
                  <a:srgbClr val="535353"/>
                </a:solidFill>
                <a:latin typeface="Verdana"/>
                <a:cs typeface="Verdana"/>
              </a:rPr>
              <a:t>and</a:t>
            </a:r>
            <a:r>
              <a:rPr sz="3250" spc="-330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spc="100" dirty="0">
                <a:solidFill>
                  <a:srgbClr val="535353"/>
                </a:solidFill>
                <a:latin typeface="Verdana"/>
                <a:cs typeface="Verdana"/>
              </a:rPr>
              <a:t>low</a:t>
            </a:r>
            <a:r>
              <a:rPr sz="3250" spc="-325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spc="90" dirty="0">
                <a:solidFill>
                  <a:srgbClr val="535353"/>
                </a:solidFill>
                <a:latin typeface="Verdana"/>
                <a:cs typeface="Verdana"/>
              </a:rPr>
              <a:t>latency</a:t>
            </a:r>
            <a:endParaRPr sz="3250">
              <a:latin typeface="Verdana"/>
              <a:cs typeface="Verdana"/>
            </a:endParaRPr>
          </a:p>
          <a:p>
            <a:pPr marL="424815" indent="-419100">
              <a:lnSpc>
                <a:spcPct val="100000"/>
              </a:lnSpc>
              <a:spcBef>
                <a:spcPts val="675"/>
              </a:spcBef>
              <a:buSzPct val="98461"/>
              <a:buAutoNum type="arabicPeriod"/>
              <a:tabLst>
                <a:tab pos="424815" algn="l"/>
              </a:tabLst>
            </a:pPr>
            <a:r>
              <a:rPr sz="3250" spc="55" dirty="0">
                <a:solidFill>
                  <a:srgbClr val="535353"/>
                </a:solidFill>
                <a:latin typeface="Verdana"/>
                <a:cs typeface="Verdana"/>
              </a:rPr>
              <a:t>Burst</a:t>
            </a:r>
            <a:r>
              <a:rPr sz="3250" spc="-335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spc="95" dirty="0">
                <a:solidFill>
                  <a:srgbClr val="535353"/>
                </a:solidFill>
                <a:latin typeface="Verdana"/>
                <a:cs typeface="Verdana"/>
              </a:rPr>
              <a:t>transactions</a:t>
            </a:r>
            <a:endParaRPr sz="3250">
              <a:latin typeface="Verdana"/>
              <a:cs typeface="Verdana"/>
            </a:endParaRPr>
          </a:p>
          <a:p>
            <a:pPr marL="29209" marR="5340985" indent="-23495">
              <a:lnSpc>
                <a:spcPct val="117300"/>
              </a:lnSpc>
              <a:buSzPct val="98461"/>
              <a:buAutoNum type="arabicPeriod"/>
              <a:tabLst>
                <a:tab pos="29209" algn="l"/>
                <a:tab pos="424815" algn="l"/>
              </a:tabLst>
            </a:pPr>
            <a:r>
              <a:rPr sz="3250" dirty="0">
                <a:solidFill>
                  <a:srgbClr val="535353"/>
                </a:solidFill>
                <a:latin typeface="Verdana"/>
                <a:cs typeface="Verdana"/>
              </a:rPr>
              <a:t>	in</a:t>
            </a:r>
            <a:r>
              <a:rPr sz="3250" spc="-325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spc="110" dirty="0">
                <a:solidFill>
                  <a:srgbClr val="535353"/>
                </a:solidFill>
                <a:latin typeface="Verdana"/>
                <a:cs typeface="Verdana"/>
              </a:rPr>
              <a:t>order</a:t>
            </a:r>
            <a:r>
              <a:rPr sz="3250" spc="-320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spc="114" dirty="0">
                <a:solidFill>
                  <a:srgbClr val="535353"/>
                </a:solidFill>
                <a:latin typeface="Verdana"/>
                <a:cs typeface="Verdana"/>
              </a:rPr>
              <a:t>and</a:t>
            </a:r>
            <a:r>
              <a:rPr sz="3250" spc="-320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spc="125" dirty="0">
                <a:solidFill>
                  <a:srgbClr val="535353"/>
                </a:solidFill>
                <a:latin typeface="Verdana"/>
                <a:cs typeface="Verdana"/>
              </a:rPr>
              <a:t>out</a:t>
            </a:r>
            <a:r>
              <a:rPr sz="3250" spc="-320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spc="195" dirty="0">
                <a:solidFill>
                  <a:srgbClr val="535353"/>
                </a:solidFill>
                <a:latin typeface="Verdana"/>
                <a:cs typeface="Verdana"/>
              </a:rPr>
              <a:t>of</a:t>
            </a:r>
            <a:r>
              <a:rPr sz="3250" spc="-320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spc="110" dirty="0">
                <a:solidFill>
                  <a:srgbClr val="535353"/>
                </a:solidFill>
                <a:latin typeface="Verdana"/>
                <a:cs typeface="Verdana"/>
              </a:rPr>
              <a:t>order</a:t>
            </a:r>
            <a:r>
              <a:rPr sz="3250" spc="-320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spc="95" dirty="0">
                <a:solidFill>
                  <a:srgbClr val="535353"/>
                </a:solidFill>
                <a:latin typeface="Verdana"/>
                <a:cs typeface="Verdana"/>
              </a:rPr>
              <a:t>transactions </a:t>
            </a:r>
            <a:r>
              <a:rPr sz="3250" spc="-235" dirty="0">
                <a:solidFill>
                  <a:srgbClr val="535353"/>
                </a:solidFill>
                <a:latin typeface="Verdana"/>
                <a:cs typeface="Verdana"/>
              </a:rPr>
              <a:t>5.</a:t>
            </a:r>
            <a:r>
              <a:rPr sz="3250" spc="-805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spc="75" dirty="0">
                <a:solidFill>
                  <a:srgbClr val="535353"/>
                </a:solidFill>
                <a:latin typeface="Verdana"/>
                <a:cs typeface="Verdana"/>
              </a:rPr>
              <a:t>handshakeing</a:t>
            </a:r>
            <a:r>
              <a:rPr sz="3250" spc="-285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spc="100" dirty="0">
                <a:solidFill>
                  <a:srgbClr val="535353"/>
                </a:solidFill>
                <a:latin typeface="Verdana"/>
                <a:cs typeface="Verdana"/>
              </a:rPr>
              <a:t>mechanism</a:t>
            </a:r>
            <a:endParaRPr sz="3250">
              <a:latin typeface="Verdana"/>
              <a:cs typeface="Verdana"/>
            </a:endParaRPr>
          </a:p>
          <a:p>
            <a:pPr marL="424815" indent="-419100">
              <a:lnSpc>
                <a:spcPct val="100000"/>
              </a:lnSpc>
              <a:spcBef>
                <a:spcPts val="675"/>
              </a:spcBef>
              <a:buSzPct val="98461"/>
              <a:buAutoNum type="arabicPeriod" startAt="6"/>
              <a:tabLst>
                <a:tab pos="424815" algn="l"/>
              </a:tabLst>
            </a:pPr>
            <a:r>
              <a:rPr sz="3250" spc="130" dirty="0">
                <a:solidFill>
                  <a:srgbClr val="535353"/>
                </a:solidFill>
                <a:latin typeface="Verdana"/>
                <a:cs typeface="Verdana"/>
              </a:rPr>
              <a:t>support</a:t>
            </a:r>
            <a:r>
              <a:rPr sz="3250" spc="-325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spc="95" dirty="0">
                <a:solidFill>
                  <a:srgbClr val="535353"/>
                </a:solidFill>
                <a:latin typeface="Verdana"/>
                <a:cs typeface="Verdana"/>
              </a:rPr>
              <a:t>out-</a:t>
            </a:r>
            <a:r>
              <a:rPr sz="3250" spc="100" dirty="0">
                <a:solidFill>
                  <a:srgbClr val="535353"/>
                </a:solidFill>
                <a:latin typeface="Verdana"/>
                <a:cs typeface="Verdana"/>
              </a:rPr>
              <a:t>standing</a:t>
            </a:r>
            <a:r>
              <a:rPr sz="3250" spc="-320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spc="114" dirty="0">
                <a:solidFill>
                  <a:srgbClr val="535353"/>
                </a:solidFill>
                <a:latin typeface="Verdana"/>
                <a:cs typeface="Verdana"/>
              </a:rPr>
              <a:t>and</a:t>
            </a:r>
            <a:r>
              <a:rPr sz="3250" spc="-320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spc="75" dirty="0">
                <a:solidFill>
                  <a:srgbClr val="535353"/>
                </a:solidFill>
                <a:latin typeface="Verdana"/>
                <a:cs typeface="Verdana"/>
              </a:rPr>
              <a:t>non-</a:t>
            </a:r>
            <a:r>
              <a:rPr sz="3250" spc="125" dirty="0">
                <a:solidFill>
                  <a:srgbClr val="535353"/>
                </a:solidFill>
                <a:latin typeface="Verdana"/>
                <a:cs typeface="Verdana"/>
              </a:rPr>
              <a:t>out</a:t>
            </a:r>
            <a:r>
              <a:rPr sz="3250" spc="-320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spc="100" dirty="0">
                <a:solidFill>
                  <a:srgbClr val="535353"/>
                </a:solidFill>
                <a:latin typeface="Verdana"/>
                <a:cs typeface="Verdana"/>
              </a:rPr>
              <a:t>standing</a:t>
            </a:r>
            <a:r>
              <a:rPr sz="3250" spc="-325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spc="95" dirty="0">
                <a:solidFill>
                  <a:srgbClr val="535353"/>
                </a:solidFill>
                <a:latin typeface="Verdana"/>
                <a:cs typeface="Verdana"/>
              </a:rPr>
              <a:t>transactions</a:t>
            </a:r>
            <a:endParaRPr sz="3250">
              <a:latin typeface="Verdana"/>
              <a:cs typeface="Verdana"/>
            </a:endParaRPr>
          </a:p>
          <a:p>
            <a:pPr marL="632460" indent="-579755">
              <a:lnSpc>
                <a:spcPct val="100000"/>
              </a:lnSpc>
              <a:spcBef>
                <a:spcPts val="675"/>
              </a:spcBef>
              <a:buSzPct val="98461"/>
              <a:buAutoNum type="arabicPeriod" startAt="6"/>
              <a:tabLst>
                <a:tab pos="632460" algn="l"/>
              </a:tabLst>
            </a:pPr>
            <a:r>
              <a:rPr sz="3250" spc="105" dirty="0">
                <a:solidFill>
                  <a:srgbClr val="535353"/>
                </a:solidFill>
                <a:latin typeface="Verdana"/>
                <a:cs typeface="Verdana"/>
              </a:rPr>
              <a:t>pipelined</a:t>
            </a:r>
            <a:r>
              <a:rPr sz="3250" spc="-310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spc="95" dirty="0">
                <a:solidFill>
                  <a:srgbClr val="535353"/>
                </a:solidFill>
                <a:latin typeface="Verdana"/>
                <a:cs typeface="Verdana"/>
              </a:rPr>
              <a:t>transactions</a:t>
            </a:r>
            <a:endParaRPr sz="32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460"/>
              </a:spcBef>
            </a:pPr>
            <a:endParaRPr sz="3250">
              <a:latin typeface="Verdana"/>
              <a:cs typeface="Verdana"/>
            </a:endParaRPr>
          </a:p>
          <a:p>
            <a:pPr marR="5080" algn="r">
              <a:lnSpc>
                <a:spcPct val="100000"/>
              </a:lnSpc>
            </a:pPr>
            <a:r>
              <a:rPr sz="4750" spc="-25" dirty="0">
                <a:solidFill>
                  <a:srgbClr val="535353"/>
                </a:solidFill>
                <a:latin typeface="Arial Black"/>
                <a:cs typeface="Arial Black"/>
              </a:rPr>
              <a:t>04</a:t>
            </a:r>
            <a:endParaRPr sz="475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661539" cy="353341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31785" rIns="0" bIns="0" rtlCol="0">
            <a:spAutoFit/>
          </a:bodyPr>
          <a:lstStyle/>
          <a:p>
            <a:pPr marL="4069079">
              <a:lnSpc>
                <a:spcPct val="100000"/>
              </a:lnSpc>
              <a:spcBef>
                <a:spcPts val="125"/>
              </a:spcBef>
            </a:pPr>
            <a:r>
              <a:rPr sz="8150" dirty="0"/>
              <a:t>AXI</a:t>
            </a:r>
            <a:r>
              <a:rPr sz="8150" spc="-365" dirty="0"/>
              <a:t> </a:t>
            </a:r>
            <a:r>
              <a:rPr sz="8150" spc="220" dirty="0"/>
              <a:t>CHANNELS</a:t>
            </a:r>
            <a:endParaRPr sz="8150"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64411" y="3726747"/>
            <a:ext cx="219075" cy="2190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64411" y="4603047"/>
            <a:ext cx="219075" cy="21907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64411" y="5479347"/>
            <a:ext cx="219075" cy="21907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64411" y="6355646"/>
            <a:ext cx="219075" cy="21907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64411" y="7231946"/>
            <a:ext cx="219075" cy="21907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-2042" y="6526097"/>
            <a:ext cx="3910147" cy="3760902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4541415" y="9464179"/>
            <a:ext cx="11673205" cy="0"/>
          </a:xfrm>
          <a:custGeom>
            <a:avLst/>
            <a:gdLst/>
            <a:ahLst/>
            <a:cxnLst/>
            <a:rect l="l" t="t" r="r" b="b"/>
            <a:pathLst>
              <a:path w="11673205">
                <a:moveTo>
                  <a:pt x="0" y="0"/>
                </a:moveTo>
                <a:lnTo>
                  <a:pt x="11672840" y="0"/>
                </a:lnTo>
              </a:path>
            </a:pathLst>
          </a:custGeom>
          <a:ln w="9524">
            <a:solidFill>
              <a:srgbClr val="53535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body" idx="1"/>
          </p:nvPr>
        </p:nvSpPr>
        <p:spPr>
          <a:xfrm>
            <a:off x="4752964" y="3287803"/>
            <a:ext cx="12507594" cy="6422592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3073400">
              <a:lnSpc>
                <a:spcPct val="116199"/>
              </a:lnSpc>
              <a:spcBef>
                <a:spcPts val="90"/>
              </a:spcBef>
            </a:pPr>
            <a:r>
              <a:rPr spc="80" dirty="0"/>
              <a:t>Write</a:t>
            </a:r>
            <a:r>
              <a:rPr spc="-445" dirty="0"/>
              <a:t> </a:t>
            </a:r>
            <a:r>
              <a:rPr spc="-85" dirty="0"/>
              <a:t>address</a:t>
            </a:r>
            <a:r>
              <a:rPr spc="-440" dirty="0"/>
              <a:t> </a:t>
            </a:r>
            <a:r>
              <a:rPr spc="-80" dirty="0"/>
              <a:t>channel</a:t>
            </a:r>
            <a:r>
              <a:rPr spc="-440" dirty="0"/>
              <a:t> </a:t>
            </a:r>
            <a:r>
              <a:rPr spc="225" dirty="0"/>
              <a:t>(AW) </a:t>
            </a:r>
            <a:r>
              <a:rPr spc="80" dirty="0"/>
              <a:t>Write</a:t>
            </a:r>
            <a:r>
              <a:rPr spc="-465" dirty="0"/>
              <a:t> </a:t>
            </a:r>
            <a:r>
              <a:rPr spc="-20" dirty="0"/>
              <a:t>data</a:t>
            </a:r>
            <a:r>
              <a:rPr spc="-459" dirty="0"/>
              <a:t> </a:t>
            </a:r>
            <a:r>
              <a:rPr spc="60" dirty="0"/>
              <a:t>channel(W) </a:t>
            </a:r>
            <a:r>
              <a:rPr spc="80" dirty="0"/>
              <a:t>Write</a:t>
            </a:r>
            <a:r>
              <a:rPr spc="-450" dirty="0"/>
              <a:t> </a:t>
            </a:r>
            <a:r>
              <a:rPr spc="-85" dirty="0"/>
              <a:t>response</a:t>
            </a:r>
            <a:r>
              <a:rPr spc="-450" dirty="0"/>
              <a:t> </a:t>
            </a:r>
            <a:r>
              <a:rPr spc="-10" dirty="0"/>
              <a:t>channel(B) </a:t>
            </a:r>
            <a:r>
              <a:rPr spc="-130" dirty="0"/>
              <a:t>Read</a:t>
            </a:r>
            <a:r>
              <a:rPr spc="-440" dirty="0"/>
              <a:t> </a:t>
            </a:r>
            <a:r>
              <a:rPr spc="-85" dirty="0"/>
              <a:t>address</a:t>
            </a:r>
            <a:r>
              <a:rPr spc="-434" dirty="0"/>
              <a:t> </a:t>
            </a:r>
            <a:r>
              <a:rPr spc="-10" dirty="0"/>
              <a:t>channel(AR) </a:t>
            </a:r>
            <a:r>
              <a:rPr spc="-130" dirty="0"/>
              <a:t>Read</a:t>
            </a:r>
            <a:r>
              <a:rPr spc="-455" dirty="0"/>
              <a:t> </a:t>
            </a:r>
            <a:r>
              <a:rPr spc="-20" dirty="0"/>
              <a:t>data</a:t>
            </a:r>
            <a:r>
              <a:rPr spc="-455" dirty="0"/>
              <a:t> </a:t>
            </a:r>
            <a:r>
              <a:rPr spc="-10" dirty="0"/>
              <a:t>channel(R)</a:t>
            </a:r>
          </a:p>
          <a:p>
            <a:pPr>
              <a:lnSpc>
                <a:spcPct val="100000"/>
              </a:lnSpc>
              <a:spcBef>
                <a:spcPts val="3885"/>
              </a:spcBef>
            </a:pPr>
            <a:endParaRPr spc="-10" dirty="0"/>
          </a:p>
          <a:p>
            <a:pPr marR="5080" algn="r">
              <a:lnSpc>
                <a:spcPct val="100000"/>
              </a:lnSpc>
            </a:pPr>
            <a:r>
              <a:rPr sz="4750" spc="-25" dirty="0"/>
              <a:t>05</a:t>
            </a:r>
            <a:endParaRPr sz="4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26568" y="1788545"/>
            <a:ext cx="13992224" cy="67817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3485" rIns="0" bIns="0" rtlCol="0">
            <a:spAutoFit/>
          </a:bodyPr>
          <a:lstStyle/>
          <a:p>
            <a:pPr marL="3254375">
              <a:lnSpc>
                <a:spcPct val="100000"/>
              </a:lnSpc>
              <a:spcBef>
                <a:spcPts val="125"/>
              </a:spcBef>
            </a:pPr>
            <a:r>
              <a:rPr sz="8150" dirty="0"/>
              <a:t>AXI</a:t>
            </a:r>
            <a:r>
              <a:rPr sz="8150" spc="-365" dirty="0"/>
              <a:t> </a:t>
            </a:r>
            <a:r>
              <a:rPr sz="8150" spc="220" dirty="0"/>
              <a:t>CHANNELS</a:t>
            </a:r>
            <a:endParaRPr sz="8150"/>
          </a:p>
        </p:txBody>
      </p:sp>
      <p:sp>
        <p:nvSpPr>
          <p:cNvPr id="4" name="object 4"/>
          <p:cNvSpPr txBox="1"/>
          <p:nvPr/>
        </p:nvSpPr>
        <p:spPr>
          <a:xfrm>
            <a:off x="16432389" y="9049049"/>
            <a:ext cx="835660" cy="7486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750" spc="-25" dirty="0">
                <a:solidFill>
                  <a:srgbClr val="535353"/>
                </a:solidFill>
                <a:latin typeface="Arial Black"/>
                <a:cs typeface="Arial Black"/>
              </a:rPr>
              <a:t>06</a:t>
            </a:r>
            <a:endParaRPr sz="475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4390369" cy="5913755"/>
            <a:chOff x="0" y="0"/>
            <a:chExt cx="14390369" cy="59137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4661539" cy="353341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02928" y="2198497"/>
              <a:ext cx="11887199" cy="3714749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-2042" y="6526097"/>
            <a:ext cx="3910147" cy="3760902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4541415" y="9464179"/>
            <a:ext cx="11673205" cy="0"/>
          </a:xfrm>
          <a:custGeom>
            <a:avLst/>
            <a:gdLst/>
            <a:ahLst/>
            <a:cxnLst/>
            <a:rect l="l" t="t" r="r" b="b"/>
            <a:pathLst>
              <a:path w="11673205">
                <a:moveTo>
                  <a:pt x="0" y="0"/>
                </a:moveTo>
                <a:lnTo>
                  <a:pt x="11672840" y="0"/>
                </a:lnTo>
              </a:path>
            </a:pathLst>
          </a:custGeom>
          <a:ln w="9524">
            <a:solidFill>
              <a:srgbClr val="53535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150" spc="-10" dirty="0"/>
              <a:t>INTERFACE&amp;INTERCONNECT</a:t>
            </a:r>
            <a:endParaRPr sz="8150"/>
          </a:p>
        </p:txBody>
      </p:sp>
      <p:sp>
        <p:nvSpPr>
          <p:cNvPr id="8" name="object 8"/>
          <p:cNvSpPr txBox="1"/>
          <p:nvPr/>
        </p:nvSpPr>
        <p:spPr>
          <a:xfrm>
            <a:off x="965589" y="7433144"/>
            <a:ext cx="16278860" cy="23647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04390" marR="3010535" indent="-2092325">
              <a:lnSpc>
                <a:spcPct val="117300"/>
              </a:lnSpc>
              <a:spcBef>
                <a:spcPts val="95"/>
              </a:spcBef>
            </a:pPr>
            <a:r>
              <a:rPr sz="3250" spc="55" dirty="0">
                <a:solidFill>
                  <a:srgbClr val="535353"/>
                </a:solidFill>
                <a:latin typeface="Verdana"/>
                <a:cs typeface="Verdana"/>
              </a:rPr>
              <a:t>a</a:t>
            </a:r>
            <a:r>
              <a:rPr sz="3250" spc="-295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spc="95" dirty="0">
                <a:solidFill>
                  <a:srgbClr val="535353"/>
                </a:solidFill>
                <a:latin typeface="Verdana"/>
                <a:cs typeface="Verdana"/>
              </a:rPr>
              <a:t>typical</a:t>
            </a:r>
            <a:r>
              <a:rPr sz="3250" spc="-295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spc="80" dirty="0">
                <a:solidFill>
                  <a:srgbClr val="535353"/>
                </a:solidFill>
                <a:latin typeface="Verdana"/>
                <a:cs typeface="Verdana"/>
              </a:rPr>
              <a:t>systems</a:t>
            </a:r>
            <a:r>
              <a:rPr sz="3250" spc="-295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spc="150" dirty="0">
                <a:solidFill>
                  <a:srgbClr val="535353"/>
                </a:solidFill>
                <a:latin typeface="Verdana"/>
                <a:cs typeface="Verdana"/>
              </a:rPr>
              <a:t>contents</a:t>
            </a:r>
            <a:r>
              <a:rPr sz="3250" spc="-295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dirty="0">
                <a:solidFill>
                  <a:srgbClr val="535353"/>
                </a:solidFill>
                <a:latin typeface="Verdana"/>
                <a:cs typeface="Verdana"/>
              </a:rPr>
              <a:t>serval</a:t>
            </a:r>
            <a:r>
              <a:rPr sz="3250" spc="-295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spc="85" dirty="0">
                <a:solidFill>
                  <a:srgbClr val="535353"/>
                </a:solidFill>
                <a:latin typeface="Verdana"/>
                <a:cs typeface="Verdana"/>
              </a:rPr>
              <a:t>managers</a:t>
            </a:r>
            <a:r>
              <a:rPr sz="3250" spc="-290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spc="114" dirty="0">
                <a:solidFill>
                  <a:srgbClr val="535353"/>
                </a:solidFill>
                <a:latin typeface="Verdana"/>
                <a:cs typeface="Verdana"/>
              </a:rPr>
              <a:t>and</a:t>
            </a:r>
            <a:r>
              <a:rPr sz="3250" spc="-295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spc="90" dirty="0">
                <a:solidFill>
                  <a:srgbClr val="535353"/>
                </a:solidFill>
                <a:latin typeface="Verdana"/>
                <a:cs typeface="Verdana"/>
              </a:rPr>
              <a:t>subordinates </a:t>
            </a:r>
            <a:r>
              <a:rPr sz="3250" spc="185" dirty="0">
                <a:solidFill>
                  <a:srgbClr val="535353"/>
                </a:solidFill>
                <a:latin typeface="Verdana"/>
                <a:cs typeface="Verdana"/>
              </a:rPr>
              <a:t>connected</a:t>
            </a:r>
            <a:r>
              <a:rPr sz="3250" spc="-320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spc="120" dirty="0">
                <a:solidFill>
                  <a:srgbClr val="535353"/>
                </a:solidFill>
                <a:latin typeface="Verdana"/>
                <a:cs typeface="Verdana"/>
              </a:rPr>
              <a:t>together</a:t>
            </a:r>
            <a:r>
              <a:rPr sz="3250" spc="-315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spc="130" dirty="0">
                <a:solidFill>
                  <a:srgbClr val="535353"/>
                </a:solidFill>
                <a:latin typeface="Verdana"/>
                <a:cs typeface="Verdana"/>
              </a:rPr>
              <a:t>form</a:t>
            </a:r>
            <a:r>
              <a:rPr sz="3250" spc="-315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spc="195" dirty="0">
                <a:solidFill>
                  <a:srgbClr val="535353"/>
                </a:solidFill>
                <a:latin typeface="Verdana"/>
                <a:cs typeface="Verdana"/>
              </a:rPr>
              <a:t>of</a:t>
            </a:r>
            <a:r>
              <a:rPr sz="3250" spc="-315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spc="90" dirty="0">
                <a:solidFill>
                  <a:srgbClr val="535353"/>
                </a:solidFill>
                <a:latin typeface="Verdana"/>
                <a:cs typeface="Verdana"/>
              </a:rPr>
              <a:t>interconnect.</a:t>
            </a:r>
            <a:endParaRPr sz="3250">
              <a:latin typeface="Verdana"/>
              <a:cs typeface="Verdana"/>
            </a:endParaRPr>
          </a:p>
          <a:p>
            <a:pPr marR="5080" algn="r">
              <a:lnSpc>
                <a:spcPct val="100000"/>
              </a:lnSpc>
              <a:spcBef>
                <a:spcPts val="3570"/>
              </a:spcBef>
            </a:pPr>
            <a:r>
              <a:rPr sz="4750" spc="-25" dirty="0">
                <a:solidFill>
                  <a:srgbClr val="535353"/>
                </a:solidFill>
                <a:latin typeface="Arial Black"/>
                <a:cs typeface="Arial Black"/>
              </a:rPr>
              <a:t>07</a:t>
            </a:r>
            <a:endParaRPr sz="475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2951" y="1278748"/>
            <a:ext cx="5419724" cy="555307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76290" y="1466665"/>
            <a:ext cx="8334375" cy="32289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76290" y="5150919"/>
            <a:ext cx="9820274" cy="467660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57935">
              <a:lnSpc>
                <a:spcPct val="100000"/>
              </a:lnSpc>
              <a:spcBef>
                <a:spcPts val="125"/>
              </a:spcBef>
            </a:pPr>
            <a:r>
              <a:rPr sz="8150" dirty="0"/>
              <a:t>SIGNALS</a:t>
            </a:r>
            <a:r>
              <a:rPr sz="8150" spc="-484" dirty="0"/>
              <a:t> </a:t>
            </a:r>
            <a:r>
              <a:rPr sz="8150" dirty="0"/>
              <a:t>WRITE</a:t>
            </a:r>
            <a:r>
              <a:rPr sz="8150" spc="-480" dirty="0"/>
              <a:t> </a:t>
            </a:r>
            <a:r>
              <a:rPr sz="8150" spc="240" dirty="0"/>
              <a:t>CHANNEL</a:t>
            </a:r>
            <a:endParaRPr sz="8150"/>
          </a:p>
        </p:txBody>
      </p:sp>
      <p:sp>
        <p:nvSpPr>
          <p:cNvPr id="6" name="object 6"/>
          <p:cNvSpPr txBox="1"/>
          <p:nvPr/>
        </p:nvSpPr>
        <p:spPr>
          <a:xfrm>
            <a:off x="16439830" y="9049049"/>
            <a:ext cx="820419" cy="7486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750" spc="-25" dirty="0">
                <a:solidFill>
                  <a:srgbClr val="535353"/>
                </a:solidFill>
                <a:latin typeface="Arial Black"/>
                <a:cs typeface="Arial Black"/>
              </a:rPr>
              <a:t>08</a:t>
            </a:r>
            <a:endParaRPr sz="475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65964" y="1635956"/>
            <a:ext cx="5400674" cy="57911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22068" y="2200822"/>
            <a:ext cx="7705724" cy="465772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24529" rIns="0" bIns="0" rtlCol="0">
            <a:spAutoFit/>
          </a:bodyPr>
          <a:lstStyle/>
          <a:p>
            <a:pPr marL="506730">
              <a:lnSpc>
                <a:spcPct val="100000"/>
              </a:lnSpc>
              <a:spcBef>
                <a:spcPts val="125"/>
              </a:spcBef>
            </a:pPr>
            <a:r>
              <a:rPr sz="8150" dirty="0"/>
              <a:t>SIGNALS</a:t>
            </a:r>
            <a:r>
              <a:rPr sz="8150" spc="-315" dirty="0"/>
              <a:t> </a:t>
            </a:r>
            <a:r>
              <a:rPr sz="8150" spc="215" dirty="0"/>
              <a:t>OF</a:t>
            </a:r>
            <a:r>
              <a:rPr sz="8150" spc="-315" dirty="0"/>
              <a:t> </a:t>
            </a:r>
            <a:r>
              <a:rPr sz="8150" spc="315" dirty="0"/>
              <a:t>READ</a:t>
            </a:r>
            <a:r>
              <a:rPr sz="8150" spc="-315" dirty="0"/>
              <a:t> </a:t>
            </a:r>
            <a:r>
              <a:rPr sz="8150" spc="240" dirty="0"/>
              <a:t>CHANNEL</a:t>
            </a:r>
            <a:endParaRPr sz="8150"/>
          </a:p>
        </p:txBody>
      </p:sp>
      <p:sp>
        <p:nvSpPr>
          <p:cNvPr id="5" name="object 5"/>
          <p:cNvSpPr txBox="1"/>
          <p:nvPr/>
        </p:nvSpPr>
        <p:spPr>
          <a:xfrm>
            <a:off x="16432389" y="9049049"/>
            <a:ext cx="835660" cy="7486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750" spc="-25" dirty="0">
                <a:solidFill>
                  <a:srgbClr val="535353"/>
                </a:solidFill>
                <a:latin typeface="Arial Black"/>
                <a:cs typeface="Arial Black"/>
              </a:rPr>
              <a:t>09</a:t>
            </a:r>
            <a:endParaRPr sz="475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23041" y="2529118"/>
            <a:ext cx="13039724" cy="479107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2462" rIns="0" bIns="0" rtlCol="0">
            <a:spAutoFit/>
          </a:bodyPr>
          <a:lstStyle/>
          <a:p>
            <a:pPr marL="1672589">
              <a:lnSpc>
                <a:spcPct val="100000"/>
              </a:lnSpc>
              <a:spcBef>
                <a:spcPts val="105"/>
              </a:spcBef>
            </a:pPr>
            <a:r>
              <a:rPr spc="310" dirty="0"/>
              <a:t>HANDSHAKE</a:t>
            </a:r>
            <a:r>
              <a:rPr spc="-155" dirty="0"/>
              <a:t> </a:t>
            </a:r>
            <a:r>
              <a:rPr spc="100" dirty="0"/>
              <a:t>MECHANISM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6497427" y="9049049"/>
            <a:ext cx="705485" cy="7486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750" spc="-520" dirty="0">
                <a:solidFill>
                  <a:srgbClr val="535353"/>
                </a:solidFill>
                <a:latin typeface="Arial Black"/>
                <a:cs typeface="Arial Black"/>
              </a:rPr>
              <a:t>10</a:t>
            </a:r>
            <a:endParaRPr sz="475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27C63-181A-FAA9-1B76-110E4E581C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95800" y="1333501"/>
            <a:ext cx="12420600" cy="914400"/>
          </a:xfrm>
        </p:spPr>
        <p:txBody>
          <a:bodyPr/>
          <a:lstStyle/>
          <a:p>
            <a:r>
              <a:rPr lang="en-US" sz="5400" dirty="0"/>
              <a:t>BURST TRANSACTION</a:t>
            </a:r>
            <a:endParaRPr lang="en-IN" sz="5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E61C5E-1DDA-87EC-E33F-807DA36900F0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2743200" y="3162300"/>
            <a:ext cx="12801600" cy="4570482"/>
          </a:xfrm>
        </p:spPr>
        <p:txBody>
          <a:bodyPr/>
          <a:lstStyle/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dirty="0"/>
              <a:t>Burst means sending multiple data beats in a single address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dirty="0"/>
              <a:t>There are 3 types of burst</a:t>
            </a:r>
          </a:p>
          <a:p>
            <a:pPr marL="914400" indent="-914400">
              <a:buFont typeface="+mj-lt"/>
              <a:buAutoNum type="arabicPeriod"/>
            </a:pPr>
            <a:r>
              <a:rPr lang="en-US" dirty="0"/>
              <a:t>Fixed</a:t>
            </a:r>
          </a:p>
          <a:p>
            <a:pPr marL="914400" indent="-914400">
              <a:buFont typeface="+mj-lt"/>
              <a:buAutoNum type="arabicPeriod"/>
            </a:pPr>
            <a:r>
              <a:rPr lang="en-US" dirty="0"/>
              <a:t>Increment</a:t>
            </a:r>
          </a:p>
          <a:p>
            <a:pPr marL="914400" indent="-914400">
              <a:buFont typeface="+mj-lt"/>
              <a:buAutoNum type="arabicPeriod"/>
            </a:pPr>
            <a:r>
              <a:rPr lang="en-US" dirty="0"/>
              <a:t>wrap</a:t>
            </a:r>
            <a:endParaRPr lang="en-IN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4840C-2A81-7912-96B6-350CC42195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0" y="1181101"/>
            <a:ext cx="15544800" cy="830997"/>
          </a:xfrm>
        </p:spPr>
        <p:txBody>
          <a:bodyPr/>
          <a:lstStyle/>
          <a:p>
            <a:r>
              <a:rPr lang="en-US" sz="5400" dirty="0"/>
              <a:t>FIXED:</a:t>
            </a:r>
            <a:endParaRPr lang="en-IN" sz="5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B25BB4-7C3B-D567-5F9B-99586903A823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2743200" y="2476500"/>
            <a:ext cx="12801600" cy="2769989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The burst is used for repeat access to the simplification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The address is same for every transfer in the burst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The length of the burst can be </a:t>
            </a:r>
            <a:r>
              <a:rPr lang="en-US" sz="3600" dirty="0" err="1"/>
              <a:t>upto</a:t>
            </a:r>
            <a:r>
              <a:rPr lang="en-US" sz="3600" dirty="0"/>
              <a:t> 16 transfers</a:t>
            </a:r>
            <a:endParaRPr lang="en-IN" sz="3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98E92-9ACB-87AF-7928-465B80065F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0" y="647700"/>
            <a:ext cx="15544800" cy="738664"/>
          </a:xfrm>
        </p:spPr>
        <p:txBody>
          <a:bodyPr/>
          <a:lstStyle/>
          <a:p>
            <a:r>
              <a:rPr lang="en-US" sz="4800" dirty="0"/>
              <a:t> </a:t>
            </a:r>
            <a:endParaRPr lang="en-IN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E745BE-7DE7-970D-483C-F40599E47A65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2743200" y="1790700"/>
            <a:ext cx="12801600" cy="7140416"/>
          </a:xfrm>
        </p:spPr>
        <p:txBody>
          <a:bodyPr/>
          <a:lstStyle/>
          <a:p>
            <a:r>
              <a:rPr lang="en-US" sz="4400" dirty="0"/>
              <a:t>INCREMENT</a:t>
            </a:r>
            <a:r>
              <a:rPr lang="en-US" sz="4000" dirty="0"/>
              <a:t>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The address is keep increasing for every transfer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Increment depend upon the transaction size</a:t>
            </a:r>
          </a:p>
          <a:p>
            <a:r>
              <a:rPr lang="en-US" sz="4400" dirty="0"/>
              <a:t>WRAPPING: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dirty="0"/>
              <a:t>The address is increase but reaches the limit go back reverse address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dirty="0"/>
              <a:t>The burst length must be 2,4,6,8, or 16 transactions</a:t>
            </a:r>
          </a:p>
          <a:p>
            <a:endParaRPr lang="en-IN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13887-BE75-E000-4191-63A82DD10A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0" y="647700"/>
            <a:ext cx="15544800" cy="838200"/>
          </a:xfrm>
        </p:spPr>
        <p:txBody>
          <a:bodyPr/>
          <a:lstStyle/>
          <a:p>
            <a:r>
              <a:rPr lang="en-US" sz="4400" dirty="0"/>
              <a:t>TRANSACTION RESPONCE</a:t>
            </a:r>
            <a:endParaRPr lang="en-IN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748BF2-6C42-3008-1D21-166512EF05B5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2743200" y="2019300"/>
            <a:ext cx="12801600" cy="1661993"/>
          </a:xfrm>
        </p:spPr>
        <p:txBody>
          <a:bodyPr/>
          <a:lstStyle/>
          <a:p>
            <a:r>
              <a:rPr lang="en-US" sz="3600" dirty="0"/>
              <a:t>Transaction response will be both read and write</a:t>
            </a:r>
          </a:p>
          <a:p>
            <a:endParaRPr lang="en-US" sz="3600" dirty="0"/>
          </a:p>
          <a:p>
            <a:endParaRPr lang="en-IN" sz="3600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5D190D8-7C41-6FF5-AD47-2FB349F9CB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3224212"/>
            <a:ext cx="12496800" cy="557688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CF45D-5582-E2A8-76C2-20A9C8D4E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0" y="571500"/>
            <a:ext cx="15544800" cy="457200"/>
          </a:xfrm>
        </p:spPr>
        <p:txBody>
          <a:bodyPr/>
          <a:lstStyle/>
          <a:p>
            <a:r>
              <a:rPr lang="en-US" sz="3600" dirty="0"/>
              <a:t>WRITE STROBE:</a:t>
            </a:r>
            <a:endParaRPr lang="en-IN" sz="3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94E8BE-680A-4DD9-7BBF-23D1910AA258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2743200" y="1409700"/>
            <a:ext cx="12801600" cy="1661993"/>
          </a:xfrm>
        </p:spPr>
        <p:txBody>
          <a:bodyPr/>
          <a:lstStyle/>
          <a:p>
            <a:r>
              <a:rPr lang="en-US" sz="3600" dirty="0"/>
              <a:t>The write strobe carry that specify with byte of the write data channel contains valid information</a:t>
            </a:r>
          </a:p>
          <a:p>
            <a:endParaRPr lang="en-IN" sz="3600" dirty="0"/>
          </a:p>
        </p:txBody>
      </p:sp>
      <p:pic>
        <p:nvPicPr>
          <p:cNvPr id="5" name="Picture 4" descr="A screenshot of a phone&#10;&#10;AI-generated content may be incorrect.">
            <a:extLst>
              <a:ext uri="{FF2B5EF4-FFF2-40B4-BE49-F238E27FC236}">
                <a16:creationId xmlns:a16="http://schemas.microsoft.com/office/drawing/2014/main" id="{F7E4E7CE-E9C3-5644-B698-E0BA608A1C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2857500"/>
            <a:ext cx="12039600" cy="435780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74DC1-D6C4-30CF-E962-495936C878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0" y="495301"/>
            <a:ext cx="15544800" cy="615553"/>
          </a:xfrm>
        </p:spPr>
        <p:txBody>
          <a:bodyPr/>
          <a:lstStyle/>
          <a:p>
            <a:r>
              <a:rPr lang="en-US" sz="4000" dirty="0"/>
              <a:t>REQUEST ATTRIBUTES:</a:t>
            </a:r>
            <a:endParaRPr lang="en-IN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5A7F88-BDB0-C75C-A726-7C2973F70F97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2743200" y="1485900"/>
            <a:ext cx="12801600" cy="2092881"/>
          </a:xfrm>
        </p:spPr>
        <p:txBody>
          <a:bodyPr/>
          <a:lstStyle/>
          <a:p>
            <a:r>
              <a:rPr lang="en-US" sz="2800" b="1" dirty="0"/>
              <a:t>MEMORY ATTRIBUTES</a:t>
            </a:r>
            <a:r>
              <a:rPr lang="en-US" sz="2800" dirty="0"/>
              <a:t>: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The memory attributes are request control and how transaction progress through a system and how caches handle the request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800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38B707B-11CC-291C-1E79-C979C3B141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3390900"/>
            <a:ext cx="6172200" cy="4495800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9E5ADBF-09AE-EC51-4644-8833D17912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0200" y="3390900"/>
            <a:ext cx="7696200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F9FFE-3849-7E2E-A465-D6813EA894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0" y="419100"/>
            <a:ext cx="15544800" cy="830997"/>
          </a:xfrm>
        </p:spPr>
        <p:txBody>
          <a:bodyPr/>
          <a:lstStyle/>
          <a:p>
            <a:r>
              <a:rPr lang="en-US" sz="3600" dirty="0"/>
              <a:t>MEMORY TYPES</a:t>
            </a:r>
            <a:r>
              <a:rPr lang="en-US" sz="5400" dirty="0"/>
              <a:t>:</a:t>
            </a:r>
            <a:endParaRPr lang="en-IN" sz="5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66F562-A0B6-659E-17F7-E69C19483506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2743200" y="1562100"/>
            <a:ext cx="12801600" cy="1661993"/>
          </a:xfrm>
        </p:spPr>
        <p:txBody>
          <a:bodyPr/>
          <a:lstStyle/>
          <a:p>
            <a:r>
              <a:rPr lang="en-US" sz="3600" dirty="0"/>
              <a:t>The combination of ARCACHE and AWCACHE signal indicate memory type </a:t>
            </a:r>
          </a:p>
          <a:p>
            <a:endParaRPr lang="en-IN" sz="3600" dirty="0"/>
          </a:p>
        </p:txBody>
      </p:sp>
      <p:pic>
        <p:nvPicPr>
          <p:cNvPr id="5" name="Picture 4" descr="A table with text on it&#10;&#10;AI-generated content may be incorrect.">
            <a:extLst>
              <a:ext uri="{FF2B5EF4-FFF2-40B4-BE49-F238E27FC236}">
                <a16:creationId xmlns:a16="http://schemas.microsoft.com/office/drawing/2014/main" id="{6C225535-09FD-89C6-BE4B-1E5A466CCB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9025" y="2933700"/>
            <a:ext cx="11029950" cy="66294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789DE-C7C7-3EE4-FC4C-8619FB0810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19600" y="3188970"/>
            <a:ext cx="6934200" cy="1354217"/>
          </a:xfrm>
        </p:spPr>
        <p:txBody>
          <a:bodyPr/>
          <a:lstStyle/>
          <a:p>
            <a:r>
              <a:rPr lang="en-US" sz="8800" dirty="0"/>
              <a:t>THANK YOU</a:t>
            </a:r>
            <a:endParaRPr lang="en-IN" sz="8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B24CBB-4DBE-F29D-BA96-53357BEB9785}"/>
              </a:ext>
            </a:extLst>
          </p:cNvPr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 descr="A notepad with a pen and glasses on a table&#10;&#10;AI-generated content may be incorrect.">
            <a:extLst>
              <a:ext uri="{FF2B5EF4-FFF2-40B4-BE49-F238E27FC236}">
                <a16:creationId xmlns:a16="http://schemas.microsoft.com/office/drawing/2014/main" id="{6F433C7D-D84D-8FF4-6625-74D524AB0B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1281112"/>
            <a:ext cx="12192000" cy="772477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</TotalTime>
  <Words>335</Words>
  <Application>Microsoft Office PowerPoint</Application>
  <PresentationFormat>Custom</PresentationFormat>
  <Paragraphs>64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Arial Black</vt:lpstr>
      <vt:lpstr>Tahoma</vt:lpstr>
      <vt:lpstr>Verdana</vt:lpstr>
      <vt:lpstr>Office Theme</vt:lpstr>
      <vt:lpstr>AXI PROTOCOL</vt:lpstr>
      <vt:lpstr>CONTENTS</vt:lpstr>
      <vt:lpstr>INTRODUCTION TO AXI</vt:lpstr>
      <vt:lpstr>AXI FEATURES</vt:lpstr>
      <vt:lpstr>AXI CHANNELS</vt:lpstr>
      <vt:lpstr>AXI CHANNELS</vt:lpstr>
      <vt:lpstr>INTERFACE&amp;INTERCONNECT</vt:lpstr>
      <vt:lpstr>SIGNALS WRITE CHANNEL</vt:lpstr>
      <vt:lpstr>SIGNALS OF READ CHANNEL</vt:lpstr>
      <vt:lpstr>HANDSHAKE MECHANISM</vt:lpstr>
      <vt:lpstr>BURST TRANSACTION</vt:lpstr>
      <vt:lpstr>FIXED:</vt:lpstr>
      <vt:lpstr> </vt:lpstr>
      <vt:lpstr>TRANSACTION RESPONCE</vt:lpstr>
      <vt:lpstr>WRITE STROBE:</vt:lpstr>
      <vt:lpstr>REQUEST ATTRIBUTES:</vt:lpstr>
      <vt:lpstr>MEMORY TYPES:</vt:lpstr>
      <vt:lpstr>THANK YOU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Grey Minimalist Professional Project Presentation</dc:title>
  <dc:creator>Giresh Boddu</dc:creator>
  <cp:keywords>DAG3zFiFx60,BAG3zOIBRqo,0</cp:keywords>
  <cp:lastModifiedBy>bhavaniprasad gottapu</cp:lastModifiedBy>
  <cp:revision>1</cp:revision>
  <dcterms:created xsi:type="dcterms:W3CDTF">2025-11-05T09:13:10Z</dcterms:created>
  <dcterms:modified xsi:type="dcterms:W3CDTF">2025-11-05T10:39:08Z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2025-11-05T00:00:00Z</vt:filetime>
  </property>
  <property fmtid="{D5CDD505-2E9C-101B-9397-08002B2CF9AE}" pid="3" name="Creator">
    <vt:lpwstr>Canva</vt:lpwstr>
  </property>
  <property fmtid="{D5CDD505-2E9C-101B-9397-08002B2CF9AE}" pid="4" name="LastSaved">
    <vt:filetime>2025-11-05T00:00:00Z</vt:filetime>
  </property>
  <property fmtid="{D5CDD505-2E9C-101B-9397-08002B2CF9AE}" pid="5" name="Producer">
    <vt:lpwstr>Canva</vt:lpwstr>
  </property>
</Properties>
</file>