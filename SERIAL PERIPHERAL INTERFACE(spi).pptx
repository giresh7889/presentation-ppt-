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8288000" cy="10287000"/>
  <p:notesSz cx="6858000" cy="9144000"/>
  <p:embeddedFontLst>
    <p:embeddedFont>
      <p:font typeface="Open Sans" panose="020B0606030504020204" pitchFamily="34" charset="0"/>
      <p:regular r:id="rId25"/>
    </p:embeddedFont>
    <p:embeddedFont>
      <p:font typeface="Open Sans Bold" panose="020B0806030504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1315" y="10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oleObject" Target="../embeddings/oleObject1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634754" y="3411677"/>
            <a:ext cx="13018493" cy="6506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71"/>
              </a:lnSpc>
            </a:pPr>
            <a:r>
              <a:rPr lang="en-US" sz="6193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SERIAL PERIPHERAL INTERFACE(SPI)</a:t>
            </a:r>
          </a:p>
          <a:p>
            <a:pPr algn="ctr">
              <a:lnSpc>
                <a:spcPts val="17489"/>
              </a:lnSpc>
            </a:pPr>
            <a:endParaRPr lang="en-US" sz="6193" b="1" dirty="0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ctr">
              <a:lnSpc>
                <a:spcPts val="17489"/>
              </a:lnSpc>
            </a:pPr>
            <a:endParaRPr lang="en-US" sz="6193" b="1" dirty="0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4882925" y="5524500"/>
            <a:ext cx="11836018" cy="1425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02"/>
              </a:lnSpc>
            </a:pPr>
            <a:r>
              <a:rPr lang="en-US" sz="3073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Presented by </a:t>
            </a:r>
            <a:r>
              <a:rPr lang="en-US" sz="3073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Giresh,Lokesh</a:t>
            </a:r>
            <a:endParaRPr lang="en-US" sz="3073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ctr">
              <a:lnSpc>
                <a:spcPts val="4582"/>
              </a:lnSpc>
            </a:pPr>
            <a:r>
              <a:rPr lang="en-US" sz="3273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</a:t>
            </a:r>
            <a:r>
              <a:rPr lang="en-US" sz="3273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Chipweave</a:t>
            </a:r>
            <a:r>
              <a:rPr lang="en-US" sz="3273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Technologies Pvt Ltd</a:t>
            </a:r>
          </a:p>
          <a:p>
            <a:pPr algn="ctr">
              <a:lnSpc>
                <a:spcPts val="2342"/>
              </a:lnSpc>
            </a:pPr>
            <a:endParaRPr lang="en-US" sz="3273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569057" y="584425"/>
            <a:ext cx="14006278" cy="1309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69"/>
              </a:lnSpc>
            </a:pPr>
            <a:r>
              <a:rPr lang="en-US" sz="7692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INTRODUCTION TO SPI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69057" y="1747940"/>
            <a:ext cx="15561370" cy="8198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6395" lvl="1" indent="-328198" algn="l">
              <a:lnSpc>
                <a:spcPts val="5989"/>
              </a:lnSpc>
              <a:buFont typeface="Arial"/>
              <a:buChar char="•"/>
            </a:pPr>
            <a:r>
              <a:rPr lang="en-US" sz="30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SPI supports half-duplex and full-duplex serial communication.</a:t>
            </a:r>
          </a:p>
          <a:p>
            <a:pPr marL="656395" lvl="1" indent="-328198" algn="l">
              <a:lnSpc>
                <a:spcPts val="5989"/>
              </a:lnSpc>
              <a:buFont typeface="Arial"/>
              <a:buChar char="•"/>
            </a:pPr>
            <a:r>
              <a:rPr lang="en-US" sz="30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It is a synchronous communication protocol (clock is provided along with data).</a:t>
            </a:r>
          </a:p>
          <a:p>
            <a:pPr marL="656395" lvl="1" indent="-328198" algn="l">
              <a:lnSpc>
                <a:spcPts val="5989"/>
              </a:lnSpc>
              <a:buFont typeface="Arial"/>
              <a:buChar char="•"/>
            </a:pPr>
            <a:r>
              <a:rPr lang="en-US" sz="30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SPI is a four-wire communication protocol.</a:t>
            </a:r>
          </a:p>
          <a:p>
            <a:pPr marL="656395" lvl="1" indent="-328198" algn="l">
              <a:lnSpc>
                <a:spcPts val="5989"/>
              </a:lnSpc>
              <a:buFont typeface="Arial"/>
              <a:buChar char="•"/>
            </a:pPr>
            <a:r>
              <a:rPr lang="en-US" sz="30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 most cases, SPI uses a single master and multiple slave configuration, but it also supports multiple master configurations.</a:t>
            </a:r>
          </a:p>
          <a:p>
            <a:pPr marL="656395" lvl="1" indent="-328198" algn="l">
              <a:lnSpc>
                <a:spcPts val="5989"/>
              </a:lnSpc>
              <a:buFont typeface="Arial"/>
              <a:buChar char="•"/>
            </a:pPr>
            <a:r>
              <a:rPr lang="en-US" sz="30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SPI is an on-board, short-range communication protocol used in embedded systems.</a:t>
            </a:r>
          </a:p>
          <a:p>
            <a:pPr marL="656395" lvl="1" indent="-328198" algn="l">
              <a:lnSpc>
                <a:spcPts val="5989"/>
              </a:lnSpc>
              <a:buFont typeface="Arial"/>
              <a:buChar char="•"/>
            </a:pPr>
            <a:r>
              <a:rPr lang="en-US" sz="30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It supports high-speed data transfer, typically up to 10 Mbps.</a:t>
            </a:r>
          </a:p>
          <a:p>
            <a:pPr marL="656395" lvl="1" indent="-328198" algn="l">
              <a:lnSpc>
                <a:spcPts val="5989"/>
              </a:lnSpc>
              <a:buFont typeface="Arial"/>
              <a:buChar char="•"/>
            </a:pPr>
            <a:r>
              <a:rPr lang="en-US" sz="30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The master provides the clock for synchronization.</a:t>
            </a:r>
          </a:p>
          <a:p>
            <a:pPr marL="656395" lvl="1" indent="-328198" algn="l">
              <a:lnSpc>
                <a:spcPts val="5989"/>
              </a:lnSpc>
              <a:buFont typeface="Arial"/>
              <a:buChar char="•"/>
            </a:pPr>
            <a:r>
              <a:rPr lang="en-US" sz="30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SPI supports 8-bit and 16-bit data frame formats.</a:t>
            </a:r>
          </a:p>
          <a:p>
            <a:pPr algn="l">
              <a:lnSpc>
                <a:spcPts val="5989"/>
              </a:lnSpc>
            </a:pPr>
            <a:endParaRPr lang="en-US" sz="304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" name="Freeform 10"/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108878" y="5831553"/>
            <a:ext cx="12454772" cy="3166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46"/>
              </a:lnSpc>
            </a:pPr>
            <a:r>
              <a:rPr lang="en-US" sz="33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SCLK – serial clock, generated by the master </a:t>
            </a:r>
          </a:p>
          <a:p>
            <a:pPr algn="l">
              <a:lnSpc>
                <a:spcPts val="6446"/>
              </a:lnSpc>
            </a:pPr>
            <a:r>
              <a:rPr lang="en-US" sz="33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MOSI –master output/slave input </a:t>
            </a:r>
          </a:p>
          <a:p>
            <a:pPr algn="l">
              <a:lnSpc>
                <a:spcPts val="6446"/>
              </a:lnSpc>
            </a:pPr>
            <a:r>
              <a:rPr lang="en-US" sz="33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MISO –master input/slave output </a:t>
            </a:r>
          </a:p>
          <a:p>
            <a:pPr algn="l">
              <a:lnSpc>
                <a:spcPts val="6446"/>
              </a:lnSpc>
            </a:pPr>
            <a:r>
              <a:rPr lang="en-US" sz="33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SS – slave select/enable signal </a:t>
            </a:r>
          </a:p>
        </p:txBody>
      </p:sp>
      <p:sp>
        <p:nvSpPr>
          <p:cNvPr id="9" name="Freeform 9"/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3964845" y="1424090"/>
            <a:ext cx="10358311" cy="4143324"/>
          </a:xfrm>
          <a:custGeom>
            <a:avLst/>
            <a:gdLst/>
            <a:ahLst/>
            <a:cxnLst/>
            <a:rect l="l" t="t" r="r" b="b"/>
            <a:pathLst>
              <a:path w="10358311" h="4143324">
                <a:moveTo>
                  <a:pt x="0" y="0"/>
                </a:moveTo>
                <a:lnTo>
                  <a:pt x="10358310" y="0"/>
                </a:lnTo>
                <a:lnTo>
                  <a:pt x="10358310" y="4143324"/>
                </a:lnTo>
                <a:lnTo>
                  <a:pt x="0" y="41433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3294209" y="114528"/>
            <a:ext cx="10304404" cy="1309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69"/>
              </a:lnSpc>
            </a:pPr>
            <a:r>
              <a:rPr lang="en-US" sz="7692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SPI CONNECTIONS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919649" y="1909865"/>
            <a:ext cx="12454772" cy="6914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56"/>
              </a:lnSpc>
            </a:pPr>
            <a:r>
              <a:rPr lang="en-US" sz="304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Master selects the slave</a:t>
            </a:r>
          </a:p>
          <a:p>
            <a:pPr marL="656395" lvl="1" indent="-328198" algn="l">
              <a:lnSpc>
                <a:spcPts val="4256"/>
              </a:lnSpc>
              <a:buFont typeface="Arial"/>
              <a:buChar char="•"/>
            </a:pPr>
            <a:r>
              <a:rPr lang="en-US" sz="30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The master pulls SS (Slave Select) LOW to choose the slave device.</a:t>
            </a:r>
          </a:p>
          <a:p>
            <a:pPr algn="l">
              <a:lnSpc>
                <a:spcPts val="4256"/>
              </a:lnSpc>
            </a:pPr>
            <a:r>
              <a:rPr lang="en-US" sz="304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Master generates the clock</a:t>
            </a:r>
          </a:p>
          <a:p>
            <a:pPr marL="656395" lvl="1" indent="-328198" algn="l">
              <a:lnSpc>
                <a:spcPts val="4256"/>
              </a:lnSpc>
              <a:buFont typeface="Arial"/>
              <a:buChar char="•"/>
            </a:pPr>
            <a:r>
              <a:rPr lang="en-US" sz="30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The master provides SCLK, which synchronizes data transfer between master and slave.</a:t>
            </a:r>
          </a:p>
          <a:p>
            <a:pPr algn="l">
              <a:lnSpc>
                <a:spcPts val="4256"/>
              </a:lnSpc>
            </a:pPr>
            <a:r>
              <a:rPr lang="en-US" sz="304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Data transfer happens on clock edges</a:t>
            </a:r>
          </a:p>
          <a:p>
            <a:pPr marL="656395" lvl="1" indent="-328198" algn="l">
              <a:lnSpc>
                <a:spcPts val="4256"/>
              </a:lnSpc>
              <a:buFont typeface="Arial"/>
              <a:buChar char="•"/>
            </a:pPr>
            <a:r>
              <a:rPr lang="en-US" sz="30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Data is sent from Master to Slave on MOSI and from Slave to Master on MISO, based on clock edges (CPOL/CPHA).</a:t>
            </a:r>
          </a:p>
          <a:p>
            <a:pPr algn="l">
              <a:lnSpc>
                <a:spcPts val="4256"/>
              </a:lnSpc>
            </a:pPr>
            <a:r>
              <a:rPr lang="en-US" sz="304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Communication ends by releasing SS</a:t>
            </a:r>
          </a:p>
          <a:p>
            <a:pPr marL="656395" lvl="1" indent="-328198" algn="l">
              <a:lnSpc>
                <a:spcPts val="4256"/>
              </a:lnSpc>
              <a:buFont typeface="Arial"/>
              <a:buChar char="•"/>
            </a:pPr>
            <a:r>
              <a:rPr lang="en-US" sz="30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After data transfer, the master sets SS HIGH, ending the SPI communication.</a:t>
            </a:r>
          </a:p>
          <a:p>
            <a:pPr algn="l">
              <a:lnSpc>
                <a:spcPts val="4256"/>
              </a:lnSpc>
            </a:pPr>
            <a:endParaRPr lang="en-US" sz="304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" name="Freeform 9"/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0462913" y="7978684"/>
            <a:ext cx="4932029" cy="1279616"/>
          </a:xfrm>
          <a:custGeom>
            <a:avLst/>
            <a:gdLst/>
            <a:ahLst/>
            <a:cxnLst/>
            <a:rect l="l" t="t" r="r" b="b"/>
            <a:pathLst>
              <a:path w="4932029" h="1279616">
                <a:moveTo>
                  <a:pt x="0" y="0"/>
                </a:moveTo>
                <a:lnTo>
                  <a:pt x="4932028" y="0"/>
                </a:lnTo>
                <a:lnTo>
                  <a:pt x="4932028" y="1279616"/>
                </a:lnTo>
                <a:lnTo>
                  <a:pt x="0" y="12796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4391749" y="265968"/>
            <a:ext cx="8537178" cy="1309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69"/>
              </a:lnSpc>
            </a:pPr>
            <a:r>
              <a:rPr lang="en-US" sz="7692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WORKING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32124" y="63032"/>
            <a:ext cx="14875719" cy="1134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69"/>
              </a:lnSpc>
            </a:pPr>
            <a:r>
              <a:rPr lang="en-US" sz="6692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CPOL &amp; CPHA TIMING DIAGRAM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2830166" y="1967015"/>
            <a:ext cx="5304819" cy="3426913"/>
          </a:xfrm>
          <a:custGeom>
            <a:avLst/>
            <a:gdLst/>
            <a:ahLst/>
            <a:cxnLst/>
            <a:rect l="l" t="t" r="r" b="b"/>
            <a:pathLst>
              <a:path w="5304819" h="3426913">
                <a:moveTo>
                  <a:pt x="0" y="0"/>
                </a:moveTo>
                <a:lnTo>
                  <a:pt x="5304819" y="0"/>
                </a:lnTo>
                <a:lnTo>
                  <a:pt x="5304819" y="3426913"/>
                </a:lnTo>
                <a:lnTo>
                  <a:pt x="0" y="34269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156860" y="1967015"/>
            <a:ext cx="11301259" cy="5678883"/>
          </a:xfrm>
          <a:custGeom>
            <a:avLst/>
            <a:gdLst/>
            <a:ahLst/>
            <a:cxnLst/>
            <a:rect l="l" t="t" r="r" b="b"/>
            <a:pathLst>
              <a:path w="11301259" h="5678883">
                <a:moveTo>
                  <a:pt x="0" y="0"/>
                </a:moveTo>
                <a:lnTo>
                  <a:pt x="11301259" y="0"/>
                </a:lnTo>
                <a:lnTo>
                  <a:pt x="11301259" y="5678882"/>
                </a:lnTo>
                <a:lnTo>
                  <a:pt x="0" y="56788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01295" y="-142875"/>
            <a:ext cx="14062085" cy="1293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29"/>
              </a:lnSpc>
            </a:pPr>
            <a:r>
              <a:rPr lang="en-US" sz="7592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SPI MODES OF OPERATION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716157" y="1051426"/>
            <a:ext cx="14543143" cy="8534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14"/>
              </a:lnSpc>
            </a:pPr>
            <a:r>
              <a:rPr lang="en-US" sz="264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1.Run Mode (Normal Mode)</a:t>
            </a:r>
          </a:p>
          <a:p>
            <a:pPr marL="570038" lvl="1" indent="-285019" algn="l">
              <a:lnSpc>
                <a:spcPts val="4514"/>
              </a:lnSpc>
              <a:buFont typeface="Arial"/>
              <a:buChar char="•"/>
            </a:pPr>
            <a:r>
              <a:rPr lang="en-US" sz="26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SPI works normally</a:t>
            </a:r>
          </a:p>
          <a:p>
            <a:pPr marL="570038" lvl="1" indent="-285019" algn="l">
              <a:lnSpc>
                <a:spcPts val="4514"/>
              </a:lnSpc>
              <a:buFont typeface="Arial"/>
              <a:buChar char="•"/>
            </a:pPr>
            <a:r>
              <a:rPr lang="en-US" sz="26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Clock is ON</a:t>
            </a:r>
          </a:p>
          <a:p>
            <a:pPr marL="570038" lvl="1" indent="-285019" algn="l">
              <a:lnSpc>
                <a:spcPts val="4514"/>
              </a:lnSpc>
              <a:buFont typeface="Arial"/>
              <a:buChar char="•"/>
            </a:pPr>
            <a:r>
              <a:rPr lang="en-US" sz="26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Data transmission and reception occur as usual</a:t>
            </a:r>
          </a:p>
          <a:p>
            <a:pPr marL="570038" lvl="1" indent="-285019" algn="l">
              <a:lnSpc>
                <a:spcPts val="4514"/>
              </a:lnSpc>
              <a:buFont typeface="Arial"/>
              <a:buChar char="•"/>
            </a:pPr>
            <a:r>
              <a:rPr lang="en-US" sz="26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Used during regular operation</a:t>
            </a:r>
          </a:p>
          <a:p>
            <a:pPr algn="l">
              <a:lnSpc>
                <a:spcPts val="4514"/>
              </a:lnSpc>
            </a:pPr>
            <a:r>
              <a:rPr lang="en-US" sz="264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2. Wait Mode (Low-Power but Smart Mode)</a:t>
            </a:r>
          </a:p>
          <a:p>
            <a:pPr algn="l">
              <a:lnSpc>
                <a:spcPts val="4514"/>
              </a:lnSpc>
            </a:pPr>
            <a:r>
              <a:rPr lang="en-US" sz="26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Wait mode behavior depends on SPISWAI bit.</a:t>
            </a:r>
          </a:p>
          <a:p>
            <a:pPr marL="570038" lvl="1" indent="-285019" algn="l">
              <a:lnSpc>
                <a:spcPts val="4514"/>
              </a:lnSpc>
              <a:buFont typeface="Arial"/>
              <a:buChar char="•"/>
            </a:pPr>
            <a:r>
              <a:rPr lang="en-US" sz="26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If SPISWAI = 0,   SPI behaves exactly like Run Mode, No power saving.</a:t>
            </a:r>
          </a:p>
          <a:p>
            <a:pPr marL="570038" lvl="1" indent="-285019" algn="l">
              <a:lnSpc>
                <a:spcPts val="4514"/>
              </a:lnSpc>
              <a:buFont typeface="Arial"/>
              <a:buChar char="•"/>
            </a:pPr>
            <a:r>
              <a:rPr lang="en-US" sz="26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If SPISWAI = 1,    SPI clock generation is turned OFF to save power.</a:t>
            </a:r>
          </a:p>
          <a:p>
            <a:pPr algn="l">
              <a:lnSpc>
                <a:spcPts val="4514"/>
              </a:lnSpc>
            </a:pPr>
            <a:r>
              <a:rPr lang="en-US" sz="264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Master Mode</a:t>
            </a:r>
          </a:p>
          <a:p>
            <a:pPr marL="570038" lvl="1" indent="-285019" algn="l">
              <a:lnSpc>
                <a:spcPts val="4514"/>
              </a:lnSpc>
              <a:buFont typeface="Arial"/>
              <a:buChar char="•"/>
            </a:pPr>
            <a:r>
              <a:rPr lang="en-US" sz="26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Ongoing transmission pauses</a:t>
            </a:r>
          </a:p>
          <a:p>
            <a:pPr marL="570038" lvl="1" indent="-285019" algn="l">
              <a:lnSpc>
                <a:spcPts val="4514"/>
              </a:lnSpc>
              <a:buFont typeface="Arial"/>
              <a:buChar char="•"/>
            </a:pPr>
            <a:r>
              <a:rPr lang="en-US" sz="26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Transmission resumes when CPU returns to Run Mode</a:t>
            </a:r>
          </a:p>
          <a:p>
            <a:pPr algn="l">
              <a:lnSpc>
                <a:spcPts val="4514"/>
              </a:lnSpc>
            </a:pPr>
            <a:r>
              <a:rPr lang="en-US" sz="264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Slave Mode</a:t>
            </a:r>
          </a:p>
          <a:p>
            <a:pPr marL="570038" lvl="1" indent="-285019" algn="l">
              <a:lnSpc>
                <a:spcPts val="4514"/>
              </a:lnSpc>
              <a:buFont typeface="Arial"/>
              <a:buChar char="•"/>
            </a:pPr>
            <a:r>
              <a:rPr lang="en-US" sz="26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SPI continues receiving and transmitting</a:t>
            </a:r>
          </a:p>
          <a:p>
            <a:pPr marL="570038" lvl="1" indent="-285019" algn="l">
              <a:lnSpc>
                <a:spcPts val="4514"/>
              </a:lnSpc>
              <a:buFont typeface="Arial"/>
              <a:buChar char="•"/>
            </a:pPr>
            <a:r>
              <a:rPr lang="en-US" sz="26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This keeps the slave synchronized with the master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01295" y="-142875"/>
            <a:ext cx="14062085" cy="1293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29"/>
              </a:lnSpc>
            </a:pPr>
            <a:r>
              <a:rPr lang="en-US" sz="7592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SPI MODES OF OPERATION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948687" y="1284101"/>
            <a:ext cx="12130193" cy="3730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27"/>
              </a:lnSpc>
            </a:pPr>
            <a:r>
              <a:rPr lang="en-US" sz="294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3.Stop Mode (Deep Sleep Mode)</a:t>
            </a:r>
          </a:p>
          <a:p>
            <a:pPr marL="634806" lvl="1" indent="-317403" algn="l">
              <a:lnSpc>
                <a:spcPts val="6027"/>
              </a:lnSpc>
              <a:buFont typeface="Arial"/>
              <a:buChar char="•"/>
            </a:pPr>
            <a:r>
              <a:rPr lang="en-US" sz="29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Maximum power saving</a:t>
            </a:r>
          </a:p>
          <a:p>
            <a:pPr marL="634806" lvl="1" indent="-317403" algn="l">
              <a:lnSpc>
                <a:spcPts val="6027"/>
              </a:lnSpc>
              <a:buFont typeface="Arial"/>
              <a:buChar char="•"/>
            </a:pPr>
            <a:r>
              <a:rPr lang="en-US" sz="29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Master: Transmission stops, resumes in Run Mode</a:t>
            </a:r>
          </a:p>
          <a:p>
            <a:pPr marL="634806" lvl="1" indent="-317403" algn="l">
              <a:lnSpc>
                <a:spcPts val="6027"/>
              </a:lnSpc>
              <a:buFont typeface="Arial"/>
              <a:buChar char="•"/>
            </a:pPr>
            <a:r>
              <a:rPr lang="en-US" sz="29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Slave: Completes current byte and maintains synchronization</a:t>
            </a:r>
          </a:p>
          <a:p>
            <a:pPr algn="l">
              <a:lnSpc>
                <a:spcPts val="6027"/>
              </a:lnSpc>
            </a:pPr>
            <a:endParaRPr lang="en-US" sz="294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29762" y="243833"/>
            <a:ext cx="14910388" cy="9203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49"/>
              </a:lnSpc>
            </a:pPr>
            <a:r>
              <a:rPr lang="en-US" sz="5392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MEMORY MAP/REGISTER DEFINITION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aphicFrame>
        <p:nvGraphicFramePr>
          <p:cNvPr id="14" name="Object 14"/>
          <p:cNvGraphicFramePr/>
          <p:nvPr>
            <p:extLst>
              <p:ext uri="{D42A27DB-BD31-4B8C-83A1-F6EECF244321}">
                <p14:modId xmlns:p14="http://schemas.microsoft.com/office/powerpoint/2010/main" val="224674018"/>
              </p:ext>
            </p:extLst>
          </p:nvPr>
        </p:nvGraphicFramePr>
        <p:xfrm>
          <a:off x="3124200" y="3576072"/>
          <a:ext cx="6685418" cy="51776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6781800" imgH="6781800" progId="Excel.Sheet.12">
                  <p:embed/>
                </p:oleObj>
              </mc:Choice>
              <mc:Fallback>
                <p:oleObj name="Worksheet" r:id="rId4" imgW="6781800" imgH="67818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124200" y="3576072"/>
                        <a:ext cx="6685418" cy="51776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5"/>
          <p:cNvSpPr txBox="1"/>
          <p:nvPr/>
        </p:nvSpPr>
        <p:spPr>
          <a:xfrm>
            <a:off x="1941105" y="1420010"/>
            <a:ext cx="13085021" cy="1250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85932" lvl="1" indent="-392966" algn="l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This section describes the address space and registers used by the SPI module.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8F64672-2A9A-6975-521D-717A6CE51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1" y="3047389"/>
            <a:ext cx="11807350" cy="5890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2837899" y="1436173"/>
            <a:ext cx="12075269" cy="1796196"/>
          </a:xfrm>
          <a:custGeom>
            <a:avLst/>
            <a:gdLst/>
            <a:ahLst/>
            <a:cxnLst/>
            <a:rect l="l" t="t" r="r" b="b"/>
            <a:pathLst>
              <a:path w="12075269" h="1796196">
                <a:moveTo>
                  <a:pt x="0" y="0"/>
                </a:moveTo>
                <a:lnTo>
                  <a:pt x="12075269" y="0"/>
                </a:lnTo>
                <a:lnTo>
                  <a:pt x="12075269" y="1796196"/>
                </a:lnTo>
                <a:lnTo>
                  <a:pt x="0" y="17961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3169590" y="155597"/>
            <a:ext cx="11948821" cy="1220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29"/>
              </a:lnSpc>
            </a:pPr>
            <a:r>
              <a:rPr lang="en-US" sz="7092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SPI CONTROL REGISTER 1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69057" y="3824812"/>
            <a:ext cx="10581336" cy="5247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56"/>
              </a:lnSpc>
            </a:pPr>
            <a:r>
              <a:rPr lang="en-US" sz="304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SPIE – SPI Interrupt Enable</a:t>
            </a:r>
          </a:p>
          <a:p>
            <a:pPr marL="656395" lvl="1" indent="-328198" algn="l">
              <a:lnSpc>
                <a:spcPts val="4256"/>
              </a:lnSpc>
              <a:buFont typeface="Arial"/>
              <a:buChar char="•"/>
            </a:pPr>
            <a:r>
              <a:rPr lang="en-US" sz="30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Enables SPI interrupts</a:t>
            </a:r>
          </a:p>
          <a:p>
            <a:pPr marL="656395" lvl="1" indent="-328198" algn="l">
              <a:lnSpc>
                <a:spcPts val="4256"/>
              </a:lnSpc>
              <a:buFont typeface="Arial"/>
              <a:buChar char="•"/>
            </a:pPr>
            <a:r>
              <a:rPr lang="en-US" sz="30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Interrupt occurs when:</a:t>
            </a:r>
          </a:p>
          <a:p>
            <a:pPr marL="1312791" lvl="2" indent="-437597" algn="l">
              <a:lnSpc>
                <a:spcPts val="4256"/>
              </a:lnSpc>
              <a:buFont typeface="Arial"/>
              <a:buChar char="⚬"/>
            </a:pPr>
            <a:r>
              <a:rPr lang="en-US" sz="30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SPIF (receive complete) OR</a:t>
            </a:r>
          </a:p>
          <a:p>
            <a:pPr marL="1312791" lvl="2" indent="-437597" algn="l">
              <a:lnSpc>
                <a:spcPts val="4256"/>
              </a:lnSpc>
              <a:buFont typeface="Arial"/>
              <a:buChar char="⚬"/>
            </a:pPr>
            <a:r>
              <a:rPr lang="en-US" sz="30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MODF (mode fault) is set</a:t>
            </a:r>
          </a:p>
          <a:p>
            <a:pPr algn="l">
              <a:lnSpc>
                <a:spcPts val="4256"/>
              </a:lnSpc>
            </a:pPr>
            <a:r>
              <a:rPr lang="en-US" sz="30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Values:</a:t>
            </a:r>
          </a:p>
          <a:p>
            <a:pPr marL="570038" lvl="1" indent="-285019" algn="l">
              <a:lnSpc>
                <a:spcPts val="3696"/>
              </a:lnSpc>
              <a:buFont typeface="Arial"/>
              <a:buChar char="•"/>
            </a:pPr>
            <a:r>
              <a:rPr lang="en-US" sz="26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 → SPI interrupts enabled</a:t>
            </a:r>
          </a:p>
          <a:p>
            <a:pPr marL="656395" lvl="1" indent="-328198" algn="l">
              <a:lnSpc>
                <a:spcPts val="4256"/>
              </a:lnSpc>
              <a:buFont typeface="Arial"/>
              <a:buChar char="•"/>
            </a:pPr>
            <a:r>
              <a:rPr lang="en-US" sz="30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0 → SPI interrupts disabled</a:t>
            </a:r>
          </a:p>
          <a:p>
            <a:pPr algn="l">
              <a:lnSpc>
                <a:spcPts val="4256"/>
              </a:lnSpc>
            </a:pPr>
            <a:endParaRPr lang="en-US" sz="304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4256"/>
              </a:lnSpc>
            </a:pPr>
            <a:endParaRPr lang="en-US" sz="304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9460240" y="3175219"/>
            <a:ext cx="10581336" cy="4247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56"/>
              </a:lnSpc>
            </a:pPr>
            <a:endParaRPr/>
          </a:p>
          <a:p>
            <a:pPr algn="l">
              <a:lnSpc>
                <a:spcPts val="4256"/>
              </a:lnSpc>
            </a:pPr>
            <a:r>
              <a:rPr lang="en-US" sz="304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SPE – SPI System Enable</a:t>
            </a:r>
          </a:p>
          <a:p>
            <a:pPr marL="656395" lvl="1" indent="-328198" algn="l">
              <a:lnSpc>
                <a:spcPts val="4256"/>
              </a:lnSpc>
              <a:buFont typeface="Arial"/>
              <a:buChar char="•"/>
            </a:pPr>
            <a:r>
              <a:rPr lang="en-US" sz="30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Turns the SPI module ON or OFF</a:t>
            </a:r>
          </a:p>
          <a:p>
            <a:pPr marL="656395" lvl="1" indent="-328198" algn="l">
              <a:lnSpc>
                <a:spcPts val="4256"/>
              </a:lnSpc>
              <a:buFont typeface="Arial"/>
              <a:buChar char="•"/>
            </a:pPr>
            <a:r>
              <a:rPr lang="en-US" sz="30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Assigns SPI function to port pins</a:t>
            </a:r>
          </a:p>
          <a:p>
            <a:pPr algn="l">
              <a:lnSpc>
                <a:spcPts val="4256"/>
              </a:lnSpc>
            </a:pPr>
            <a:r>
              <a:rPr lang="en-US" sz="30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Values:</a:t>
            </a:r>
          </a:p>
          <a:p>
            <a:pPr marL="656395" lvl="1" indent="-328198" algn="l">
              <a:lnSpc>
                <a:spcPts val="4256"/>
              </a:lnSpc>
              <a:buFont typeface="Arial"/>
              <a:buChar char="•"/>
            </a:pPr>
            <a:r>
              <a:rPr lang="en-US" sz="30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 → SPI enabled, pins used for SPI</a:t>
            </a:r>
          </a:p>
          <a:p>
            <a:pPr marL="656395" lvl="1" indent="-328198" algn="l">
              <a:lnSpc>
                <a:spcPts val="4256"/>
              </a:lnSpc>
              <a:buFont typeface="Arial"/>
              <a:buChar char="•"/>
            </a:pPr>
            <a:r>
              <a:rPr lang="en-US" sz="30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0 → SPI disabled, low power, idle state</a:t>
            </a:r>
          </a:p>
          <a:p>
            <a:pPr algn="l">
              <a:lnSpc>
                <a:spcPts val="4256"/>
              </a:lnSpc>
            </a:pPr>
            <a:endParaRPr lang="en-US" sz="304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2651875" y="2099125"/>
            <a:ext cx="9344612" cy="8115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23"/>
              </a:lnSpc>
            </a:pPr>
            <a:r>
              <a:rPr lang="en-US" sz="2684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SPTIE – SPI Transmit Interrupt Enable</a:t>
            </a:r>
          </a:p>
          <a:p>
            <a:pPr marL="579677" lvl="1" indent="-289839" algn="l">
              <a:lnSpc>
                <a:spcPts val="5423"/>
              </a:lnSpc>
              <a:buFont typeface="Arial"/>
              <a:buChar char="•"/>
            </a:pPr>
            <a:r>
              <a:rPr lang="en-US" sz="2684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Enables interrupt when transmit buffer is empty (SPTEF)</a:t>
            </a:r>
          </a:p>
          <a:p>
            <a:pPr algn="l">
              <a:lnSpc>
                <a:spcPts val="5423"/>
              </a:lnSpc>
            </a:pPr>
            <a:r>
              <a:rPr lang="en-US" sz="2684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Values:</a:t>
            </a:r>
          </a:p>
          <a:p>
            <a:pPr marL="579677" lvl="1" indent="-289839" algn="l">
              <a:lnSpc>
                <a:spcPts val="5423"/>
              </a:lnSpc>
              <a:buFont typeface="Arial"/>
              <a:buChar char="•"/>
            </a:pPr>
            <a:r>
              <a:rPr lang="en-US" sz="2684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 → SPTEF interrupt enabled</a:t>
            </a:r>
          </a:p>
          <a:p>
            <a:pPr marL="579677" lvl="1" indent="-289839" algn="l">
              <a:lnSpc>
                <a:spcPts val="5423"/>
              </a:lnSpc>
              <a:buFont typeface="Arial"/>
              <a:buChar char="•"/>
            </a:pPr>
            <a:r>
              <a:rPr lang="en-US" sz="2684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0 → SPTEF interrupt disabled</a:t>
            </a:r>
          </a:p>
          <a:p>
            <a:pPr algn="l">
              <a:lnSpc>
                <a:spcPts val="5423"/>
              </a:lnSpc>
            </a:pPr>
            <a:r>
              <a:rPr lang="en-US" sz="2684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MSTR – Master / Slave Select</a:t>
            </a:r>
          </a:p>
          <a:p>
            <a:pPr marL="579677" lvl="1" indent="-289839" algn="l">
              <a:lnSpc>
                <a:spcPts val="5423"/>
              </a:lnSpc>
              <a:buFont typeface="Arial"/>
              <a:buChar char="•"/>
            </a:pPr>
            <a:r>
              <a:rPr lang="en-US" sz="2684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Selects SPI operating mode</a:t>
            </a:r>
          </a:p>
          <a:p>
            <a:pPr algn="l">
              <a:lnSpc>
                <a:spcPts val="5423"/>
              </a:lnSpc>
            </a:pPr>
            <a:r>
              <a:rPr lang="en-US" sz="2684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Values:</a:t>
            </a:r>
          </a:p>
          <a:p>
            <a:pPr marL="579677" lvl="1" indent="-289839" algn="l">
              <a:lnSpc>
                <a:spcPts val="5423"/>
              </a:lnSpc>
              <a:buFont typeface="Arial"/>
              <a:buChar char="•"/>
            </a:pPr>
            <a:r>
              <a:rPr lang="en-US" sz="2684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 → Master mode</a:t>
            </a:r>
          </a:p>
          <a:p>
            <a:pPr marL="579677" lvl="1" indent="-289839" algn="l">
              <a:lnSpc>
                <a:spcPts val="5423"/>
              </a:lnSpc>
              <a:buFont typeface="Arial"/>
              <a:buChar char="•"/>
            </a:pPr>
            <a:r>
              <a:rPr lang="en-US" sz="2684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0 → Slave mode</a:t>
            </a:r>
          </a:p>
          <a:p>
            <a:pPr algn="l">
              <a:lnSpc>
                <a:spcPts val="5423"/>
              </a:lnSpc>
            </a:pPr>
            <a:endParaRPr lang="en-US" sz="2684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2651875" y="293317"/>
            <a:ext cx="12388121" cy="1842733"/>
          </a:xfrm>
          <a:custGeom>
            <a:avLst/>
            <a:gdLst/>
            <a:ahLst/>
            <a:cxnLst/>
            <a:rect l="l" t="t" r="r" b="b"/>
            <a:pathLst>
              <a:path w="12388121" h="1842733">
                <a:moveTo>
                  <a:pt x="0" y="0"/>
                </a:moveTo>
                <a:lnTo>
                  <a:pt x="12388122" y="0"/>
                </a:lnTo>
                <a:lnTo>
                  <a:pt x="12388122" y="1842733"/>
                </a:lnTo>
                <a:lnTo>
                  <a:pt x="0" y="18427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569057" y="2333041"/>
            <a:ext cx="8716904" cy="63244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2"/>
              </a:lnSpc>
            </a:pPr>
            <a:r>
              <a:rPr lang="en-US" sz="2504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CPOL – SPI Clock Polarity</a:t>
            </a:r>
          </a:p>
          <a:p>
            <a:pPr marL="540739" lvl="1" indent="-270369" algn="l">
              <a:lnSpc>
                <a:spcPts val="3832"/>
              </a:lnSpc>
              <a:buFont typeface="Arial"/>
              <a:buChar char="•"/>
            </a:pPr>
            <a:r>
              <a:rPr lang="en-US" sz="250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Selects the idle level of SPI clock (SCK)</a:t>
            </a:r>
          </a:p>
          <a:p>
            <a:pPr marL="540739" lvl="1" indent="-270369" algn="l">
              <a:lnSpc>
                <a:spcPts val="3832"/>
              </a:lnSpc>
              <a:buFont typeface="Arial"/>
              <a:buChar char="•"/>
            </a:pPr>
            <a:r>
              <a:rPr lang="en-US" sz="250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Master and Slave must use the same CPOL</a:t>
            </a:r>
          </a:p>
          <a:p>
            <a:pPr marL="540739" lvl="1" indent="-270369" algn="l">
              <a:lnSpc>
                <a:spcPts val="3832"/>
              </a:lnSpc>
              <a:buFont typeface="Arial"/>
              <a:buChar char="•"/>
            </a:pPr>
            <a:r>
              <a:rPr lang="en-US" sz="250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Changing CPOL during transmission aborts transfer</a:t>
            </a:r>
          </a:p>
          <a:p>
            <a:pPr algn="l">
              <a:lnSpc>
                <a:spcPts val="3832"/>
              </a:lnSpc>
            </a:pPr>
            <a:r>
              <a:rPr lang="en-US" sz="250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Values:</a:t>
            </a:r>
          </a:p>
          <a:p>
            <a:pPr marL="540739" lvl="1" indent="-270369" algn="l">
              <a:lnSpc>
                <a:spcPts val="3832"/>
              </a:lnSpc>
              <a:buFont typeface="Arial"/>
              <a:buChar char="•"/>
            </a:pPr>
            <a:r>
              <a:rPr lang="en-US" sz="250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CPOL = 0</a:t>
            </a:r>
          </a:p>
          <a:p>
            <a:pPr marL="1081478" lvl="2" indent="-360493" algn="l">
              <a:lnSpc>
                <a:spcPts val="3832"/>
              </a:lnSpc>
              <a:buFont typeface="Arial"/>
              <a:buChar char="⚬"/>
            </a:pPr>
            <a:r>
              <a:rPr lang="en-US" sz="250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Clock idle = LOW</a:t>
            </a:r>
          </a:p>
          <a:p>
            <a:pPr marL="1081478" lvl="2" indent="-360493" algn="l">
              <a:lnSpc>
                <a:spcPts val="3832"/>
              </a:lnSpc>
              <a:buFont typeface="Arial"/>
              <a:buChar char="⚬"/>
            </a:pPr>
            <a:r>
              <a:rPr lang="en-US" sz="250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Active-high clock</a:t>
            </a:r>
          </a:p>
          <a:p>
            <a:pPr marL="540739" lvl="1" indent="-270369" algn="l">
              <a:lnSpc>
                <a:spcPts val="4082"/>
              </a:lnSpc>
              <a:buFont typeface="Arial"/>
              <a:buChar char="•"/>
            </a:pPr>
            <a:r>
              <a:rPr lang="en-US" sz="250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CPOL = 1</a:t>
            </a:r>
          </a:p>
          <a:p>
            <a:pPr marL="1081478" lvl="2" indent="-360493" algn="l">
              <a:lnSpc>
                <a:spcPts val="3832"/>
              </a:lnSpc>
              <a:buFont typeface="Arial"/>
              <a:buChar char="⚬"/>
            </a:pPr>
            <a:r>
              <a:rPr lang="en-US" sz="250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Clock idle = HIGH</a:t>
            </a:r>
          </a:p>
          <a:p>
            <a:pPr marL="1081478" lvl="2" indent="-360493" algn="l">
              <a:lnSpc>
                <a:spcPts val="3832"/>
              </a:lnSpc>
              <a:buFont typeface="Arial"/>
              <a:buChar char="⚬"/>
            </a:pPr>
            <a:r>
              <a:rPr lang="en-US" sz="250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Active-low clock</a:t>
            </a:r>
          </a:p>
          <a:p>
            <a:pPr algn="l">
              <a:lnSpc>
                <a:spcPts val="3832"/>
              </a:lnSpc>
            </a:pPr>
            <a:endParaRPr lang="en-US" sz="2504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832"/>
              </a:lnSpc>
            </a:pPr>
            <a:endParaRPr lang="en-US" sz="2504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8145206" y="3891573"/>
            <a:ext cx="7854702" cy="6354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42"/>
              </a:lnSpc>
            </a:pPr>
            <a:endParaRPr/>
          </a:p>
          <a:p>
            <a:pPr algn="l">
              <a:lnSpc>
                <a:spcPts val="4242"/>
              </a:lnSpc>
            </a:pPr>
            <a:r>
              <a:rPr lang="en-US" sz="2356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CPHA – SPI Clock Phase</a:t>
            </a:r>
          </a:p>
          <a:p>
            <a:pPr marL="508843" lvl="1" indent="-254421" algn="l">
              <a:lnSpc>
                <a:spcPts val="4242"/>
              </a:lnSpc>
              <a:buFont typeface="Arial"/>
              <a:buChar char="•"/>
            </a:pPr>
            <a:r>
              <a:rPr lang="en-US" sz="235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Selects when data is sampled</a:t>
            </a:r>
          </a:p>
          <a:p>
            <a:pPr marL="508843" lvl="1" indent="-254421" algn="l">
              <a:lnSpc>
                <a:spcPts val="4242"/>
              </a:lnSpc>
              <a:buFont typeface="Arial"/>
              <a:buChar char="•"/>
            </a:pPr>
            <a:r>
              <a:rPr lang="en-US" sz="235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Master and Slave must use the same CPHA</a:t>
            </a:r>
          </a:p>
          <a:p>
            <a:pPr marL="508843" lvl="1" indent="-254421" algn="l">
              <a:lnSpc>
                <a:spcPts val="4242"/>
              </a:lnSpc>
              <a:buFont typeface="Arial"/>
              <a:buChar char="•"/>
            </a:pPr>
            <a:r>
              <a:rPr lang="en-US" sz="235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Changing CPHA during transmission aborts transfer</a:t>
            </a:r>
          </a:p>
          <a:p>
            <a:pPr algn="l">
              <a:lnSpc>
                <a:spcPts val="4242"/>
              </a:lnSpc>
            </a:pPr>
            <a:r>
              <a:rPr lang="en-US" sz="235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Values:</a:t>
            </a:r>
          </a:p>
          <a:p>
            <a:pPr marL="508843" lvl="1" indent="-254421" algn="l">
              <a:lnSpc>
                <a:spcPts val="4242"/>
              </a:lnSpc>
              <a:buFont typeface="Arial"/>
              <a:buChar char="•"/>
            </a:pPr>
            <a:r>
              <a:rPr lang="en-US" sz="235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CPHA = 0</a:t>
            </a:r>
          </a:p>
          <a:p>
            <a:pPr marL="1017686" lvl="2" indent="-339229" algn="l">
              <a:lnSpc>
                <a:spcPts val="4242"/>
              </a:lnSpc>
              <a:buFont typeface="Arial"/>
              <a:buChar char="⚬"/>
            </a:pPr>
            <a:r>
              <a:rPr lang="en-US" sz="235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Data sampled on first (odd) clock edge</a:t>
            </a:r>
          </a:p>
          <a:p>
            <a:pPr marL="508843" lvl="1" indent="-254421" algn="l">
              <a:lnSpc>
                <a:spcPts val="4242"/>
              </a:lnSpc>
              <a:buFont typeface="Arial"/>
              <a:buChar char="•"/>
            </a:pPr>
            <a:r>
              <a:rPr lang="en-US" sz="235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CPHA = 1</a:t>
            </a:r>
          </a:p>
          <a:p>
            <a:pPr marL="1017686" lvl="2" indent="-339229" algn="l">
              <a:lnSpc>
                <a:spcPts val="4242"/>
              </a:lnSpc>
              <a:buFont typeface="Arial"/>
              <a:buChar char="⚬"/>
            </a:pPr>
            <a:r>
              <a:rPr lang="en-US" sz="235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Data sampled on second (even) clock edge</a:t>
            </a:r>
          </a:p>
          <a:p>
            <a:pPr algn="l">
              <a:lnSpc>
                <a:spcPts val="4242"/>
              </a:lnSpc>
            </a:pPr>
            <a:endParaRPr lang="en-US" sz="2356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4242"/>
              </a:lnSpc>
            </a:pPr>
            <a:endParaRPr lang="en-US" sz="2356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" name="Freeform 15"/>
          <p:cNvSpPr/>
          <p:nvPr/>
        </p:nvSpPr>
        <p:spPr>
          <a:xfrm>
            <a:off x="12197686" y="705309"/>
            <a:ext cx="5304819" cy="3426913"/>
          </a:xfrm>
          <a:custGeom>
            <a:avLst/>
            <a:gdLst/>
            <a:ahLst/>
            <a:cxnLst/>
            <a:rect l="l" t="t" r="r" b="b"/>
            <a:pathLst>
              <a:path w="5304819" h="3426913">
                <a:moveTo>
                  <a:pt x="0" y="0"/>
                </a:moveTo>
                <a:lnTo>
                  <a:pt x="5304818" y="0"/>
                </a:lnTo>
                <a:lnTo>
                  <a:pt x="5304818" y="3426913"/>
                </a:lnTo>
                <a:lnTo>
                  <a:pt x="0" y="34269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2442414" y="527458"/>
            <a:ext cx="9630142" cy="1432484"/>
          </a:xfrm>
          <a:custGeom>
            <a:avLst/>
            <a:gdLst/>
            <a:ahLst/>
            <a:cxnLst/>
            <a:rect l="l" t="t" r="r" b="b"/>
            <a:pathLst>
              <a:path w="9630142" h="1432484">
                <a:moveTo>
                  <a:pt x="0" y="0"/>
                </a:moveTo>
                <a:lnTo>
                  <a:pt x="9630143" y="0"/>
                </a:lnTo>
                <a:lnTo>
                  <a:pt x="9630143" y="1432484"/>
                </a:lnTo>
                <a:lnTo>
                  <a:pt x="0" y="14324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922503" y="2152130"/>
            <a:ext cx="8716904" cy="1438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2"/>
              </a:lnSpc>
            </a:pPr>
            <a:r>
              <a:rPr lang="en-US" sz="2504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SSOE (SS Output Enable)</a:t>
            </a:r>
          </a:p>
          <a:p>
            <a:pPr marL="540739" lvl="1" indent="-270369" algn="l">
              <a:lnSpc>
                <a:spcPts val="3832"/>
              </a:lnSpc>
              <a:buFont typeface="Arial"/>
              <a:buChar char="•"/>
            </a:pPr>
            <a:r>
              <a:rPr lang="en-US" sz="250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Decides whether master drives SS or not</a:t>
            </a:r>
          </a:p>
          <a:p>
            <a:pPr algn="l">
              <a:lnSpc>
                <a:spcPts val="3832"/>
              </a:lnSpc>
            </a:pPr>
            <a:endParaRPr lang="en-US" sz="2504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2145731" y="3305043"/>
            <a:ext cx="10688756" cy="5020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MODFEN = 0 (Mode-fault disabled)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SSOE                                              Meaning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0                                             SPI does not use SS 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                                             SPI still does not use SS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endParaRPr lang="en-US" sz="2599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MODFEN = 1 (Mode-fault enabled)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SSOE                                               Meaning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0                                             SS is input (used for fault detection)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                                              SS is output (master drives SS)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endParaRPr lang="en-US" sz="2599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639"/>
              </a:lnSpc>
              <a:spcBef>
                <a:spcPct val="0"/>
              </a:spcBef>
            </a:pPr>
            <a:endParaRPr lang="en-US" sz="2599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" name="Freeform 15"/>
          <p:cNvSpPr/>
          <p:nvPr/>
        </p:nvSpPr>
        <p:spPr>
          <a:xfrm>
            <a:off x="2391442" y="170818"/>
            <a:ext cx="12075269" cy="1796196"/>
          </a:xfrm>
          <a:custGeom>
            <a:avLst/>
            <a:gdLst/>
            <a:ahLst/>
            <a:cxnLst/>
            <a:rect l="l" t="t" r="r" b="b"/>
            <a:pathLst>
              <a:path w="12075269" h="1796196">
                <a:moveTo>
                  <a:pt x="0" y="0"/>
                </a:moveTo>
                <a:lnTo>
                  <a:pt x="12075269" y="0"/>
                </a:lnTo>
                <a:lnTo>
                  <a:pt x="12075269" y="1796197"/>
                </a:lnTo>
                <a:lnTo>
                  <a:pt x="0" y="17961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928214" y="2391275"/>
            <a:ext cx="12823110" cy="620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02"/>
              </a:lnSpc>
            </a:pPr>
            <a:r>
              <a:rPr lang="en-US" sz="304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LSBFE — LSB-First Enable</a:t>
            </a:r>
          </a:p>
          <a:p>
            <a:pPr marL="656395" lvl="1" indent="-328198" algn="l">
              <a:lnSpc>
                <a:spcPts val="5502"/>
              </a:lnSpc>
              <a:buFont typeface="Arial"/>
              <a:buChar char="•"/>
            </a:pPr>
            <a:r>
              <a:rPr lang="en-US" sz="30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Controls the bit transmission order in SPI communication</a:t>
            </a:r>
          </a:p>
          <a:p>
            <a:pPr algn="l">
              <a:lnSpc>
                <a:spcPts val="5502"/>
              </a:lnSpc>
            </a:pPr>
            <a:r>
              <a:rPr lang="en-US" sz="304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Operation</a:t>
            </a:r>
          </a:p>
          <a:p>
            <a:pPr marL="656395" lvl="1" indent="-328198" algn="l">
              <a:lnSpc>
                <a:spcPts val="5502"/>
              </a:lnSpc>
              <a:buFont typeface="Arial"/>
              <a:buChar char="•"/>
            </a:pPr>
            <a:r>
              <a:rPr lang="en-US" sz="30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LSBFE = 1</a:t>
            </a:r>
          </a:p>
          <a:p>
            <a:pPr marL="1969186" lvl="3" indent="-492297" algn="l">
              <a:lnSpc>
                <a:spcPts val="5502"/>
              </a:lnSpc>
              <a:buFont typeface="Arial"/>
              <a:buChar char="￭"/>
            </a:pPr>
            <a:r>
              <a:rPr lang="en-US" sz="30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Data is transferred Least Significant Bit (LSB) first</a:t>
            </a:r>
          </a:p>
          <a:p>
            <a:pPr marL="656395" lvl="1" indent="-328198" algn="l">
              <a:lnSpc>
                <a:spcPts val="5502"/>
              </a:lnSpc>
              <a:buFont typeface="Arial"/>
              <a:buChar char="•"/>
            </a:pPr>
            <a:r>
              <a:rPr lang="en-US" sz="30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LSBFE = 0</a:t>
            </a:r>
          </a:p>
          <a:p>
            <a:pPr marL="1969186" lvl="3" indent="-492297" algn="l">
              <a:lnSpc>
                <a:spcPts val="5502"/>
              </a:lnSpc>
              <a:buFont typeface="Arial"/>
              <a:buChar char="￭"/>
            </a:pPr>
            <a:r>
              <a:rPr lang="en-US" sz="30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Data is transferred Most Significant Bit (MSB) first</a:t>
            </a:r>
          </a:p>
          <a:p>
            <a:pPr algn="l">
              <a:lnSpc>
                <a:spcPts val="5502"/>
              </a:lnSpc>
            </a:pPr>
            <a:endParaRPr lang="en-US" sz="304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ctr">
              <a:lnSpc>
                <a:spcPts val="5502"/>
              </a:lnSpc>
            </a:pPr>
            <a:endParaRPr lang="en-US" sz="304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2558863" y="488672"/>
            <a:ext cx="12075269" cy="1796196"/>
          </a:xfrm>
          <a:custGeom>
            <a:avLst/>
            <a:gdLst/>
            <a:ahLst/>
            <a:cxnLst/>
            <a:rect l="l" t="t" r="r" b="b"/>
            <a:pathLst>
              <a:path w="12075269" h="1796196">
                <a:moveTo>
                  <a:pt x="0" y="0"/>
                </a:moveTo>
                <a:lnTo>
                  <a:pt x="12075269" y="0"/>
                </a:lnTo>
                <a:lnTo>
                  <a:pt x="12075269" y="1796197"/>
                </a:lnTo>
                <a:lnTo>
                  <a:pt x="0" y="17961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2581854" y="1344356"/>
            <a:ext cx="13440597" cy="2551921"/>
          </a:xfrm>
          <a:custGeom>
            <a:avLst/>
            <a:gdLst/>
            <a:ahLst/>
            <a:cxnLst/>
            <a:rect l="l" t="t" r="r" b="b"/>
            <a:pathLst>
              <a:path w="13440597" h="2551921">
                <a:moveTo>
                  <a:pt x="0" y="0"/>
                </a:moveTo>
                <a:lnTo>
                  <a:pt x="13440596" y="0"/>
                </a:lnTo>
                <a:lnTo>
                  <a:pt x="13440596" y="2551921"/>
                </a:lnTo>
                <a:lnTo>
                  <a:pt x="0" y="25519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4678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3048121" y="202326"/>
            <a:ext cx="11718185" cy="1177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49"/>
              </a:lnSpc>
            </a:pPr>
            <a:r>
              <a:rPr lang="en-US" sz="6892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SPI CONTROL REGISTER 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184119" y="3953413"/>
            <a:ext cx="12897520" cy="7594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02"/>
              </a:lnSpc>
            </a:pPr>
            <a:r>
              <a:rPr lang="en-US" sz="304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MODFEN — Mode Fault Enable Bit</a:t>
            </a:r>
          </a:p>
          <a:p>
            <a:pPr marL="656395" lvl="1" indent="-328198" algn="l">
              <a:lnSpc>
                <a:spcPts val="5502"/>
              </a:lnSpc>
              <a:buFont typeface="Arial"/>
              <a:buChar char="•"/>
            </a:pPr>
            <a:r>
              <a:rPr lang="en-US" sz="30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Enables detection of Mode Fault (MODF) errors in SPI</a:t>
            </a:r>
          </a:p>
          <a:p>
            <a:pPr marL="656395" lvl="1" indent="-328198" algn="l">
              <a:lnSpc>
                <a:spcPts val="5502"/>
              </a:lnSpc>
              <a:buFont typeface="Arial"/>
              <a:buChar char="•"/>
            </a:pPr>
            <a:r>
              <a:rPr lang="en-US" sz="30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Controls how the SS (Slave Select) pin is used by the SPI module</a:t>
            </a:r>
          </a:p>
          <a:p>
            <a:pPr algn="l">
              <a:lnSpc>
                <a:spcPts val="5502"/>
              </a:lnSpc>
            </a:pPr>
            <a:r>
              <a:rPr lang="en-US" sz="304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Operation</a:t>
            </a:r>
          </a:p>
          <a:p>
            <a:pPr marL="656395" lvl="1" indent="-328198" algn="l">
              <a:lnSpc>
                <a:spcPts val="5502"/>
              </a:lnSpc>
              <a:buFont typeface="Arial"/>
              <a:buChar char="•"/>
            </a:pPr>
            <a:r>
              <a:rPr lang="en-US" sz="30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MODFEN = 1</a:t>
            </a:r>
          </a:p>
          <a:p>
            <a:pPr marL="1969186" lvl="3" indent="-492297" algn="l">
              <a:lnSpc>
                <a:spcPts val="5502"/>
              </a:lnSpc>
              <a:buFont typeface="Arial"/>
              <a:buChar char="￭"/>
            </a:pPr>
            <a:r>
              <a:rPr lang="en-US" sz="30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SS port pin is enabled with Mode Fault (MODF) detection</a:t>
            </a:r>
          </a:p>
          <a:p>
            <a:pPr marL="656395" lvl="1" indent="-328198" algn="l">
              <a:lnSpc>
                <a:spcPts val="5502"/>
              </a:lnSpc>
              <a:buFont typeface="Arial"/>
              <a:buChar char="•"/>
            </a:pPr>
            <a:r>
              <a:rPr lang="en-US" sz="30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MODFEN = 0</a:t>
            </a:r>
          </a:p>
          <a:p>
            <a:pPr marL="1969186" lvl="3" indent="-492297" algn="l">
              <a:lnSpc>
                <a:spcPts val="5502"/>
              </a:lnSpc>
              <a:buFont typeface="Arial"/>
              <a:buChar char="￭"/>
            </a:pPr>
            <a:r>
              <a:rPr lang="en-US" sz="30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SS port pin is not used by the SPI</a:t>
            </a:r>
          </a:p>
          <a:p>
            <a:pPr algn="l">
              <a:lnSpc>
                <a:spcPts val="5502"/>
              </a:lnSpc>
            </a:pPr>
            <a:endParaRPr lang="en-US" sz="304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5502"/>
              </a:lnSpc>
            </a:pPr>
            <a:endParaRPr lang="en-US" sz="304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ctr">
              <a:lnSpc>
                <a:spcPts val="5502"/>
              </a:lnSpc>
            </a:pPr>
            <a:endParaRPr lang="en-US" sz="304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2581854" y="1344356"/>
            <a:ext cx="13440597" cy="2551921"/>
          </a:xfrm>
          <a:custGeom>
            <a:avLst/>
            <a:gdLst/>
            <a:ahLst/>
            <a:cxnLst/>
            <a:rect l="l" t="t" r="r" b="b"/>
            <a:pathLst>
              <a:path w="13440597" h="2551921">
                <a:moveTo>
                  <a:pt x="0" y="0"/>
                </a:moveTo>
                <a:lnTo>
                  <a:pt x="13440596" y="0"/>
                </a:lnTo>
                <a:lnTo>
                  <a:pt x="13440596" y="2551921"/>
                </a:lnTo>
                <a:lnTo>
                  <a:pt x="0" y="25519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4678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3048121" y="202326"/>
            <a:ext cx="11718185" cy="1177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49"/>
              </a:lnSpc>
            </a:pPr>
            <a:r>
              <a:rPr lang="en-US" sz="6892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SPI CONTROL REGISTER 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184119" y="3953413"/>
            <a:ext cx="12897520" cy="620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02"/>
              </a:lnSpc>
            </a:pPr>
            <a:r>
              <a:rPr lang="en-US" sz="304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BIDIROE — Bidirectional Output Enable</a:t>
            </a:r>
          </a:p>
          <a:p>
            <a:pPr marL="656395" lvl="1" indent="-328198" algn="l">
              <a:lnSpc>
                <a:spcPts val="5502"/>
              </a:lnSpc>
              <a:buFont typeface="Arial"/>
              <a:buChar char="•"/>
            </a:pPr>
            <a:r>
              <a:rPr lang="en-US" sz="30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Controls the output buffer in bidirectional SPI mode</a:t>
            </a:r>
          </a:p>
          <a:p>
            <a:pPr marL="656395" lvl="1" indent="-328198" algn="l">
              <a:lnSpc>
                <a:spcPts val="5502"/>
              </a:lnSpc>
              <a:buFont typeface="Arial"/>
              <a:buChar char="•"/>
            </a:pPr>
            <a:r>
              <a:rPr lang="en-US" sz="30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Applicable only when bidirectional mode is enabled (SPC0 = 1)</a:t>
            </a:r>
          </a:p>
          <a:p>
            <a:pPr algn="l">
              <a:lnSpc>
                <a:spcPts val="5502"/>
              </a:lnSpc>
            </a:pPr>
            <a:r>
              <a:rPr lang="en-US" sz="304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Operation</a:t>
            </a:r>
          </a:p>
          <a:p>
            <a:pPr marL="656395" lvl="1" indent="-328198" algn="l">
              <a:lnSpc>
                <a:spcPts val="5502"/>
              </a:lnSpc>
              <a:buFont typeface="Arial"/>
              <a:buChar char="•"/>
            </a:pPr>
            <a:r>
              <a:rPr lang="en-US" sz="30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BIDIROE = 1</a:t>
            </a:r>
          </a:p>
          <a:p>
            <a:pPr marL="1969186" lvl="3" indent="-492297" algn="l">
              <a:lnSpc>
                <a:spcPts val="5502"/>
              </a:lnSpc>
              <a:buFont typeface="Arial"/>
              <a:buChar char="￭"/>
            </a:pPr>
            <a:r>
              <a:rPr lang="en-US" sz="30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Output buffer is enabled</a:t>
            </a:r>
          </a:p>
          <a:p>
            <a:pPr marL="656395" lvl="1" indent="-328198" algn="l">
              <a:lnSpc>
                <a:spcPts val="5502"/>
              </a:lnSpc>
              <a:buFont typeface="Arial"/>
              <a:buChar char="•"/>
            </a:pPr>
            <a:r>
              <a:rPr lang="en-US" sz="30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BIDIROE = 0</a:t>
            </a:r>
          </a:p>
          <a:p>
            <a:pPr marL="1969186" lvl="3" indent="-492297" algn="l">
              <a:lnSpc>
                <a:spcPts val="5502"/>
              </a:lnSpc>
              <a:buFont typeface="Arial"/>
              <a:buChar char="￭"/>
            </a:pPr>
            <a:r>
              <a:rPr lang="en-US" sz="30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Output buffer is disabled</a:t>
            </a:r>
          </a:p>
          <a:p>
            <a:pPr algn="ctr">
              <a:lnSpc>
                <a:spcPts val="5502"/>
              </a:lnSpc>
            </a:pPr>
            <a:endParaRPr lang="en-US" sz="304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2992314" y="1028700"/>
            <a:ext cx="11341218" cy="2153319"/>
          </a:xfrm>
          <a:custGeom>
            <a:avLst/>
            <a:gdLst/>
            <a:ahLst/>
            <a:cxnLst/>
            <a:rect l="l" t="t" r="r" b="b"/>
            <a:pathLst>
              <a:path w="11341218" h="2153319">
                <a:moveTo>
                  <a:pt x="0" y="0"/>
                </a:moveTo>
                <a:lnTo>
                  <a:pt x="11341218" y="0"/>
                </a:lnTo>
                <a:lnTo>
                  <a:pt x="11341218" y="2153319"/>
                </a:lnTo>
                <a:lnTo>
                  <a:pt x="0" y="21533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4678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2992314" y="-71251"/>
            <a:ext cx="11718185" cy="1177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49"/>
              </a:lnSpc>
            </a:pPr>
            <a:r>
              <a:rPr lang="en-US" sz="6892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SPI CONTROL REGISTER 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402646" y="3349571"/>
            <a:ext cx="12897520" cy="7565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55"/>
              </a:lnSpc>
            </a:pPr>
            <a:r>
              <a:rPr lang="en-US" sz="254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SPISWAI — SPI Stop in Wait Mode</a:t>
            </a:r>
          </a:p>
          <a:p>
            <a:pPr marL="548448" lvl="1" indent="-274224" algn="l">
              <a:lnSpc>
                <a:spcPts val="5055"/>
              </a:lnSpc>
              <a:buFont typeface="Arial"/>
              <a:buChar char="•"/>
            </a:pPr>
            <a:r>
              <a:rPr lang="en-US" sz="25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Used for power conservation when the CPU enters Wait Mode</a:t>
            </a:r>
          </a:p>
          <a:p>
            <a:pPr marL="548448" lvl="1" indent="-274224" algn="l">
              <a:lnSpc>
                <a:spcPts val="5055"/>
              </a:lnSpc>
              <a:buFont typeface="Arial"/>
              <a:buChar char="•"/>
            </a:pPr>
            <a:r>
              <a:rPr lang="en-US" sz="25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Controls whether the SPI clock runs or stops in Wait Mode</a:t>
            </a:r>
          </a:p>
          <a:p>
            <a:pPr algn="l">
              <a:lnSpc>
                <a:spcPts val="5055"/>
              </a:lnSpc>
            </a:pPr>
            <a:r>
              <a:rPr lang="en-US" sz="254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Operation</a:t>
            </a:r>
          </a:p>
          <a:p>
            <a:pPr marL="548448" lvl="1" indent="-274224" algn="l">
              <a:lnSpc>
                <a:spcPts val="5055"/>
              </a:lnSpc>
              <a:buFont typeface="Arial"/>
              <a:buChar char="•"/>
            </a:pPr>
            <a:r>
              <a:rPr lang="en-US" sz="25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SPISWAI = 1</a:t>
            </a:r>
          </a:p>
          <a:p>
            <a:pPr marL="1580576" lvl="3" indent="-395144" algn="l">
              <a:lnSpc>
                <a:spcPts val="4856"/>
              </a:lnSpc>
              <a:buFont typeface="Arial"/>
              <a:buChar char="￭"/>
            </a:pPr>
            <a:r>
              <a:rPr lang="en-US" sz="24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SPI clock generation is stopped in Wait Mode</a:t>
            </a:r>
          </a:p>
          <a:p>
            <a:pPr marL="1645344" lvl="3" indent="-411336" algn="l">
              <a:lnSpc>
                <a:spcPts val="5055"/>
              </a:lnSpc>
              <a:buFont typeface="Arial"/>
              <a:buChar char="￭"/>
            </a:pPr>
            <a:r>
              <a:rPr lang="en-US" sz="25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Helps reduce power consumption</a:t>
            </a:r>
          </a:p>
          <a:p>
            <a:pPr marL="548448" lvl="1" indent="-274224" algn="l">
              <a:lnSpc>
                <a:spcPts val="5055"/>
              </a:lnSpc>
              <a:buFont typeface="Arial"/>
              <a:buChar char="•"/>
            </a:pPr>
            <a:r>
              <a:rPr lang="en-US" sz="25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SPISWAI = 0</a:t>
            </a:r>
          </a:p>
          <a:p>
            <a:pPr marL="1645344" lvl="3" indent="-411336" algn="l">
              <a:lnSpc>
                <a:spcPts val="5055"/>
              </a:lnSpc>
              <a:buFont typeface="Arial"/>
              <a:buChar char="￭"/>
            </a:pPr>
            <a:r>
              <a:rPr lang="en-US" sz="25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SPI clock operates normally in Wait Mode</a:t>
            </a:r>
          </a:p>
          <a:p>
            <a:pPr marL="1645344" lvl="3" indent="-411336" algn="l">
              <a:lnSpc>
                <a:spcPts val="5055"/>
              </a:lnSpc>
              <a:buFont typeface="Arial"/>
              <a:buChar char="￭"/>
            </a:pPr>
            <a:r>
              <a:rPr lang="en-US" sz="25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 power saving</a:t>
            </a:r>
          </a:p>
          <a:p>
            <a:pPr marL="1096896" lvl="2" indent="-365632" algn="l">
              <a:lnSpc>
                <a:spcPts val="5055"/>
              </a:lnSpc>
              <a:buFont typeface="Arial"/>
              <a:buChar char="⚬"/>
            </a:pPr>
            <a:endParaRPr lang="en-US" sz="254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ctr">
              <a:lnSpc>
                <a:spcPts val="5055"/>
              </a:lnSpc>
            </a:pPr>
            <a:endParaRPr lang="en-US" sz="254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2992314" y="1028700"/>
            <a:ext cx="11341218" cy="2153319"/>
          </a:xfrm>
          <a:custGeom>
            <a:avLst/>
            <a:gdLst/>
            <a:ahLst/>
            <a:cxnLst/>
            <a:rect l="l" t="t" r="r" b="b"/>
            <a:pathLst>
              <a:path w="11341218" h="2153319">
                <a:moveTo>
                  <a:pt x="0" y="0"/>
                </a:moveTo>
                <a:lnTo>
                  <a:pt x="11341218" y="0"/>
                </a:lnTo>
                <a:lnTo>
                  <a:pt x="11341218" y="2153319"/>
                </a:lnTo>
                <a:lnTo>
                  <a:pt x="0" y="21533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4678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2402646" y="3349571"/>
            <a:ext cx="12897520" cy="3126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55"/>
              </a:lnSpc>
            </a:pPr>
            <a:r>
              <a:rPr lang="en-US" sz="254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SPC0 decides how many data pins SPI uses.</a:t>
            </a:r>
          </a:p>
          <a:p>
            <a:pPr marL="548448" lvl="1" indent="-274224" algn="l">
              <a:lnSpc>
                <a:spcPts val="5055"/>
              </a:lnSpc>
              <a:buFont typeface="Arial"/>
              <a:buChar char="•"/>
            </a:pPr>
            <a:r>
              <a:rPr lang="en-US" sz="25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SPC0 = 0 → Normal SPI mode</a:t>
            </a:r>
          </a:p>
          <a:p>
            <a:pPr marL="548448" lvl="1" indent="-274224" algn="l">
              <a:lnSpc>
                <a:spcPts val="5055"/>
              </a:lnSpc>
              <a:buFont typeface="Arial"/>
              <a:buChar char="•"/>
            </a:pPr>
            <a:r>
              <a:rPr lang="en-US" sz="25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SPC0 = 1 → Bidirectional SPI mode</a:t>
            </a:r>
          </a:p>
          <a:p>
            <a:pPr algn="l">
              <a:lnSpc>
                <a:spcPts val="5055"/>
              </a:lnSpc>
            </a:pPr>
            <a:endParaRPr lang="en-US" sz="254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ctr">
              <a:lnSpc>
                <a:spcPts val="5055"/>
              </a:lnSpc>
            </a:pPr>
            <a:endParaRPr lang="en-US" sz="254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" name="Freeform 15"/>
          <p:cNvSpPr/>
          <p:nvPr/>
        </p:nvSpPr>
        <p:spPr>
          <a:xfrm>
            <a:off x="2716793" y="5293742"/>
            <a:ext cx="11616739" cy="3964558"/>
          </a:xfrm>
          <a:custGeom>
            <a:avLst/>
            <a:gdLst/>
            <a:ahLst/>
            <a:cxnLst/>
            <a:rect l="l" t="t" r="r" b="b"/>
            <a:pathLst>
              <a:path w="11616739" h="3964558">
                <a:moveTo>
                  <a:pt x="0" y="0"/>
                </a:moveTo>
                <a:lnTo>
                  <a:pt x="11616739" y="0"/>
                </a:lnTo>
                <a:lnTo>
                  <a:pt x="11616739" y="3964558"/>
                </a:lnTo>
                <a:lnTo>
                  <a:pt x="0" y="39645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2992314" y="-71251"/>
            <a:ext cx="11718185" cy="1177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49"/>
              </a:lnSpc>
            </a:pPr>
            <a:r>
              <a:rPr lang="en-US" sz="6892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SPI CONTROL REGISTER 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2377228" y="1106231"/>
            <a:ext cx="12517876" cy="2351801"/>
          </a:xfrm>
          <a:custGeom>
            <a:avLst/>
            <a:gdLst/>
            <a:ahLst/>
            <a:cxnLst/>
            <a:rect l="l" t="t" r="r" b="b"/>
            <a:pathLst>
              <a:path w="12517876" h="2351801">
                <a:moveTo>
                  <a:pt x="0" y="0"/>
                </a:moveTo>
                <a:lnTo>
                  <a:pt x="12517876" y="0"/>
                </a:lnTo>
                <a:lnTo>
                  <a:pt x="12517876" y="2351801"/>
                </a:lnTo>
                <a:lnTo>
                  <a:pt x="0" y="23518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7118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2377228" y="3796533"/>
            <a:ext cx="12897520" cy="5041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8448" lvl="1" indent="-274224" algn="l">
              <a:lnSpc>
                <a:spcPts val="5055"/>
              </a:lnSpc>
              <a:buFont typeface="Arial"/>
              <a:buChar char="•"/>
            </a:pPr>
            <a:r>
              <a:rPr lang="en-US" sz="25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Baud rate is determined by preselection bits (SPPR) and selection bits (SPR)</a:t>
            </a:r>
          </a:p>
          <a:p>
            <a:pPr marL="548448" lvl="1" indent="-274224" algn="l">
              <a:lnSpc>
                <a:spcPts val="5055"/>
              </a:lnSpc>
              <a:buFont typeface="Arial"/>
              <a:buChar char="•"/>
            </a:pPr>
            <a:r>
              <a:rPr lang="en-US" sz="25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Applicable only in Master Mode</a:t>
            </a:r>
          </a:p>
          <a:p>
            <a:pPr algn="l">
              <a:lnSpc>
                <a:spcPts val="5055"/>
              </a:lnSpc>
            </a:pPr>
            <a:r>
              <a:rPr lang="en-US" sz="25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Bit Function</a:t>
            </a:r>
          </a:p>
          <a:p>
            <a:pPr marL="548448" lvl="1" indent="-274224" algn="l">
              <a:lnSpc>
                <a:spcPts val="5055"/>
              </a:lnSpc>
              <a:buFont typeface="Arial"/>
              <a:buChar char="•"/>
            </a:pPr>
            <a:r>
              <a:rPr lang="en-US" sz="25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SPPR2–SPPR0</a:t>
            </a:r>
          </a:p>
          <a:p>
            <a:pPr marL="1645344" lvl="3" indent="-411336" algn="l">
              <a:lnSpc>
                <a:spcPts val="5055"/>
              </a:lnSpc>
              <a:buFont typeface="Arial"/>
              <a:buChar char="￭"/>
            </a:pPr>
            <a:r>
              <a:rPr lang="en-US" sz="25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Baud Rate Preselection bits</a:t>
            </a:r>
          </a:p>
          <a:p>
            <a:pPr marL="548448" lvl="1" indent="-274224" algn="l">
              <a:lnSpc>
                <a:spcPts val="5055"/>
              </a:lnSpc>
              <a:buFont typeface="Arial"/>
              <a:buChar char="•"/>
            </a:pPr>
            <a:r>
              <a:rPr lang="en-US" sz="25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SPR2–SPR0</a:t>
            </a:r>
          </a:p>
          <a:p>
            <a:pPr marL="1645344" lvl="3" indent="-411336" algn="l">
              <a:lnSpc>
                <a:spcPts val="5055"/>
              </a:lnSpc>
              <a:buFont typeface="Arial"/>
              <a:buChar char="￭"/>
            </a:pPr>
            <a:r>
              <a:rPr lang="en-US" sz="25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Baud Rate Selection bits</a:t>
            </a:r>
          </a:p>
          <a:p>
            <a:pPr algn="just">
              <a:lnSpc>
                <a:spcPts val="5055"/>
              </a:lnSpc>
            </a:pPr>
            <a:endParaRPr lang="en-US" sz="254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" name="Freeform 15"/>
          <p:cNvSpPr/>
          <p:nvPr/>
        </p:nvSpPr>
        <p:spPr>
          <a:xfrm>
            <a:off x="8825988" y="5688039"/>
            <a:ext cx="9307733" cy="3570261"/>
          </a:xfrm>
          <a:custGeom>
            <a:avLst/>
            <a:gdLst/>
            <a:ahLst/>
            <a:cxnLst/>
            <a:rect l="l" t="t" r="r" b="b"/>
            <a:pathLst>
              <a:path w="9307733" h="3570261">
                <a:moveTo>
                  <a:pt x="0" y="0"/>
                </a:moveTo>
                <a:lnTo>
                  <a:pt x="9307733" y="0"/>
                </a:lnTo>
                <a:lnTo>
                  <a:pt x="9307733" y="3570261"/>
                </a:lnTo>
                <a:lnTo>
                  <a:pt x="0" y="35702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2992314" y="-71251"/>
            <a:ext cx="11718185" cy="1177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49"/>
              </a:lnSpc>
            </a:pPr>
            <a:r>
              <a:rPr lang="en-US" sz="6892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SPI BAUD RATE REGISTER</a:t>
            </a:r>
          </a:p>
        </p:txBody>
      </p:sp>
      <p:sp>
        <p:nvSpPr>
          <p:cNvPr id="17" name="Freeform 17"/>
          <p:cNvSpPr/>
          <p:nvPr/>
        </p:nvSpPr>
        <p:spPr>
          <a:xfrm>
            <a:off x="8978388" y="5840439"/>
            <a:ext cx="9307733" cy="3570261"/>
          </a:xfrm>
          <a:custGeom>
            <a:avLst/>
            <a:gdLst/>
            <a:ahLst/>
            <a:cxnLst/>
            <a:rect l="l" t="t" r="r" b="b"/>
            <a:pathLst>
              <a:path w="9307733" h="3570261">
                <a:moveTo>
                  <a:pt x="0" y="0"/>
                </a:moveTo>
                <a:lnTo>
                  <a:pt x="9307733" y="0"/>
                </a:lnTo>
                <a:lnTo>
                  <a:pt x="9307733" y="3570261"/>
                </a:lnTo>
                <a:lnTo>
                  <a:pt x="0" y="35702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2377228" y="3796533"/>
            <a:ext cx="12897520" cy="6955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8448" lvl="1" indent="-274224" algn="l">
              <a:lnSpc>
                <a:spcPts val="5055"/>
              </a:lnSpc>
              <a:buFont typeface="Arial"/>
              <a:buChar char="•"/>
            </a:pPr>
            <a:r>
              <a:rPr lang="en-US" sz="254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SPIF — SPI Interrupt Flag</a:t>
            </a:r>
          </a:p>
          <a:p>
            <a:pPr marL="548448" lvl="1" indent="-274224" algn="l">
              <a:lnSpc>
                <a:spcPts val="5055"/>
              </a:lnSpc>
              <a:buFont typeface="Arial"/>
              <a:buChar char="•"/>
            </a:pPr>
            <a:r>
              <a:rPr lang="en-US" sz="25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Indicates completion of a data transfer</a:t>
            </a:r>
          </a:p>
          <a:p>
            <a:pPr marL="548448" lvl="1" indent="-274224" algn="l">
              <a:lnSpc>
                <a:spcPts val="5055"/>
              </a:lnSpc>
              <a:buFont typeface="Arial"/>
              <a:buChar char="•"/>
            </a:pPr>
            <a:r>
              <a:rPr lang="en-US" sz="25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Set when a received data byte is copied into the SPI Data Register (SPIDR)</a:t>
            </a:r>
          </a:p>
          <a:p>
            <a:pPr algn="l">
              <a:lnSpc>
                <a:spcPts val="5055"/>
              </a:lnSpc>
            </a:pPr>
            <a:r>
              <a:rPr lang="en-US" sz="254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Operation</a:t>
            </a:r>
          </a:p>
          <a:p>
            <a:pPr marL="548448" lvl="1" indent="-274224" algn="l">
              <a:lnSpc>
                <a:spcPts val="5055"/>
              </a:lnSpc>
              <a:buFont typeface="Arial"/>
              <a:buChar char="•"/>
            </a:pPr>
            <a:r>
              <a:rPr lang="en-US" sz="25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SPIF = 1</a:t>
            </a:r>
          </a:p>
          <a:p>
            <a:pPr marL="1645344" lvl="3" indent="-411336" algn="l">
              <a:lnSpc>
                <a:spcPts val="5055"/>
              </a:lnSpc>
              <a:buFont typeface="Arial"/>
              <a:buChar char="￭"/>
            </a:pPr>
            <a:r>
              <a:rPr lang="en-US" sz="25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New data has been successfully received</a:t>
            </a:r>
          </a:p>
          <a:p>
            <a:pPr marL="1645344" lvl="3" indent="-411336" algn="l">
              <a:lnSpc>
                <a:spcPts val="5055"/>
              </a:lnSpc>
              <a:buFont typeface="Arial"/>
              <a:buChar char="￭"/>
            </a:pPr>
            <a:r>
              <a:rPr lang="en-US" sz="25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Data is available in SPIDR</a:t>
            </a:r>
          </a:p>
          <a:p>
            <a:pPr marL="548448" lvl="1" indent="-274224" algn="l">
              <a:lnSpc>
                <a:spcPts val="5055"/>
              </a:lnSpc>
              <a:buFont typeface="Arial"/>
              <a:buChar char="•"/>
            </a:pPr>
            <a:r>
              <a:rPr lang="en-US" sz="25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SPIF = 0</a:t>
            </a:r>
          </a:p>
          <a:p>
            <a:pPr marL="1645344" lvl="3" indent="-411336" algn="l">
              <a:lnSpc>
                <a:spcPts val="5055"/>
              </a:lnSpc>
              <a:buFont typeface="Arial"/>
              <a:buChar char="￭"/>
            </a:pPr>
            <a:r>
              <a:rPr lang="en-US" sz="25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Data transfer is not yet complete</a:t>
            </a:r>
          </a:p>
          <a:p>
            <a:pPr algn="l">
              <a:lnSpc>
                <a:spcPts val="5055"/>
              </a:lnSpc>
            </a:pPr>
            <a:endParaRPr lang="en-US" sz="254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5055"/>
              </a:lnSpc>
            </a:pPr>
            <a:endParaRPr lang="en-US" sz="254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2334215" y="959875"/>
            <a:ext cx="12940532" cy="2636633"/>
          </a:xfrm>
          <a:custGeom>
            <a:avLst/>
            <a:gdLst/>
            <a:ahLst/>
            <a:cxnLst/>
            <a:rect l="l" t="t" r="r" b="b"/>
            <a:pathLst>
              <a:path w="12940532" h="2636633">
                <a:moveTo>
                  <a:pt x="0" y="0"/>
                </a:moveTo>
                <a:lnTo>
                  <a:pt x="12940533" y="0"/>
                </a:lnTo>
                <a:lnTo>
                  <a:pt x="12940533" y="2636633"/>
                </a:lnTo>
                <a:lnTo>
                  <a:pt x="0" y="26366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2992314" y="-71251"/>
            <a:ext cx="11718185" cy="1177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49"/>
              </a:lnSpc>
            </a:pPr>
            <a:r>
              <a:rPr lang="en-US" sz="6892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SPI STATUS REGISTER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2334215" y="3406008"/>
            <a:ext cx="12897520" cy="8231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8448" lvl="1" indent="-274224" algn="l">
              <a:lnSpc>
                <a:spcPts val="5055"/>
              </a:lnSpc>
              <a:buFont typeface="Arial"/>
              <a:buChar char="•"/>
            </a:pPr>
            <a:r>
              <a:rPr lang="en-US" sz="254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SPTEF — SPI Transmit Empty Interrupt Flag</a:t>
            </a:r>
          </a:p>
          <a:p>
            <a:pPr marL="548448" lvl="1" indent="-274224" algn="l">
              <a:lnSpc>
                <a:spcPts val="5055"/>
              </a:lnSpc>
              <a:buFont typeface="Arial"/>
              <a:buChar char="•"/>
            </a:pPr>
            <a:r>
              <a:rPr lang="en-US" sz="25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Indicates the status of the SPI transmit data register</a:t>
            </a:r>
          </a:p>
          <a:p>
            <a:pPr marL="548448" lvl="1" indent="-274224" algn="l">
              <a:lnSpc>
                <a:spcPts val="5055"/>
              </a:lnSpc>
              <a:buFont typeface="Arial"/>
              <a:buChar char="•"/>
            </a:pPr>
            <a:r>
              <a:rPr lang="en-US" sz="25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Used to control safe data transmission</a:t>
            </a:r>
          </a:p>
          <a:p>
            <a:pPr algn="l">
              <a:lnSpc>
                <a:spcPts val="5055"/>
              </a:lnSpc>
            </a:pPr>
            <a:r>
              <a:rPr lang="en-US" sz="254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Operation</a:t>
            </a:r>
          </a:p>
          <a:p>
            <a:pPr marL="548448" lvl="1" indent="-274224" algn="l">
              <a:lnSpc>
                <a:spcPts val="5055"/>
              </a:lnSpc>
              <a:buFont typeface="Arial"/>
              <a:buChar char="•"/>
            </a:pPr>
            <a:r>
              <a:rPr lang="en-US" sz="25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SPTEF = 1</a:t>
            </a:r>
          </a:p>
          <a:p>
            <a:pPr marL="1645344" lvl="3" indent="-411336" algn="l">
              <a:lnSpc>
                <a:spcPts val="5055"/>
              </a:lnSpc>
              <a:buFont typeface="Arial"/>
              <a:buChar char="￭"/>
            </a:pPr>
            <a:r>
              <a:rPr lang="en-US" sz="25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SPI Data Register is empty</a:t>
            </a:r>
          </a:p>
          <a:p>
            <a:pPr marL="1645344" lvl="3" indent="-411336" algn="l">
              <a:lnSpc>
                <a:spcPts val="5055"/>
              </a:lnSpc>
              <a:buFont typeface="Arial"/>
              <a:buChar char="￭"/>
            </a:pPr>
            <a:r>
              <a:rPr lang="en-US" sz="25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New data can be written to SPIDR</a:t>
            </a:r>
          </a:p>
          <a:p>
            <a:pPr marL="548448" lvl="1" indent="-274224" algn="l">
              <a:lnSpc>
                <a:spcPts val="5055"/>
              </a:lnSpc>
              <a:buFont typeface="Arial"/>
              <a:buChar char="•"/>
            </a:pPr>
            <a:r>
              <a:rPr lang="en-US" sz="25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SPTEF = 0</a:t>
            </a:r>
          </a:p>
          <a:p>
            <a:pPr marL="1645344" lvl="3" indent="-411336" algn="l">
              <a:lnSpc>
                <a:spcPts val="5055"/>
              </a:lnSpc>
              <a:buFont typeface="Arial"/>
              <a:buChar char="￭"/>
            </a:pPr>
            <a:r>
              <a:rPr lang="en-US" sz="25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SPI Data Register is not empty</a:t>
            </a:r>
          </a:p>
          <a:p>
            <a:pPr marL="1645344" lvl="3" indent="-411336" algn="l">
              <a:lnSpc>
                <a:spcPts val="5055"/>
              </a:lnSpc>
              <a:buFont typeface="Arial"/>
              <a:buChar char="￭"/>
            </a:pPr>
            <a:r>
              <a:rPr lang="en-US" sz="25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Write operation is not allowed</a:t>
            </a:r>
          </a:p>
          <a:p>
            <a:pPr algn="l">
              <a:lnSpc>
                <a:spcPts val="5055"/>
              </a:lnSpc>
            </a:pPr>
            <a:endParaRPr lang="en-US" sz="254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5055"/>
              </a:lnSpc>
            </a:pPr>
            <a:endParaRPr lang="en-US" sz="254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5055"/>
              </a:lnSpc>
            </a:pPr>
            <a:endParaRPr lang="en-US" sz="254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2334215" y="959875"/>
            <a:ext cx="12940532" cy="2636633"/>
          </a:xfrm>
          <a:custGeom>
            <a:avLst/>
            <a:gdLst/>
            <a:ahLst/>
            <a:cxnLst/>
            <a:rect l="l" t="t" r="r" b="b"/>
            <a:pathLst>
              <a:path w="12940532" h="2636633">
                <a:moveTo>
                  <a:pt x="0" y="0"/>
                </a:moveTo>
                <a:lnTo>
                  <a:pt x="12940533" y="0"/>
                </a:lnTo>
                <a:lnTo>
                  <a:pt x="12940533" y="2636633"/>
                </a:lnTo>
                <a:lnTo>
                  <a:pt x="0" y="26366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2992314" y="-71251"/>
            <a:ext cx="11718185" cy="1177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49"/>
              </a:lnSpc>
            </a:pPr>
            <a:r>
              <a:rPr lang="en-US" sz="6892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SPI STATUS REGISTER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2334215" y="3406008"/>
            <a:ext cx="12897520" cy="6955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8448" lvl="1" indent="-274224" algn="l">
              <a:lnSpc>
                <a:spcPts val="5055"/>
              </a:lnSpc>
              <a:buFont typeface="Arial"/>
              <a:buChar char="•"/>
            </a:pPr>
            <a:r>
              <a:rPr lang="en-US" sz="254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MODF — Mode Fault Flag</a:t>
            </a:r>
          </a:p>
          <a:p>
            <a:pPr marL="548448" lvl="1" indent="-274224" algn="l">
              <a:lnSpc>
                <a:spcPts val="5055"/>
              </a:lnSpc>
              <a:buFont typeface="Arial"/>
              <a:buChar char="•"/>
            </a:pPr>
            <a:r>
              <a:rPr lang="en-US" sz="25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Indicates a mode fault condition in SPI operation</a:t>
            </a:r>
          </a:p>
          <a:p>
            <a:pPr marL="548448" lvl="1" indent="-274224" algn="l">
              <a:lnSpc>
                <a:spcPts val="5055"/>
              </a:lnSpc>
              <a:buFont typeface="Arial"/>
              <a:buChar char="•"/>
            </a:pPr>
            <a:r>
              <a:rPr lang="en-US" sz="25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Applicable when SPI is configured in Master Mode</a:t>
            </a:r>
          </a:p>
          <a:p>
            <a:pPr algn="l">
              <a:lnSpc>
                <a:spcPts val="5055"/>
              </a:lnSpc>
            </a:pPr>
            <a:r>
              <a:rPr lang="en-US" sz="254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Operation</a:t>
            </a:r>
          </a:p>
          <a:p>
            <a:pPr marL="548448" lvl="1" indent="-274224" algn="l">
              <a:lnSpc>
                <a:spcPts val="5055"/>
              </a:lnSpc>
              <a:buFont typeface="Arial"/>
              <a:buChar char="•"/>
            </a:pPr>
            <a:r>
              <a:rPr lang="en-US" sz="25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MODF = 1</a:t>
            </a:r>
          </a:p>
          <a:p>
            <a:pPr marL="1645344" lvl="3" indent="-411336" algn="l">
              <a:lnSpc>
                <a:spcPts val="5055"/>
              </a:lnSpc>
              <a:buFont typeface="Arial"/>
              <a:buChar char="￭"/>
            </a:pPr>
            <a:r>
              <a:rPr lang="en-US" sz="25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Mode fault has occurred</a:t>
            </a:r>
          </a:p>
          <a:p>
            <a:pPr marL="548448" lvl="1" indent="-274224" algn="l">
              <a:lnSpc>
                <a:spcPts val="5055"/>
              </a:lnSpc>
              <a:buFont typeface="Arial"/>
              <a:buChar char="•"/>
            </a:pPr>
            <a:r>
              <a:rPr lang="en-US" sz="25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MODF = 0</a:t>
            </a:r>
          </a:p>
          <a:p>
            <a:pPr marL="1645344" lvl="3" indent="-411336" algn="l">
              <a:lnSpc>
                <a:spcPts val="5055"/>
              </a:lnSpc>
              <a:buFont typeface="Arial"/>
              <a:buChar char="￭"/>
            </a:pPr>
            <a:r>
              <a:rPr lang="en-US" sz="25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 mode fault detected</a:t>
            </a:r>
          </a:p>
          <a:p>
            <a:pPr algn="l">
              <a:lnSpc>
                <a:spcPts val="5055"/>
              </a:lnSpc>
            </a:pPr>
            <a:endParaRPr lang="en-US" sz="254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5055"/>
              </a:lnSpc>
            </a:pPr>
            <a:endParaRPr lang="en-US" sz="254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5055"/>
              </a:lnSpc>
            </a:pPr>
            <a:endParaRPr lang="en-US" sz="254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2334215" y="959875"/>
            <a:ext cx="12940532" cy="2636633"/>
          </a:xfrm>
          <a:custGeom>
            <a:avLst/>
            <a:gdLst/>
            <a:ahLst/>
            <a:cxnLst/>
            <a:rect l="l" t="t" r="r" b="b"/>
            <a:pathLst>
              <a:path w="12940532" h="2636633">
                <a:moveTo>
                  <a:pt x="0" y="0"/>
                </a:moveTo>
                <a:lnTo>
                  <a:pt x="12940533" y="0"/>
                </a:lnTo>
                <a:lnTo>
                  <a:pt x="12940533" y="2636633"/>
                </a:lnTo>
                <a:lnTo>
                  <a:pt x="0" y="26366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2992314" y="-71251"/>
            <a:ext cx="11718185" cy="1177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49"/>
              </a:lnSpc>
            </a:pPr>
            <a:r>
              <a:rPr lang="en-US" sz="6892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SPI STATUS REGISTER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2334215" y="2999448"/>
            <a:ext cx="14656886" cy="6917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3143" lvl="1" indent="-281571" algn="l">
              <a:lnSpc>
                <a:spcPts val="3938"/>
              </a:lnSpc>
              <a:buFont typeface="Arial"/>
              <a:buChar char="•"/>
            </a:pPr>
            <a:r>
              <a:rPr lang="en-US" sz="2608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Single Data Register</a:t>
            </a:r>
          </a:p>
          <a:p>
            <a:pPr marL="1689428" lvl="3" indent="-422357" algn="l">
              <a:lnSpc>
                <a:spcPts val="3938"/>
              </a:lnSpc>
              <a:buFont typeface="Arial"/>
              <a:buChar char="￭"/>
            </a:pPr>
            <a:r>
              <a:rPr lang="en-US" sz="2608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SPIDR acts as both input and output register for SPI data.</a:t>
            </a:r>
          </a:p>
          <a:p>
            <a:pPr marL="563143" lvl="1" indent="-281571" algn="l">
              <a:lnSpc>
                <a:spcPts val="3938"/>
              </a:lnSpc>
              <a:buFont typeface="Arial"/>
              <a:buChar char="•"/>
            </a:pPr>
            <a:r>
              <a:rPr lang="en-US" sz="2608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Transmit Operation</a:t>
            </a:r>
          </a:p>
          <a:p>
            <a:pPr marL="1689428" lvl="3" indent="-422357" algn="l">
              <a:lnSpc>
                <a:spcPts val="3938"/>
              </a:lnSpc>
              <a:buFont typeface="Arial"/>
              <a:buChar char="￭"/>
            </a:pPr>
            <a:r>
              <a:rPr lang="en-US" sz="2608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Writing to SPIDR queues one data byte for transmission.</a:t>
            </a:r>
          </a:p>
          <a:p>
            <a:pPr marL="1689428" lvl="3" indent="-422357" algn="l">
              <a:lnSpc>
                <a:spcPts val="3938"/>
              </a:lnSpc>
              <a:buFont typeface="Arial"/>
              <a:buChar char="￭"/>
            </a:pPr>
            <a:r>
              <a:rPr lang="en-US" sz="2608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 Master mode, transmission starts immediately after the previous transfer completes.</a:t>
            </a:r>
          </a:p>
          <a:p>
            <a:pPr marL="563143" lvl="1" indent="-281571" algn="l">
              <a:lnSpc>
                <a:spcPts val="3938"/>
              </a:lnSpc>
              <a:buFont typeface="Arial"/>
              <a:buChar char="•"/>
            </a:pPr>
            <a:r>
              <a:rPr lang="en-US" sz="2608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Transmit Ready Indication</a:t>
            </a:r>
          </a:p>
          <a:p>
            <a:pPr marL="1689428" lvl="3" indent="-422357" algn="l">
              <a:lnSpc>
                <a:spcPts val="3938"/>
              </a:lnSpc>
              <a:buFont typeface="Arial"/>
              <a:buChar char="￭"/>
            </a:pPr>
            <a:r>
              <a:rPr lang="en-US" sz="2608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SPTEF flag in SPISR indicates when SPIDR is ready to accept new data.</a:t>
            </a:r>
          </a:p>
          <a:p>
            <a:pPr marL="563143" lvl="1" indent="-281571" algn="l">
              <a:lnSpc>
                <a:spcPts val="3938"/>
              </a:lnSpc>
              <a:buFont typeface="Arial"/>
              <a:buChar char="•"/>
            </a:pPr>
            <a:r>
              <a:rPr lang="en-US" sz="2608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Receive Operation</a:t>
            </a:r>
          </a:p>
          <a:p>
            <a:pPr marL="1689428" lvl="3" indent="-422357" algn="l">
              <a:lnSpc>
                <a:spcPts val="3938"/>
              </a:lnSpc>
              <a:buFont typeface="Arial"/>
              <a:buChar char="￭"/>
            </a:pPr>
            <a:r>
              <a:rPr lang="en-US" sz="2608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Received data can be read after SPIF is set and before the next transfer ends.</a:t>
            </a:r>
          </a:p>
          <a:p>
            <a:pPr marL="563143" lvl="1" indent="-281571" algn="l">
              <a:lnSpc>
                <a:spcPts val="3938"/>
              </a:lnSpc>
              <a:buFont typeface="Arial"/>
              <a:buChar char="•"/>
            </a:pPr>
            <a:r>
              <a:rPr lang="en-US" sz="2608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Data Loss Condition</a:t>
            </a:r>
          </a:p>
          <a:p>
            <a:pPr marL="1689428" lvl="3" indent="-422357" algn="l">
              <a:lnSpc>
                <a:spcPts val="3938"/>
              </a:lnSpc>
              <a:buFont typeface="Arial"/>
              <a:buChar char="￭"/>
            </a:pPr>
            <a:r>
              <a:rPr lang="en-US" sz="2608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If SPIF is not serviced before the next transfers complete,</a:t>
            </a:r>
          </a:p>
          <a:p>
            <a:pPr marL="563143" lvl="1" indent="-281571" algn="l">
              <a:lnSpc>
                <a:spcPts val="3938"/>
              </a:lnSpc>
              <a:buFont typeface="Arial"/>
              <a:buChar char="•"/>
            </a:pPr>
            <a:r>
              <a:rPr lang="en-US" sz="2608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new data bytes are lost, and SPIDR retains only the first unread byte.</a:t>
            </a:r>
          </a:p>
          <a:p>
            <a:pPr algn="just">
              <a:lnSpc>
                <a:spcPts val="3938"/>
              </a:lnSpc>
            </a:pPr>
            <a:endParaRPr lang="en-US" sz="2608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2334215" y="723900"/>
            <a:ext cx="12785478" cy="2141567"/>
          </a:xfrm>
          <a:custGeom>
            <a:avLst/>
            <a:gdLst/>
            <a:ahLst/>
            <a:cxnLst/>
            <a:rect l="l" t="t" r="r" b="b"/>
            <a:pathLst>
              <a:path w="12785478" h="2141567">
                <a:moveTo>
                  <a:pt x="0" y="0"/>
                </a:moveTo>
                <a:lnTo>
                  <a:pt x="12785478" y="0"/>
                </a:lnTo>
                <a:lnTo>
                  <a:pt x="12785478" y="2141567"/>
                </a:lnTo>
                <a:lnTo>
                  <a:pt x="0" y="21415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2992314" y="-71251"/>
            <a:ext cx="11718185" cy="1177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49"/>
              </a:lnSpc>
            </a:pPr>
            <a:r>
              <a:rPr lang="en-US" sz="6892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SPI DATA REGISTER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950481" y="4013348"/>
            <a:ext cx="12387037" cy="2031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641"/>
              </a:lnSpc>
            </a:pPr>
            <a:r>
              <a:rPr lang="en-US" sz="11886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THANK YOU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1227</Words>
  <Application>Microsoft Office PowerPoint</Application>
  <PresentationFormat>Custom</PresentationFormat>
  <Paragraphs>203</Paragraphs>
  <Slides>23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Open Sans Bold</vt:lpstr>
      <vt:lpstr>Calibri</vt:lpstr>
      <vt:lpstr>Arial</vt:lpstr>
      <vt:lpstr>Open Sans</vt:lpstr>
      <vt:lpstr>Office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SERIAL PERIPHERAL INTERFACE(spi)</dc:title>
  <cp:lastModifiedBy>Giresh Boddu</cp:lastModifiedBy>
  <cp:revision>6</cp:revision>
  <dcterms:created xsi:type="dcterms:W3CDTF">2006-08-16T00:00:00Z</dcterms:created>
  <dcterms:modified xsi:type="dcterms:W3CDTF">2025-12-23T08:16:04Z</dcterms:modified>
  <dc:identifier>DAG8OR7-Cmk</dc:identifier>
</cp:coreProperties>
</file>