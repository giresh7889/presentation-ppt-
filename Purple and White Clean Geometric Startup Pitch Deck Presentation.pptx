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Lst>
  <p:sldSz cx="18288000" cy="10287000"/>
  <p:notesSz cx="6858000" cy="9144000"/>
  <p:embeddedFontLst>
    <p:embeddedFont>
      <p:font typeface="Futura Bold" charset="1" panose="020B0702020204020203"/>
      <p:regular r:id="rId24"/>
    </p:embeddedFont>
    <p:embeddedFont>
      <p:font typeface="Montserrat" charset="1" panose="00000500000000000000"/>
      <p:regular r:id="rId25"/>
    </p:embeddedFont>
    <p:embeddedFont>
      <p:font typeface="Montserrat Bold" charset="1" panose="00000800000000000000"/>
      <p:regular r:id="rId2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fonts/font24.fntdata" Type="http://schemas.openxmlformats.org/officeDocument/2006/relationships/font"/><Relationship Id="rId25" Target="fonts/font25.fntdata" Type="http://schemas.openxmlformats.org/officeDocument/2006/relationships/font"/><Relationship Id="rId26" Target="fonts/font26.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5.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6.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7.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https://vlsitutorialscom.wordpress.com/jtag-test-access-port-and-tap-controller/" TargetMode="External" Type="http://schemas.openxmlformats.org/officeDocument/2006/relationships/hyperlink"/></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8.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sp>
        <p:nvSpPr>
          <p:cNvPr name="TextBox 3" id="3"/>
          <p:cNvSpPr txBox="true"/>
          <p:nvPr/>
        </p:nvSpPr>
        <p:spPr>
          <a:xfrm rot="0">
            <a:off x="100946" y="2145116"/>
            <a:ext cx="18086107" cy="5596718"/>
          </a:xfrm>
          <a:prstGeom prst="rect">
            <a:avLst/>
          </a:prstGeom>
        </p:spPr>
        <p:txBody>
          <a:bodyPr anchor="t" rtlCol="false" tIns="0" lIns="0" bIns="0" rIns="0">
            <a:spAutoFit/>
          </a:bodyPr>
          <a:lstStyle/>
          <a:p>
            <a:pPr algn="ctr">
              <a:lnSpc>
                <a:spcPts val="38204"/>
              </a:lnSpc>
            </a:pPr>
            <a:r>
              <a:rPr lang="en-US" b="true" sz="34111" spc="4843">
                <a:solidFill>
                  <a:srgbClr val="041226">
                    <a:alpha val="4706"/>
                  </a:srgbClr>
                </a:solidFill>
                <a:latin typeface="Futura Bold"/>
                <a:ea typeface="Futura Bold"/>
                <a:cs typeface="Futura Bold"/>
                <a:sym typeface="Futura Bold"/>
              </a:rPr>
              <a:t>DFT</a:t>
            </a:r>
          </a:p>
        </p:txBody>
      </p:sp>
      <p:sp>
        <p:nvSpPr>
          <p:cNvPr name="TextBox 4" id="4"/>
          <p:cNvSpPr txBox="true"/>
          <p:nvPr/>
        </p:nvSpPr>
        <p:spPr>
          <a:xfrm rot="0">
            <a:off x="2756585" y="4131211"/>
            <a:ext cx="13082826" cy="1681679"/>
          </a:xfrm>
          <a:prstGeom prst="rect">
            <a:avLst/>
          </a:prstGeom>
        </p:spPr>
        <p:txBody>
          <a:bodyPr anchor="t" rtlCol="false" tIns="0" lIns="0" bIns="0" rIns="0">
            <a:spAutoFit/>
          </a:bodyPr>
          <a:lstStyle/>
          <a:p>
            <a:pPr algn="ctr">
              <a:lnSpc>
                <a:spcPts val="12309"/>
              </a:lnSpc>
            </a:pPr>
            <a:r>
              <a:rPr lang="en-US" sz="8792" b="true">
                <a:solidFill>
                  <a:srgbClr val="7C7AAC"/>
                </a:solidFill>
                <a:latin typeface="Futura Bold"/>
                <a:ea typeface="Futura Bold"/>
                <a:cs typeface="Futura Bold"/>
                <a:sym typeface="Futura Bold"/>
              </a:rPr>
              <a:t>DESIGN FOR TESTABALITY</a:t>
            </a:r>
          </a:p>
        </p:txBody>
      </p:sp>
      <p:sp>
        <p:nvSpPr>
          <p:cNvPr name="TextBox 5" id="5"/>
          <p:cNvSpPr txBox="true"/>
          <p:nvPr/>
        </p:nvSpPr>
        <p:spPr>
          <a:xfrm rot="0">
            <a:off x="5542849" y="6241143"/>
            <a:ext cx="8624984" cy="1061772"/>
          </a:xfrm>
          <a:prstGeom prst="rect">
            <a:avLst/>
          </a:prstGeom>
        </p:spPr>
        <p:txBody>
          <a:bodyPr anchor="t" rtlCol="false" tIns="0" lIns="0" bIns="0" rIns="0">
            <a:spAutoFit/>
          </a:bodyPr>
          <a:lstStyle/>
          <a:p>
            <a:pPr algn="ctr">
              <a:lnSpc>
                <a:spcPts val="4266"/>
              </a:lnSpc>
            </a:pPr>
            <a:r>
              <a:rPr lang="en-US" sz="3047">
                <a:solidFill>
                  <a:srgbClr val="4D4B66"/>
                </a:solidFill>
                <a:latin typeface="Montserrat"/>
                <a:ea typeface="Montserrat"/>
                <a:cs typeface="Montserrat"/>
                <a:sym typeface="Montserrat"/>
              </a:rPr>
              <a:t>BODDU GIRESH</a:t>
            </a:r>
          </a:p>
          <a:p>
            <a:pPr algn="ctr">
              <a:lnSpc>
                <a:spcPts val="4266"/>
              </a:lnSpc>
            </a:pPr>
            <a:r>
              <a:rPr lang="en-US" sz="3047">
                <a:solidFill>
                  <a:srgbClr val="4D4B66"/>
                </a:solidFill>
                <a:latin typeface="Montserrat"/>
                <a:ea typeface="Montserrat"/>
                <a:cs typeface="Montserrat"/>
                <a:sym typeface="Montserrat"/>
              </a:rPr>
              <a:t>CHIPWEAVE TECHNOLOGIES PVT LTD</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sp>
        <p:nvSpPr>
          <p:cNvPr name="Freeform 3" id="3"/>
          <p:cNvSpPr/>
          <p:nvPr/>
        </p:nvSpPr>
        <p:spPr>
          <a:xfrm flipH="true" flipV="true" rot="0">
            <a:off x="1028700" y="1028700"/>
            <a:ext cx="759822" cy="750151"/>
          </a:xfrm>
          <a:custGeom>
            <a:avLst/>
            <a:gdLst/>
            <a:ahLst/>
            <a:cxnLst/>
            <a:rect r="r" b="b" t="t" l="l"/>
            <a:pathLst>
              <a:path h="750151" w="759822">
                <a:moveTo>
                  <a:pt x="759822" y="750151"/>
                </a:moveTo>
                <a:lnTo>
                  <a:pt x="0" y="750151"/>
                </a:lnTo>
                <a:lnTo>
                  <a:pt x="0" y="0"/>
                </a:lnTo>
                <a:lnTo>
                  <a:pt x="759822" y="0"/>
                </a:lnTo>
                <a:lnTo>
                  <a:pt x="759822" y="750151"/>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4" id="4"/>
          <p:cNvSpPr txBox="true"/>
          <p:nvPr/>
        </p:nvSpPr>
        <p:spPr>
          <a:xfrm rot="0">
            <a:off x="1408611" y="1098976"/>
            <a:ext cx="10966375" cy="1496650"/>
          </a:xfrm>
          <a:prstGeom prst="rect">
            <a:avLst/>
          </a:prstGeom>
        </p:spPr>
        <p:txBody>
          <a:bodyPr anchor="t" rtlCol="false" tIns="0" lIns="0" bIns="0" rIns="0">
            <a:spAutoFit/>
          </a:bodyPr>
          <a:lstStyle/>
          <a:p>
            <a:pPr algn="l">
              <a:lnSpc>
                <a:spcPts val="10957"/>
              </a:lnSpc>
              <a:spcBef>
                <a:spcPct val="0"/>
              </a:spcBef>
            </a:pPr>
            <a:r>
              <a:rPr lang="en-US" sz="7826" b="true">
                <a:solidFill>
                  <a:srgbClr val="7C7AAC"/>
                </a:solidFill>
                <a:latin typeface="Futura Bold"/>
                <a:ea typeface="Futura Bold"/>
                <a:cs typeface="Futura Bold"/>
                <a:sym typeface="Futura Bold"/>
              </a:rPr>
              <a:t>What is DFT?</a:t>
            </a:r>
          </a:p>
        </p:txBody>
      </p:sp>
      <p:sp>
        <p:nvSpPr>
          <p:cNvPr name="TextBox 5" id="5"/>
          <p:cNvSpPr txBox="true"/>
          <p:nvPr/>
        </p:nvSpPr>
        <p:spPr>
          <a:xfrm rot="0">
            <a:off x="1553220" y="2897623"/>
            <a:ext cx="12092267" cy="2122171"/>
          </a:xfrm>
          <a:prstGeom prst="rect">
            <a:avLst/>
          </a:prstGeom>
        </p:spPr>
        <p:txBody>
          <a:bodyPr anchor="t" rtlCol="false" tIns="0" lIns="0" bIns="0" rIns="0">
            <a:spAutoFit/>
          </a:bodyPr>
          <a:lstStyle/>
          <a:p>
            <a:pPr algn="just" marL="496566" indent="-248283" lvl="1">
              <a:lnSpc>
                <a:spcPts val="3219"/>
              </a:lnSpc>
              <a:buFont typeface="Arial"/>
              <a:buChar char="•"/>
            </a:pPr>
            <a:r>
              <a:rPr lang="en-US" sz="2299">
                <a:solidFill>
                  <a:srgbClr val="4D4B66"/>
                </a:solidFill>
                <a:latin typeface="Montserrat"/>
                <a:ea typeface="Montserrat"/>
                <a:cs typeface="Montserrat"/>
                <a:sym typeface="Montserrat"/>
              </a:rPr>
              <a:t>DFT = Design For Testability</a:t>
            </a:r>
          </a:p>
          <a:p>
            <a:pPr algn="just" marL="496566" indent="-248283" lvl="1">
              <a:lnSpc>
                <a:spcPts val="3219"/>
              </a:lnSpc>
              <a:buFont typeface="Arial"/>
              <a:buChar char="•"/>
            </a:pPr>
            <a:r>
              <a:rPr lang="en-US" sz="2299">
                <a:solidFill>
                  <a:srgbClr val="4D4B66"/>
                </a:solidFill>
                <a:latin typeface="Montserrat"/>
                <a:ea typeface="Montserrat"/>
                <a:cs typeface="Montserrat"/>
                <a:sym typeface="Montserrat"/>
              </a:rPr>
              <a:t>Set of techniques used to make ICs easier to test after fabrication</a:t>
            </a:r>
          </a:p>
          <a:p>
            <a:pPr algn="just" marL="496566" indent="-248283" lvl="1">
              <a:lnSpc>
                <a:spcPts val="3219"/>
              </a:lnSpc>
              <a:buFont typeface="Arial"/>
              <a:buChar char="•"/>
            </a:pPr>
            <a:r>
              <a:rPr lang="en-US" sz="2299">
                <a:solidFill>
                  <a:srgbClr val="4D4B66"/>
                </a:solidFill>
                <a:latin typeface="Montserrat"/>
                <a:ea typeface="Montserrat"/>
                <a:cs typeface="Montserrat"/>
                <a:sym typeface="Montserrat"/>
              </a:rPr>
              <a:t>Improves controllability and observability of internal nodes</a:t>
            </a:r>
          </a:p>
          <a:p>
            <a:pPr algn="just" marL="496566" indent="-248283" lvl="1">
              <a:lnSpc>
                <a:spcPts val="3219"/>
              </a:lnSpc>
              <a:buFont typeface="Arial"/>
              <a:buChar char="•"/>
            </a:pPr>
            <a:r>
              <a:rPr lang="en-US" sz="2299">
                <a:solidFill>
                  <a:srgbClr val="4D4B66"/>
                </a:solidFill>
                <a:latin typeface="Montserrat"/>
                <a:ea typeface="Montserrat"/>
                <a:cs typeface="Montserrat"/>
                <a:sym typeface="Montserrat"/>
              </a:rPr>
              <a:t>Ensures detection of manufacturing defects</a:t>
            </a:r>
          </a:p>
          <a:p>
            <a:pPr algn="just">
              <a:lnSpc>
                <a:spcPts val="4339"/>
              </a:lnSpc>
              <a:spcBef>
                <a:spcPct val="0"/>
              </a:spcBef>
            </a:pPr>
          </a:p>
        </p:txBody>
      </p:sp>
      <p:sp>
        <p:nvSpPr>
          <p:cNvPr name="TextBox 6" id="6"/>
          <p:cNvSpPr txBox="true"/>
          <p:nvPr/>
        </p:nvSpPr>
        <p:spPr>
          <a:xfrm rot="0">
            <a:off x="1553220" y="6369377"/>
            <a:ext cx="9648836" cy="2218690"/>
          </a:xfrm>
          <a:prstGeom prst="rect">
            <a:avLst/>
          </a:prstGeom>
        </p:spPr>
        <p:txBody>
          <a:bodyPr anchor="t" rtlCol="false" tIns="0" lIns="0" bIns="0" rIns="0">
            <a:spAutoFit/>
          </a:bodyPr>
          <a:lstStyle/>
          <a:p>
            <a:pPr algn="just" marL="474976" indent="-237488" lvl="1">
              <a:lnSpc>
                <a:spcPts val="3079"/>
              </a:lnSpc>
              <a:buFont typeface="Arial"/>
              <a:buChar char="•"/>
            </a:pPr>
            <a:r>
              <a:rPr lang="en-US" sz="2199">
                <a:solidFill>
                  <a:srgbClr val="4D4B66"/>
                </a:solidFill>
                <a:latin typeface="Montserrat"/>
                <a:ea typeface="Montserrat"/>
                <a:cs typeface="Montserrat"/>
                <a:sym typeface="Montserrat"/>
              </a:rPr>
              <a:t>Chips may contain defects (stuck-at, open, short, delay faults)</a:t>
            </a:r>
          </a:p>
          <a:p>
            <a:pPr algn="just" marL="474976" indent="-237488" lvl="1">
              <a:lnSpc>
                <a:spcPts val="3079"/>
              </a:lnSpc>
              <a:buFont typeface="Arial"/>
              <a:buChar char="•"/>
            </a:pPr>
            <a:r>
              <a:rPr lang="en-US" sz="2199">
                <a:solidFill>
                  <a:srgbClr val="4D4B66"/>
                </a:solidFill>
                <a:latin typeface="Montserrat"/>
                <a:ea typeface="Montserrat"/>
                <a:cs typeface="Montserrat"/>
                <a:sym typeface="Montserrat"/>
              </a:rPr>
              <a:t>Millions of internal nodes cannot be tested directly</a:t>
            </a:r>
          </a:p>
          <a:p>
            <a:pPr algn="just" marL="474976" indent="-237488" lvl="1">
              <a:lnSpc>
                <a:spcPts val="3079"/>
              </a:lnSpc>
              <a:buFont typeface="Arial"/>
              <a:buChar char="•"/>
            </a:pPr>
            <a:r>
              <a:rPr lang="en-US" sz="2199">
                <a:solidFill>
                  <a:srgbClr val="4D4B66"/>
                </a:solidFill>
                <a:latin typeface="Montserrat"/>
                <a:ea typeface="Montserrat"/>
                <a:cs typeface="Montserrat"/>
                <a:sym typeface="Montserrat"/>
              </a:rPr>
              <a:t>Testing cost is very high without DFT</a:t>
            </a:r>
          </a:p>
          <a:p>
            <a:pPr algn="just" marL="474976" indent="-237488" lvl="1">
              <a:lnSpc>
                <a:spcPts val="3079"/>
              </a:lnSpc>
              <a:buFont typeface="Arial"/>
              <a:buChar char="•"/>
            </a:pPr>
            <a:r>
              <a:rPr lang="en-US" sz="2199">
                <a:solidFill>
                  <a:srgbClr val="4D4B66"/>
                </a:solidFill>
                <a:latin typeface="Montserrat"/>
                <a:ea typeface="Montserrat"/>
                <a:cs typeface="Montserrat"/>
                <a:sym typeface="Montserrat"/>
              </a:rPr>
              <a:t>DFT improves test coverage (typically 98–99%+)</a:t>
            </a:r>
          </a:p>
          <a:p>
            <a:pPr algn="just" marL="474976" indent="-237488" lvl="1">
              <a:lnSpc>
                <a:spcPts val="3079"/>
              </a:lnSpc>
              <a:buFont typeface="Arial"/>
              <a:buChar char="•"/>
            </a:pPr>
            <a:r>
              <a:rPr lang="en-US" sz="2199">
                <a:solidFill>
                  <a:srgbClr val="4D4B66"/>
                </a:solidFill>
                <a:latin typeface="Montserrat"/>
                <a:ea typeface="Montserrat"/>
                <a:cs typeface="Montserrat"/>
                <a:sym typeface="Montserrat"/>
              </a:rPr>
              <a:t>Ensures high-quality, reliable silicon</a:t>
            </a:r>
          </a:p>
          <a:p>
            <a:pPr algn="just">
              <a:lnSpc>
                <a:spcPts val="2239"/>
              </a:lnSpc>
              <a:spcBef>
                <a:spcPct val="0"/>
              </a:spcBef>
            </a:pPr>
          </a:p>
        </p:txBody>
      </p:sp>
      <p:sp>
        <p:nvSpPr>
          <p:cNvPr name="Freeform 7" id="7"/>
          <p:cNvSpPr/>
          <p:nvPr/>
        </p:nvSpPr>
        <p:spPr>
          <a:xfrm flipH="false" flipV="false" rot="0">
            <a:off x="16887790" y="8891519"/>
            <a:ext cx="371510" cy="366781"/>
          </a:xfrm>
          <a:custGeom>
            <a:avLst/>
            <a:gdLst/>
            <a:ahLst/>
            <a:cxnLst/>
            <a:rect r="r" b="b" t="t" l="l"/>
            <a:pathLst>
              <a:path h="366781" w="371510">
                <a:moveTo>
                  <a:pt x="0" y="0"/>
                </a:moveTo>
                <a:lnTo>
                  <a:pt x="371510" y="0"/>
                </a:lnTo>
                <a:lnTo>
                  <a:pt x="371510" y="366781"/>
                </a:lnTo>
                <a:lnTo>
                  <a:pt x="0" y="366781"/>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8" id="8"/>
          <p:cNvSpPr txBox="true"/>
          <p:nvPr/>
        </p:nvSpPr>
        <p:spPr>
          <a:xfrm rot="0">
            <a:off x="1285413" y="4574913"/>
            <a:ext cx="10966375" cy="1496650"/>
          </a:xfrm>
          <a:prstGeom prst="rect">
            <a:avLst/>
          </a:prstGeom>
        </p:spPr>
        <p:txBody>
          <a:bodyPr anchor="t" rtlCol="false" tIns="0" lIns="0" bIns="0" rIns="0">
            <a:spAutoFit/>
          </a:bodyPr>
          <a:lstStyle/>
          <a:p>
            <a:pPr algn="l">
              <a:lnSpc>
                <a:spcPts val="10957"/>
              </a:lnSpc>
              <a:spcBef>
                <a:spcPct val="0"/>
              </a:spcBef>
            </a:pPr>
            <a:r>
              <a:rPr lang="en-US" sz="7826" b="true">
                <a:solidFill>
                  <a:srgbClr val="7C7AAC"/>
                </a:solidFill>
                <a:latin typeface="Futura Bold"/>
                <a:ea typeface="Futura Bold"/>
                <a:cs typeface="Futura Bold"/>
                <a:sym typeface="Futura Bold"/>
              </a:rPr>
              <a:t>Why DFT is Needed</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sp>
        <p:nvSpPr>
          <p:cNvPr name="TextBox 3" id="3"/>
          <p:cNvSpPr txBox="true"/>
          <p:nvPr/>
        </p:nvSpPr>
        <p:spPr>
          <a:xfrm rot="0">
            <a:off x="1214455" y="200025"/>
            <a:ext cx="6803614" cy="9636328"/>
          </a:xfrm>
          <a:prstGeom prst="rect">
            <a:avLst/>
          </a:prstGeom>
        </p:spPr>
        <p:txBody>
          <a:bodyPr anchor="t" rtlCol="false" tIns="0" lIns="0" bIns="0" rIns="0">
            <a:spAutoFit/>
          </a:bodyPr>
          <a:lstStyle/>
          <a:p>
            <a:pPr algn="l">
              <a:lnSpc>
                <a:spcPts val="14426"/>
              </a:lnSpc>
            </a:pPr>
            <a:r>
              <a:rPr lang="en-US" sz="16581" spc="2653" b="true">
                <a:solidFill>
                  <a:srgbClr val="041226">
                    <a:alpha val="4706"/>
                  </a:srgbClr>
                </a:solidFill>
                <a:latin typeface="Futura Bold"/>
                <a:ea typeface="Futura Bold"/>
                <a:cs typeface="Futura Bold"/>
                <a:sym typeface="Futura Bold"/>
              </a:rPr>
              <a:t>design for testabality</a:t>
            </a:r>
          </a:p>
        </p:txBody>
      </p:sp>
      <p:sp>
        <p:nvSpPr>
          <p:cNvPr name="Freeform 4" id="4"/>
          <p:cNvSpPr/>
          <p:nvPr/>
        </p:nvSpPr>
        <p:spPr>
          <a:xfrm flipH="true" flipV="false" rot="0">
            <a:off x="1028700" y="8891519"/>
            <a:ext cx="371510" cy="366781"/>
          </a:xfrm>
          <a:custGeom>
            <a:avLst/>
            <a:gdLst/>
            <a:ahLst/>
            <a:cxnLst/>
            <a:rect r="r" b="b" t="t" l="l"/>
            <a:pathLst>
              <a:path h="366781" w="371510">
                <a:moveTo>
                  <a:pt x="371510" y="0"/>
                </a:moveTo>
                <a:lnTo>
                  <a:pt x="0" y="0"/>
                </a:lnTo>
                <a:lnTo>
                  <a:pt x="0" y="366781"/>
                </a:lnTo>
                <a:lnTo>
                  <a:pt x="371510" y="366781"/>
                </a:lnTo>
                <a:lnTo>
                  <a:pt x="37151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5" id="5"/>
          <p:cNvSpPr txBox="true"/>
          <p:nvPr/>
        </p:nvSpPr>
        <p:spPr>
          <a:xfrm rot="0">
            <a:off x="1400210" y="1137771"/>
            <a:ext cx="9137798" cy="1234535"/>
          </a:xfrm>
          <a:prstGeom prst="rect">
            <a:avLst/>
          </a:prstGeom>
        </p:spPr>
        <p:txBody>
          <a:bodyPr anchor="t" rtlCol="false" tIns="0" lIns="0" bIns="0" rIns="0">
            <a:spAutoFit/>
          </a:bodyPr>
          <a:lstStyle/>
          <a:p>
            <a:pPr algn="l">
              <a:lnSpc>
                <a:spcPts val="8296"/>
              </a:lnSpc>
            </a:pPr>
            <a:r>
              <a:rPr lang="en-US" sz="7826" spc="62" b="true">
                <a:solidFill>
                  <a:srgbClr val="7C7AAC"/>
                </a:solidFill>
                <a:latin typeface="Futura Bold"/>
                <a:ea typeface="Futura Bold"/>
                <a:cs typeface="Futura Bold"/>
                <a:sym typeface="Futura Bold"/>
              </a:rPr>
              <a:t>DFT Goals</a:t>
            </a:r>
          </a:p>
        </p:txBody>
      </p:sp>
      <p:sp>
        <p:nvSpPr>
          <p:cNvPr name="TextBox 6" id="6"/>
          <p:cNvSpPr txBox="true"/>
          <p:nvPr/>
        </p:nvSpPr>
        <p:spPr>
          <a:xfrm rot="0">
            <a:off x="1400210" y="3083395"/>
            <a:ext cx="7743790" cy="2832735"/>
          </a:xfrm>
          <a:prstGeom prst="rect">
            <a:avLst/>
          </a:prstGeom>
        </p:spPr>
        <p:txBody>
          <a:bodyPr anchor="t" rtlCol="false" tIns="0" lIns="0" bIns="0" rIns="0">
            <a:spAutoFit/>
          </a:bodyPr>
          <a:lstStyle/>
          <a:p>
            <a:pPr algn="just" marL="561334" indent="-280667" lvl="1">
              <a:lnSpc>
                <a:spcPts val="3639"/>
              </a:lnSpc>
              <a:buFont typeface="Arial"/>
              <a:buChar char="•"/>
            </a:pPr>
            <a:r>
              <a:rPr lang="en-US" sz="2599">
                <a:solidFill>
                  <a:srgbClr val="4D4D4D"/>
                </a:solidFill>
                <a:latin typeface="Montserrat"/>
                <a:ea typeface="Montserrat"/>
                <a:cs typeface="Montserrat"/>
                <a:sym typeface="Montserrat"/>
              </a:rPr>
              <a:t>Increase fault coverage</a:t>
            </a:r>
          </a:p>
          <a:p>
            <a:pPr algn="just" marL="561334" indent="-280667" lvl="1">
              <a:lnSpc>
                <a:spcPts val="3639"/>
              </a:lnSpc>
              <a:buFont typeface="Arial"/>
              <a:buChar char="•"/>
            </a:pPr>
            <a:r>
              <a:rPr lang="en-US" sz="2599">
                <a:solidFill>
                  <a:srgbClr val="4D4D4D"/>
                </a:solidFill>
                <a:latin typeface="Montserrat"/>
                <a:ea typeface="Montserrat"/>
                <a:cs typeface="Montserrat"/>
                <a:sym typeface="Montserrat"/>
              </a:rPr>
              <a:t>Reduce test time</a:t>
            </a:r>
          </a:p>
          <a:p>
            <a:pPr algn="just" marL="561334" indent="-280667" lvl="1">
              <a:lnSpc>
                <a:spcPts val="3639"/>
              </a:lnSpc>
              <a:buFont typeface="Arial"/>
              <a:buChar char="•"/>
            </a:pPr>
            <a:r>
              <a:rPr lang="en-US" sz="2599">
                <a:solidFill>
                  <a:srgbClr val="4D4D4D"/>
                </a:solidFill>
                <a:latin typeface="Montserrat"/>
                <a:ea typeface="Montserrat"/>
                <a:cs typeface="Montserrat"/>
                <a:sym typeface="Montserrat"/>
              </a:rPr>
              <a:t>Reduce test cost</a:t>
            </a:r>
          </a:p>
          <a:p>
            <a:pPr algn="just" marL="561334" indent="-280667" lvl="1">
              <a:lnSpc>
                <a:spcPts val="3639"/>
              </a:lnSpc>
              <a:buFont typeface="Arial"/>
              <a:buChar char="•"/>
            </a:pPr>
            <a:r>
              <a:rPr lang="en-US" sz="2599">
                <a:solidFill>
                  <a:srgbClr val="4D4D4D"/>
                </a:solidFill>
                <a:latin typeface="Montserrat"/>
                <a:ea typeface="Montserrat"/>
                <a:cs typeface="Montserrat"/>
                <a:sym typeface="Montserrat"/>
              </a:rPr>
              <a:t>Ensure easy diagnosis of failures</a:t>
            </a:r>
          </a:p>
          <a:p>
            <a:pPr algn="just" marL="561334" indent="-280667" lvl="1">
              <a:lnSpc>
                <a:spcPts val="3639"/>
              </a:lnSpc>
              <a:buFont typeface="Arial"/>
              <a:buChar char="•"/>
            </a:pPr>
            <a:r>
              <a:rPr lang="en-US" sz="2599">
                <a:solidFill>
                  <a:srgbClr val="4D4D4D"/>
                </a:solidFill>
                <a:latin typeface="Montserrat"/>
                <a:ea typeface="Montserrat"/>
                <a:cs typeface="Montserrat"/>
                <a:sym typeface="Montserrat"/>
              </a:rPr>
              <a:t>Support automation (ATPG)</a:t>
            </a:r>
          </a:p>
          <a:p>
            <a:pPr algn="just">
              <a:lnSpc>
                <a:spcPts val="2239"/>
              </a:lnSpc>
            </a:pPr>
          </a:p>
          <a:p>
            <a:pPr algn="just">
              <a:lnSpc>
                <a:spcPts val="2239"/>
              </a:lnSpc>
              <a:spcBef>
                <a:spcPct val="0"/>
              </a:spcBef>
            </a:pPr>
          </a:p>
        </p:txBody>
      </p:sp>
      <p:sp>
        <p:nvSpPr>
          <p:cNvPr name="Freeform 7" id="7"/>
          <p:cNvSpPr/>
          <p:nvPr/>
        </p:nvSpPr>
        <p:spPr>
          <a:xfrm flipH="false" flipV="true" rot="0">
            <a:off x="16499478" y="1028700"/>
            <a:ext cx="759822" cy="750151"/>
          </a:xfrm>
          <a:custGeom>
            <a:avLst/>
            <a:gdLst/>
            <a:ahLst/>
            <a:cxnLst/>
            <a:rect r="r" b="b" t="t" l="l"/>
            <a:pathLst>
              <a:path h="750151" w="759822">
                <a:moveTo>
                  <a:pt x="0" y="750151"/>
                </a:moveTo>
                <a:lnTo>
                  <a:pt x="759822" y="750151"/>
                </a:lnTo>
                <a:lnTo>
                  <a:pt x="759822" y="0"/>
                </a:lnTo>
                <a:lnTo>
                  <a:pt x="0" y="0"/>
                </a:lnTo>
                <a:lnTo>
                  <a:pt x="0" y="750151"/>
                </a:lnTo>
                <a:close/>
              </a:path>
            </a:pathLst>
          </a:custGeom>
          <a:blipFill>
            <a:blip r:embed="rId3">
              <a:extLst>
                <a:ext uri="{96DAC541-7B7A-43D3-8B79-37D633B846F1}">
                  <asvg:svgBlip xmlns:asvg="http://schemas.microsoft.com/office/drawing/2016/SVG/main" r:embed="rId4"/>
                </a:ext>
              </a:extLst>
            </a:blip>
            <a:stretch>
              <a:fillRect l="0" t="0" r="0" b="0"/>
            </a:stretch>
          </a:blipFill>
        </p:spPr>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sp>
        <p:nvSpPr>
          <p:cNvPr name="TextBox 3" id="3"/>
          <p:cNvSpPr txBox="true"/>
          <p:nvPr/>
        </p:nvSpPr>
        <p:spPr>
          <a:xfrm rot="0">
            <a:off x="0" y="5704307"/>
            <a:ext cx="18288000" cy="4412410"/>
          </a:xfrm>
          <a:prstGeom prst="rect">
            <a:avLst/>
          </a:prstGeom>
        </p:spPr>
        <p:txBody>
          <a:bodyPr anchor="t" rtlCol="false" tIns="0" lIns="0" bIns="0" rIns="0">
            <a:spAutoFit/>
          </a:bodyPr>
          <a:lstStyle/>
          <a:p>
            <a:pPr algn="r">
              <a:lnSpc>
                <a:spcPts val="27458"/>
              </a:lnSpc>
            </a:pPr>
            <a:r>
              <a:rPr lang="en-US" b="true" sz="31561" spc="5049">
                <a:solidFill>
                  <a:srgbClr val="041226">
                    <a:alpha val="4706"/>
                  </a:srgbClr>
                </a:solidFill>
                <a:latin typeface="Futura Bold"/>
                <a:ea typeface="Futura Bold"/>
                <a:cs typeface="Futura Bold"/>
                <a:sym typeface="Futura Bold"/>
              </a:rPr>
              <a:t>DFT</a:t>
            </a:r>
          </a:p>
        </p:txBody>
      </p:sp>
      <p:sp>
        <p:nvSpPr>
          <p:cNvPr name="TextBox 4" id="4"/>
          <p:cNvSpPr txBox="true"/>
          <p:nvPr/>
        </p:nvSpPr>
        <p:spPr>
          <a:xfrm rot="0">
            <a:off x="1375713" y="1034034"/>
            <a:ext cx="9056215" cy="1496650"/>
          </a:xfrm>
          <a:prstGeom prst="rect">
            <a:avLst/>
          </a:prstGeom>
        </p:spPr>
        <p:txBody>
          <a:bodyPr anchor="t" rtlCol="false" tIns="0" lIns="0" bIns="0" rIns="0">
            <a:spAutoFit/>
          </a:bodyPr>
          <a:lstStyle/>
          <a:p>
            <a:pPr algn="ctr">
              <a:lnSpc>
                <a:spcPts val="10957"/>
              </a:lnSpc>
              <a:spcBef>
                <a:spcPct val="0"/>
              </a:spcBef>
            </a:pPr>
            <a:r>
              <a:rPr lang="en-US" b="true" sz="7826">
                <a:solidFill>
                  <a:srgbClr val="7C7AAC"/>
                </a:solidFill>
                <a:latin typeface="Futura Bold"/>
                <a:ea typeface="Futura Bold"/>
                <a:cs typeface="Futura Bold"/>
                <a:sym typeface="Futura Bold"/>
              </a:rPr>
              <a:t>Key DFT Techniques</a:t>
            </a:r>
          </a:p>
        </p:txBody>
      </p:sp>
      <p:sp>
        <p:nvSpPr>
          <p:cNvPr name="TextBox 5" id="5"/>
          <p:cNvSpPr txBox="true"/>
          <p:nvPr/>
        </p:nvSpPr>
        <p:spPr>
          <a:xfrm rot="0">
            <a:off x="1172431" y="2911125"/>
            <a:ext cx="13658364" cy="3373756"/>
          </a:xfrm>
          <a:prstGeom prst="rect">
            <a:avLst/>
          </a:prstGeom>
        </p:spPr>
        <p:txBody>
          <a:bodyPr anchor="t" rtlCol="false" tIns="0" lIns="0" bIns="0" rIns="0">
            <a:spAutoFit/>
          </a:bodyPr>
          <a:lstStyle/>
          <a:p>
            <a:pPr algn="just" marL="755639" indent="-377820" lvl="1">
              <a:lnSpc>
                <a:spcPts val="4899"/>
              </a:lnSpc>
              <a:buFont typeface="Arial"/>
              <a:buChar char="•"/>
            </a:pPr>
            <a:r>
              <a:rPr lang="en-US" b="true" sz="3499">
                <a:solidFill>
                  <a:srgbClr val="000000"/>
                </a:solidFill>
                <a:latin typeface="Montserrat Bold"/>
                <a:ea typeface="Montserrat Bold"/>
                <a:cs typeface="Montserrat Bold"/>
                <a:sym typeface="Montserrat Bold"/>
              </a:rPr>
              <a:t>Scan Design / Scan Chains</a:t>
            </a:r>
          </a:p>
          <a:p>
            <a:pPr algn="just" marL="755639" indent="-377820" lvl="1">
              <a:lnSpc>
                <a:spcPts val="4899"/>
              </a:lnSpc>
              <a:buFont typeface="Arial"/>
              <a:buChar char="•"/>
            </a:pPr>
            <a:r>
              <a:rPr lang="en-US" b="true" sz="3499">
                <a:solidFill>
                  <a:srgbClr val="000000"/>
                </a:solidFill>
                <a:latin typeface="Montserrat Bold"/>
                <a:ea typeface="Montserrat Bold"/>
                <a:cs typeface="Montserrat Bold"/>
                <a:sym typeface="Montserrat Bold"/>
              </a:rPr>
              <a:t>ATPG (Automatic Test Pattern Generation)</a:t>
            </a:r>
          </a:p>
          <a:p>
            <a:pPr algn="just" marL="755639" indent="-377820" lvl="1">
              <a:lnSpc>
                <a:spcPts val="4899"/>
              </a:lnSpc>
              <a:buFont typeface="Arial"/>
              <a:buChar char="•"/>
            </a:pPr>
            <a:r>
              <a:rPr lang="en-US" b="true" sz="3499">
                <a:solidFill>
                  <a:srgbClr val="000000"/>
                </a:solidFill>
                <a:latin typeface="Montserrat Bold"/>
                <a:ea typeface="Montserrat Bold"/>
                <a:cs typeface="Montserrat Bold"/>
                <a:sym typeface="Montserrat Bold"/>
              </a:rPr>
              <a:t>L</a:t>
            </a:r>
            <a:r>
              <a:rPr lang="en-US" b="true" sz="3499">
                <a:solidFill>
                  <a:srgbClr val="000000"/>
                </a:solidFill>
                <a:latin typeface="Montserrat Bold"/>
                <a:ea typeface="Montserrat Bold"/>
                <a:cs typeface="Montserrat Bold"/>
                <a:sym typeface="Montserrat Bold"/>
              </a:rPr>
              <a:t>BIST (Logic Built-In Self Test)</a:t>
            </a:r>
          </a:p>
          <a:p>
            <a:pPr algn="just" marL="755639" indent="-377820" lvl="1">
              <a:lnSpc>
                <a:spcPts val="4899"/>
              </a:lnSpc>
              <a:buFont typeface="Arial"/>
              <a:buChar char="•"/>
            </a:pPr>
            <a:r>
              <a:rPr lang="en-US" b="true" sz="3499">
                <a:solidFill>
                  <a:srgbClr val="000000"/>
                </a:solidFill>
                <a:latin typeface="Montserrat Bold"/>
                <a:ea typeface="Montserrat Bold"/>
                <a:cs typeface="Montserrat Bold"/>
                <a:sym typeface="Montserrat Bold"/>
              </a:rPr>
              <a:t>JTAG / Boundary Scan (IEEE 1149.1)</a:t>
            </a:r>
          </a:p>
          <a:p>
            <a:pPr algn="just" marL="755639" indent="-377820" lvl="1">
              <a:lnSpc>
                <a:spcPts val="4899"/>
              </a:lnSpc>
              <a:buFont typeface="Arial"/>
              <a:buChar char="•"/>
            </a:pPr>
            <a:r>
              <a:rPr lang="en-US" b="true" sz="3499">
                <a:solidFill>
                  <a:srgbClr val="000000"/>
                </a:solidFill>
                <a:latin typeface="Montserrat Bold"/>
                <a:ea typeface="Montserrat Bold"/>
                <a:cs typeface="Montserrat Bold"/>
                <a:sym typeface="Montserrat Bold"/>
              </a:rPr>
              <a:t>Test Compression Techniques</a:t>
            </a:r>
          </a:p>
          <a:p>
            <a:pPr algn="just">
              <a:lnSpc>
                <a:spcPts val="2239"/>
              </a:lnSpc>
              <a:spcBef>
                <a:spcPct val="0"/>
              </a:spcBef>
            </a:pP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sp>
        <p:nvSpPr>
          <p:cNvPr name="TextBox 3" id="3"/>
          <p:cNvSpPr txBox="true"/>
          <p:nvPr/>
        </p:nvSpPr>
        <p:spPr>
          <a:xfrm rot="0">
            <a:off x="295416" y="328930"/>
            <a:ext cx="16583974" cy="2688171"/>
          </a:xfrm>
          <a:prstGeom prst="rect">
            <a:avLst/>
          </a:prstGeom>
        </p:spPr>
        <p:txBody>
          <a:bodyPr anchor="t" rtlCol="false" tIns="0" lIns="0" bIns="0" rIns="0">
            <a:spAutoFit/>
          </a:bodyPr>
          <a:lstStyle/>
          <a:p>
            <a:pPr algn="l">
              <a:lnSpc>
                <a:spcPts val="9780"/>
              </a:lnSpc>
            </a:pPr>
            <a:r>
              <a:rPr lang="en-US" sz="9226" spc="73" b="true">
                <a:solidFill>
                  <a:srgbClr val="7C7AAC"/>
                </a:solidFill>
                <a:latin typeface="Futura Bold"/>
                <a:ea typeface="Futura Bold"/>
                <a:cs typeface="Futura Bold"/>
                <a:sym typeface="Futura Bold"/>
              </a:rPr>
              <a:t> Scan chain and ATPG</a:t>
            </a:r>
          </a:p>
          <a:p>
            <a:pPr algn="l">
              <a:lnSpc>
                <a:spcPts val="9780"/>
              </a:lnSpc>
            </a:pPr>
          </a:p>
        </p:txBody>
      </p:sp>
      <p:sp>
        <p:nvSpPr>
          <p:cNvPr name="TextBox 4" id="4"/>
          <p:cNvSpPr txBox="true"/>
          <p:nvPr/>
        </p:nvSpPr>
        <p:spPr>
          <a:xfrm rot="-5400000">
            <a:off x="11326231" y="4125331"/>
            <a:ext cx="10287000" cy="2036337"/>
          </a:xfrm>
          <a:prstGeom prst="rect">
            <a:avLst/>
          </a:prstGeom>
        </p:spPr>
        <p:txBody>
          <a:bodyPr anchor="t" rtlCol="false" tIns="0" lIns="0" bIns="0" rIns="0">
            <a:spAutoFit/>
          </a:bodyPr>
          <a:lstStyle/>
          <a:p>
            <a:pPr algn="ctr">
              <a:lnSpc>
                <a:spcPts val="12612"/>
              </a:lnSpc>
            </a:pPr>
            <a:r>
              <a:rPr lang="en-US" b="true" sz="14497" spc="2319">
                <a:solidFill>
                  <a:srgbClr val="041226">
                    <a:alpha val="4706"/>
                  </a:srgbClr>
                </a:solidFill>
                <a:latin typeface="Futura Bold"/>
                <a:ea typeface="Futura Bold"/>
                <a:cs typeface="Futura Bold"/>
                <a:sym typeface="Futura Bold"/>
              </a:rPr>
              <a:t>DFT</a:t>
            </a:r>
          </a:p>
        </p:txBody>
      </p:sp>
      <p:sp>
        <p:nvSpPr>
          <p:cNvPr name="Freeform 5" id="5"/>
          <p:cNvSpPr/>
          <p:nvPr/>
        </p:nvSpPr>
        <p:spPr>
          <a:xfrm flipH="false" flipV="true" rot="0">
            <a:off x="16499478" y="1028700"/>
            <a:ext cx="759822" cy="750151"/>
          </a:xfrm>
          <a:custGeom>
            <a:avLst/>
            <a:gdLst/>
            <a:ahLst/>
            <a:cxnLst/>
            <a:rect r="r" b="b" t="t" l="l"/>
            <a:pathLst>
              <a:path h="750151" w="759822">
                <a:moveTo>
                  <a:pt x="0" y="750151"/>
                </a:moveTo>
                <a:lnTo>
                  <a:pt x="759822" y="750151"/>
                </a:lnTo>
                <a:lnTo>
                  <a:pt x="759822" y="0"/>
                </a:lnTo>
                <a:lnTo>
                  <a:pt x="0" y="0"/>
                </a:lnTo>
                <a:lnTo>
                  <a:pt x="0" y="750151"/>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6" id="6"/>
          <p:cNvSpPr/>
          <p:nvPr/>
        </p:nvSpPr>
        <p:spPr>
          <a:xfrm flipH="true" flipV="false" rot="0">
            <a:off x="1028700" y="8891519"/>
            <a:ext cx="371510" cy="366781"/>
          </a:xfrm>
          <a:custGeom>
            <a:avLst/>
            <a:gdLst/>
            <a:ahLst/>
            <a:cxnLst/>
            <a:rect r="r" b="b" t="t" l="l"/>
            <a:pathLst>
              <a:path h="366781" w="371510">
                <a:moveTo>
                  <a:pt x="371510" y="0"/>
                </a:moveTo>
                <a:lnTo>
                  <a:pt x="0" y="0"/>
                </a:lnTo>
                <a:lnTo>
                  <a:pt x="0" y="366781"/>
                </a:lnTo>
                <a:lnTo>
                  <a:pt x="371510" y="366781"/>
                </a:lnTo>
                <a:lnTo>
                  <a:pt x="37151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7" id="7"/>
          <p:cNvSpPr/>
          <p:nvPr/>
        </p:nvSpPr>
        <p:spPr>
          <a:xfrm flipH="false" flipV="false" rot="0">
            <a:off x="2689532" y="3946963"/>
            <a:ext cx="11301259" cy="5127946"/>
          </a:xfrm>
          <a:custGeom>
            <a:avLst/>
            <a:gdLst/>
            <a:ahLst/>
            <a:cxnLst/>
            <a:rect r="r" b="b" t="t" l="l"/>
            <a:pathLst>
              <a:path h="5127946" w="11301259">
                <a:moveTo>
                  <a:pt x="0" y="0"/>
                </a:moveTo>
                <a:lnTo>
                  <a:pt x="11301259" y="0"/>
                </a:lnTo>
                <a:lnTo>
                  <a:pt x="11301259" y="5127946"/>
                </a:lnTo>
                <a:lnTo>
                  <a:pt x="0" y="5127946"/>
                </a:lnTo>
                <a:lnTo>
                  <a:pt x="0" y="0"/>
                </a:lnTo>
                <a:close/>
              </a:path>
            </a:pathLst>
          </a:custGeom>
          <a:blipFill>
            <a:blip r:embed="rId5"/>
            <a:stretch>
              <a:fillRect l="0" t="0" r="0" b="0"/>
            </a:stretch>
          </a:blipFill>
        </p:spPr>
      </p:sp>
      <p:sp>
        <p:nvSpPr>
          <p:cNvPr name="TextBox 8" id="8"/>
          <p:cNvSpPr txBox="true"/>
          <p:nvPr/>
        </p:nvSpPr>
        <p:spPr>
          <a:xfrm rot="0">
            <a:off x="1400210" y="2073472"/>
            <a:ext cx="14193472" cy="2014855"/>
          </a:xfrm>
          <a:prstGeom prst="rect">
            <a:avLst/>
          </a:prstGeom>
        </p:spPr>
        <p:txBody>
          <a:bodyPr anchor="t" rtlCol="false" tIns="0" lIns="0" bIns="0" rIns="0">
            <a:spAutoFit/>
          </a:bodyPr>
          <a:lstStyle/>
          <a:p>
            <a:pPr algn="just" marL="539745" indent="-269872" lvl="1">
              <a:lnSpc>
                <a:spcPts val="3499"/>
              </a:lnSpc>
              <a:buFont typeface="Arial"/>
              <a:buChar char="•"/>
            </a:pPr>
            <a:r>
              <a:rPr lang="en-US" sz="2499">
                <a:solidFill>
                  <a:srgbClr val="4D4D4D"/>
                </a:solidFill>
                <a:latin typeface="Montserrat"/>
                <a:ea typeface="Montserrat"/>
                <a:cs typeface="Montserrat"/>
                <a:sym typeface="Montserrat"/>
              </a:rPr>
              <a:t>Scan is the internal modification of the design’s circuitry to increase its test-ability. ATPG stands for Automatic Test Pattern Generation; as the name suggests, this is basically the generation of test patterns. In other words, we can say that Scan makes the process of pattern generation easier for detection of the faults </a:t>
            </a:r>
          </a:p>
          <a:p>
            <a:pPr algn="just">
              <a:lnSpc>
                <a:spcPts val="2239"/>
              </a:lnSpc>
              <a:spcBef>
                <a:spcPct val="0"/>
              </a:spcBef>
            </a:pPr>
            <a:r>
              <a:rPr lang="en-US" sz="1599">
                <a:solidFill>
                  <a:srgbClr val="4D4D4D"/>
                </a:solidFill>
                <a:latin typeface="Montserrat"/>
                <a:ea typeface="Montserrat"/>
                <a:cs typeface="Montserrat"/>
                <a:sym typeface="Montserrat"/>
              </a:rPr>
              <a:t>.</a:t>
            </a:r>
          </a:p>
        </p:txBody>
      </p:sp>
      <p:sp>
        <p:nvSpPr>
          <p:cNvPr name="TextBox 9" id="9"/>
          <p:cNvSpPr txBox="true"/>
          <p:nvPr/>
        </p:nvSpPr>
        <p:spPr>
          <a:xfrm rot="-5400000">
            <a:off x="-650433" y="7909011"/>
            <a:ext cx="2500458" cy="198120"/>
          </a:xfrm>
          <a:prstGeom prst="rect">
            <a:avLst/>
          </a:prstGeom>
        </p:spPr>
        <p:txBody>
          <a:bodyPr anchor="t" rtlCol="false" tIns="0" lIns="0" bIns="0" rIns="0">
            <a:spAutoFit/>
          </a:bodyPr>
          <a:lstStyle/>
          <a:p>
            <a:pPr algn="l">
              <a:lnSpc>
                <a:spcPts val="1679"/>
              </a:lnSpc>
            </a:pPr>
            <a:r>
              <a:rPr lang="en-US" sz="1200" b="true">
                <a:solidFill>
                  <a:srgbClr val="7C7AAC"/>
                </a:solidFill>
                <a:latin typeface="Montserrat Bold"/>
                <a:ea typeface="Montserrat Bold"/>
                <a:cs typeface="Montserrat Bold"/>
                <a:sym typeface="Montserrat Bold"/>
              </a:rPr>
              <a:t>PITCH DECK PRESENTATION</a:t>
            </a:r>
          </a:p>
        </p:txBody>
      </p:sp>
      <p:sp>
        <p:nvSpPr>
          <p:cNvPr name="TextBox 10" id="10"/>
          <p:cNvSpPr txBox="true"/>
          <p:nvPr/>
        </p:nvSpPr>
        <p:spPr>
          <a:xfrm rot="0">
            <a:off x="1906055" y="8853419"/>
            <a:ext cx="14193472" cy="396241"/>
          </a:xfrm>
          <a:prstGeom prst="rect">
            <a:avLst/>
          </a:prstGeom>
        </p:spPr>
        <p:txBody>
          <a:bodyPr anchor="t" rtlCol="false" tIns="0" lIns="0" bIns="0" rIns="0">
            <a:spAutoFit/>
          </a:bodyPr>
          <a:lstStyle/>
          <a:p>
            <a:pPr algn="just">
              <a:lnSpc>
                <a:spcPts val="3359"/>
              </a:lnSpc>
              <a:spcBef>
                <a:spcPct val="0"/>
              </a:spcBef>
            </a:pPr>
            <a:r>
              <a:rPr lang="en-US" sz="2399">
                <a:solidFill>
                  <a:srgbClr val="4D4D4D"/>
                </a:solidFill>
                <a:latin typeface="Montserrat"/>
                <a:ea typeface="Montserrat"/>
                <a:cs typeface="Montserrat"/>
                <a:sym typeface="Montserrat"/>
              </a:rPr>
              <a:t>A typical sequential circuit (before scan insertion)</a:t>
            </a:r>
            <a:r>
              <a:rPr lang="en-US" sz="2399">
                <a:solidFill>
                  <a:srgbClr val="4D4D4D"/>
                </a:solidFill>
                <a:latin typeface="Montserrat"/>
                <a:ea typeface="Montserrat"/>
                <a:cs typeface="Montserrat"/>
                <a:sym typeface="Montserrat"/>
              </a:rPr>
              <a:t>.</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sp>
        <p:nvSpPr>
          <p:cNvPr name="TextBox 3" id="3"/>
          <p:cNvSpPr txBox="true"/>
          <p:nvPr/>
        </p:nvSpPr>
        <p:spPr>
          <a:xfrm rot="0">
            <a:off x="1979878" y="7075882"/>
            <a:ext cx="16308122" cy="3211118"/>
          </a:xfrm>
          <a:prstGeom prst="rect">
            <a:avLst/>
          </a:prstGeom>
        </p:spPr>
        <p:txBody>
          <a:bodyPr anchor="t" rtlCol="false" tIns="0" lIns="0" bIns="0" rIns="0">
            <a:spAutoFit/>
          </a:bodyPr>
          <a:lstStyle/>
          <a:p>
            <a:pPr algn="r">
              <a:lnSpc>
                <a:spcPts val="19995"/>
              </a:lnSpc>
            </a:pPr>
            <a:r>
              <a:rPr lang="en-US" b="true" sz="22983" spc="3677">
                <a:solidFill>
                  <a:srgbClr val="041226">
                    <a:alpha val="4706"/>
                  </a:srgbClr>
                </a:solidFill>
                <a:latin typeface="Futura Bold"/>
                <a:ea typeface="Futura Bold"/>
                <a:cs typeface="Futura Bold"/>
                <a:sym typeface="Futura Bold"/>
              </a:rPr>
              <a:t>dft</a:t>
            </a:r>
          </a:p>
        </p:txBody>
      </p:sp>
      <p:sp>
        <p:nvSpPr>
          <p:cNvPr name="Freeform 4" id="4"/>
          <p:cNvSpPr/>
          <p:nvPr/>
        </p:nvSpPr>
        <p:spPr>
          <a:xfrm flipH="true" flipV="true" rot="0">
            <a:off x="1094413" y="1028700"/>
            <a:ext cx="759822" cy="750151"/>
          </a:xfrm>
          <a:custGeom>
            <a:avLst/>
            <a:gdLst/>
            <a:ahLst/>
            <a:cxnLst/>
            <a:rect r="r" b="b" t="t" l="l"/>
            <a:pathLst>
              <a:path h="750151" w="759822">
                <a:moveTo>
                  <a:pt x="759821" y="750151"/>
                </a:moveTo>
                <a:lnTo>
                  <a:pt x="0" y="750151"/>
                </a:lnTo>
                <a:lnTo>
                  <a:pt x="0" y="0"/>
                </a:lnTo>
                <a:lnTo>
                  <a:pt x="759821" y="0"/>
                </a:lnTo>
                <a:lnTo>
                  <a:pt x="759821" y="750151"/>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0">
            <a:off x="16887790" y="8891519"/>
            <a:ext cx="371510" cy="366781"/>
          </a:xfrm>
          <a:custGeom>
            <a:avLst/>
            <a:gdLst/>
            <a:ahLst/>
            <a:cxnLst/>
            <a:rect r="r" b="b" t="t" l="l"/>
            <a:pathLst>
              <a:path h="366781" w="371510">
                <a:moveTo>
                  <a:pt x="0" y="0"/>
                </a:moveTo>
                <a:lnTo>
                  <a:pt x="371510" y="0"/>
                </a:lnTo>
                <a:lnTo>
                  <a:pt x="371510" y="366781"/>
                </a:lnTo>
                <a:lnTo>
                  <a:pt x="0" y="366781"/>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6" id="6"/>
          <p:cNvSpPr/>
          <p:nvPr/>
        </p:nvSpPr>
        <p:spPr>
          <a:xfrm flipH="false" flipV="false" rot="0">
            <a:off x="1028700" y="4838589"/>
            <a:ext cx="11077682" cy="5106948"/>
          </a:xfrm>
          <a:custGeom>
            <a:avLst/>
            <a:gdLst/>
            <a:ahLst/>
            <a:cxnLst/>
            <a:rect r="r" b="b" t="t" l="l"/>
            <a:pathLst>
              <a:path h="5106948" w="11077682">
                <a:moveTo>
                  <a:pt x="0" y="0"/>
                </a:moveTo>
                <a:lnTo>
                  <a:pt x="11077682" y="0"/>
                </a:lnTo>
                <a:lnTo>
                  <a:pt x="11077682" y="5106948"/>
                </a:lnTo>
                <a:lnTo>
                  <a:pt x="0" y="5106948"/>
                </a:lnTo>
                <a:lnTo>
                  <a:pt x="0" y="0"/>
                </a:lnTo>
                <a:close/>
              </a:path>
            </a:pathLst>
          </a:custGeom>
          <a:blipFill>
            <a:blip r:embed="rId5"/>
            <a:stretch>
              <a:fillRect l="0" t="0" r="0" b="0"/>
            </a:stretch>
          </a:blipFill>
        </p:spPr>
      </p:sp>
      <p:sp>
        <p:nvSpPr>
          <p:cNvPr name="TextBox 7" id="7"/>
          <p:cNvSpPr txBox="true"/>
          <p:nvPr/>
        </p:nvSpPr>
        <p:spPr>
          <a:xfrm rot="0">
            <a:off x="1028700" y="4608214"/>
            <a:ext cx="9754151" cy="730443"/>
          </a:xfrm>
          <a:prstGeom prst="rect">
            <a:avLst/>
          </a:prstGeom>
        </p:spPr>
        <p:txBody>
          <a:bodyPr anchor="t" rtlCol="false" tIns="0" lIns="0" bIns="0" rIns="0">
            <a:spAutoFit/>
          </a:bodyPr>
          <a:lstStyle/>
          <a:p>
            <a:pPr algn="l">
              <a:lnSpc>
                <a:spcPts val="4932"/>
              </a:lnSpc>
            </a:pPr>
            <a:r>
              <a:rPr lang="en-US" sz="4653" spc="37" b="true">
                <a:solidFill>
                  <a:srgbClr val="7C7AAC"/>
                </a:solidFill>
                <a:latin typeface="Futura Bold"/>
                <a:ea typeface="Futura Bold"/>
                <a:cs typeface="Futura Bold"/>
                <a:sym typeface="Futura Bold"/>
              </a:rPr>
              <a:t>Converting Regular Flop to Scan Flop</a:t>
            </a:r>
          </a:p>
        </p:txBody>
      </p:sp>
      <p:sp>
        <p:nvSpPr>
          <p:cNvPr name="TextBox 8" id="8"/>
          <p:cNvSpPr txBox="true"/>
          <p:nvPr/>
        </p:nvSpPr>
        <p:spPr>
          <a:xfrm rot="0">
            <a:off x="1675257" y="1365676"/>
            <a:ext cx="11722720" cy="2893061"/>
          </a:xfrm>
          <a:prstGeom prst="rect">
            <a:avLst/>
          </a:prstGeom>
        </p:spPr>
        <p:txBody>
          <a:bodyPr anchor="t" rtlCol="false" tIns="0" lIns="0" bIns="0" rIns="0">
            <a:spAutoFit/>
          </a:bodyPr>
          <a:lstStyle/>
          <a:p>
            <a:pPr algn="just" marL="518155" indent="-259078" lvl="1">
              <a:lnSpc>
                <a:spcPts val="3359"/>
              </a:lnSpc>
              <a:buFont typeface="Arial"/>
              <a:buChar char="•"/>
            </a:pPr>
            <a:r>
              <a:rPr lang="en-US" sz="2399">
                <a:solidFill>
                  <a:srgbClr val="4D4D4D"/>
                </a:solidFill>
                <a:latin typeface="Montserrat"/>
                <a:ea typeface="Montserrat"/>
                <a:cs typeface="Montserrat"/>
                <a:sym typeface="Montserrat"/>
              </a:rPr>
              <a:t>All FFs replaced with Scan Flip-Flops</a:t>
            </a:r>
          </a:p>
          <a:p>
            <a:pPr algn="just" marL="518155" indent="-259078" lvl="1">
              <a:lnSpc>
                <a:spcPts val="3359"/>
              </a:lnSpc>
              <a:buFont typeface="Arial"/>
              <a:buChar char="•"/>
            </a:pPr>
            <a:r>
              <a:rPr lang="en-US" sz="2399">
                <a:solidFill>
                  <a:srgbClr val="4D4D4D"/>
                </a:solidFill>
                <a:latin typeface="Montserrat"/>
                <a:ea typeface="Montserrat"/>
                <a:cs typeface="Montserrat"/>
                <a:sym typeface="Montserrat"/>
              </a:rPr>
              <a:t>FFs connected to form scan chains</a:t>
            </a:r>
          </a:p>
          <a:p>
            <a:pPr algn="just" marL="518155" indent="-259078" lvl="1">
              <a:lnSpc>
                <a:spcPts val="3359"/>
              </a:lnSpc>
              <a:buFont typeface="Arial"/>
              <a:buChar char="•"/>
            </a:pPr>
            <a:r>
              <a:rPr lang="en-US" sz="2399">
                <a:solidFill>
                  <a:srgbClr val="4D4D4D"/>
                </a:solidFill>
                <a:latin typeface="Montserrat"/>
                <a:ea typeface="Montserrat"/>
                <a:cs typeface="Montserrat"/>
                <a:sym typeface="Montserrat"/>
              </a:rPr>
              <a:t>Operation modes:</a:t>
            </a:r>
          </a:p>
          <a:p>
            <a:pPr algn="just" marL="1036310" indent="-345437" lvl="2">
              <a:lnSpc>
                <a:spcPts val="3359"/>
              </a:lnSpc>
              <a:buFont typeface="Arial"/>
              <a:buChar char="⚬"/>
            </a:pPr>
            <a:r>
              <a:rPr lang="en-US" sz="2399">
                <a:solidFill>
                  <a:srgbClr val="4D4D4D"/>
                </a:solidFill>
                <a:latin typeface="Montserrat"/>
                <a:ea typeface="Montserrat"/>
                <a:cs typeface="Montserrat"/>
                <a:sym typeface="Montserrat"/>
              </a:rPr>
              <a:t>Scan Mode: Shift-in / shift-out test data</a:t>
            </a:r>
          </a:p>
          <a:p>
            <a:pPr algn="just" marL="1036310" indent="-345437" lvl="2">
              <a:lnSpc>
                <a:spcPts val="3359"/>
              </a:lnSpc>
              <a:buFont typeface="Arial"/>
              <a:buChar char="⚬"/>
            </a:pPr>
            <a:r>
              <a:rPr lang="en-US" sz="2399">
                <a:solidFill>
                  <a:srgbClr val="4D4D4D"/>
                </a:solidFill>
                <a:latin typeface="Montserrat"/>
                <a:ea typeface="Montserrat"/>
                <a:cs typeface="Montserrat"/>
                <a:sym typeface="Montserrat"/>
              </a:rPr>
              <a:t>Functional Mode: Normal logic operation</a:t>
            </a:r>
          </a:p>
          <a:p>
            <a:pPr algn="just" marL="518155" indent="-259078" lvl="1">
              <a:lnSpc>
                <a:spcPts val="3359"/>
              </a:lnSpc>
              <a:buFont typeface="Arial"/>
              <a:buChar char="•"/>
            </a:pPr>
            <a:r>
              <a:rPr lang="en-US" sz="2399">
                <a:solidFill>
                  <a:srgbClr val="4D4D4D"/>
                </a:solidFill>
                <a:latin typeface="Montserrat"/>
                <a:ea typeface="Montserrat"/>
                <a:cs typeface="Montserrat"/>
                <a:sym typeface="Montserrat"/>
              </a:rPr>
              <a:t>Enables control/observe of internal registers</a:t>
            </a:r>
          </a:p>
          <a:p>
            <a:pPr algn="just">
              <a:lnSpc>
                <a:spcPts val="3219"/>
              </a:lnSpc>
              <a:spcBef>
                <a:spcPct val="0"/>
              </a:spcBef>
            </a:pP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sp>
        <p:nvSpPr>
          <p:cNvPr name="Freeform 3" id="3"/>
          <p:cNvSpPr/>
          <p:nvPr/>
        </p:nvSpPr>
        <p:spPr>
          <a:xfrm flipH="true" flipV="true" rot="0">
            <a:off x="1028700" y="1054047"/>
            <a:ext cx="371510" cy="366781"/>
          </a:xfrm>
          <a:custGeom>
            <a:avLst/>
            <a:gdLst/>
            <a:ahLst/>
            <a:cxnLst/>
            <a:rect r="r" b="b" t="t" l="l"/>
            <a:pathLst>
              <a:path h="366781" w="371510">
                <a:moveTo>
                  <a:pt x="371510" y="366781"/>
                </a:moveTo>
                <a:lnTo>
                  <a:pt x="0" y="366781"/>
                </a:lnTo>
                <a:lnTo>
                  <a:pt x="0" y="0"/>
                </a:lnTo>
                <a:lnTo>
                  <a:pt x="371510" y="0"/>
                </a:lnTo>
                <a:lnTo>
                  <a:pt x="371510" y="366781"/>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16499478" y="8508149"/>
            <a:ext cx="759822" cy="750151"/>
          </a:xfrm>
          <a:custGeom>
            <a:avLst/>
            <a:gdLst/>
            <a:ahLst/>
            <a:cxnLst/>
            <a:rect r="r" b="b" t="t" l="l"/>
            <a:pathLst>
              <a:path h="750151" w="759822">
                <a:moveTo>
                  <a:pt x="0" y="0"/>
                </a:moveTo>
                <a:lnTo>
                  <a:pt x="759822" y="0"/>
                </a:lnTo>
                <a:lnTo>
                  <a:pt x="759822" y="750151"/>
                </a:lnTo>
                <a:lnTo>
                  <a:pt x="0" y="750151"/>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0">
            <a:off x="6413944" y="3367519"/>
            <a:ext cx="11301259" cy="5890781"/>
          </a:xfrm>
          <a:custGeom>
            <a:avLst/>
            <a:gdLst/>
            <a:ahLst/>
            <a:cxnLst/>
            <a:rect r="r" b="b" t="t" l="l"/>
            <a:pathLst>
              <a:path h="5890781" w="11301259">
                <a:moveTo>
                  <a:pt x="0" y="0"/>
                </a:moveTo>
                <a:lnTo>
                  <a:pt x="11301259" y="0"/>
                </a:lnTo>
                <a:lnTo>
                  <a:pt x="11301259" y="5890781"/>
                </a:lnTo>
                <a:lnTo>
                  <a:pt x="0" y="5890781"/>
                </a:lnTo>
                <a:lnTo>
                  <a:pt x="0" y="0"/>
                </a:lnTo>
                <a:close/>
              </a:path>
            </a:pathLst>
          </a:custGeom>
          <a:blipFill>
            <a:blip r:embed="rId5"/>
            <a:stretch>
              <a:fillRect l="0" t="0" r="0" b="0"/>
            </a:stretch>
          </a:blipFill>
        </p:spPr>
      </p:sp>
      <p:sp>
        <p:nvSpPr>
          <p:cNvPr name="TextBox 6" id="6"/>
          <p:cNvSpPr txBox="true"/>
          <p:nvPr/>
        </p:nvSpPr>
        <p:spPr>
          <a:xfrm rot="0">
            <a:off x="1400210" y="1706578"/>
            <a:ext cx="7306471" cy="3340660"/>
          </a:xfrm>
          <a:prstGeom prst="rect">
            <a:avLst/>
          </a:prstGeom>
        </p:spPr>
        <p:txBody>
          <a:bodyPr anchor="t" rtlCol="false" tIns="0" lIns="0" bIns="0" rIns="0">
            <a:spAutoFit/>
          </a:bodyPr>
          <a:lstStyle/>
          <a:p>
            <a:pPr algn="l">
              <a:lnSpc>
                <a:spcPts val="20707"/>
              </a:lnSpc>
            </a:pPr>
            <a:r>
              <a:rPr lang="en-US" sz="23801" spc="3808" b="true">
                <a:solidFill>
                  <a:srgbClr val="041226">
                    <a:alpha val="4706"/>
                  </a:srgbClr>
                </a:solidFill>
                <a:latin typeface="Futura Bold"/>
                <a:ea typeface="Futura Bold"/>
                <a:cs typeface="Futura Bold"/>
                <a:sym typeface="Futura Bold"/>
              </a:rPr>
              <a:t>DFT</a:t>
            </a:r>
          </a:p>
        </p:txBody>
      </p:sp>
      <p:sp>
        <p:nvSpPr>
          <p:cNvPr name="TextBox 7" id="7"/>
          <p:cNvSpPr txBox="true"/>
          <p:nvPr/>
        </p:nvSpPr>
        <p:spPr>
          <a:xfrm rot="0">
            <a:off x="1680910" y="1382728"/>
            <a:ext cx="15198479" cy="912351"/>
          </a:xfrm>
          <a:prstGeom prst="rect">
            <a:avLst/>
          </a:prstGeom>
        </p:spPr>
        <p:txBody>
          <a:bodyPr anchor="t" rtlCol="false" tIns="0" lIns="0" bIns="0" rIns="0">
            <a:spAutoFit/>
          </a:bodyPr>
          <a:lstStyle/>
          <a:p>
            <a:pPr algn="l">
              <a:lnSpc>
                <a:spcPts val="6124"/>
              </a:lnSpc>
            </a:pPr>
            <a:r>
              <a:rPr lang="en-US" sz="5777" spc="46" b="true">
                <a:solidFill>
                  <a:srgbClr val="7C7AAC"/>
                </a:solidFill>
                <a:latin typeface="Futura Bold"/>
                <a:ea typeface="Futura Bold"/>
                <a:cs typeface="Futura Bold"/>
                <a:sym typeface="Futura Bold"/>
              </a:rPr>
              <a:t>Stitching the Scan Flops to form Scan Chains</a:t>
            </a:r>
          </a:p>
        </p:txBody>
      </p:sp>
      <p:sp>
        <p:nvSpPr>
          <p:cNvPr name="TextBox 8" id="8"/>
          <p:cNvSpPr txBox="true"/>
          <p:nvPr/>
        </p:nvSpPr>
        <p:spPr>
          <a:xfrm rot="0">
            <a:off x="1214455" y="2256979"/>
            <a:ext cx="14193472" cy="2891155"/>
          </a:xfrm>
          <a:prstGeom prst="rect">
            <a:avLst/>
          </a:prstGeom>
        </p:spPr>
        <p:txBody>
          <a:bodyPr anchor="t" rtlCol="false" tIns="0" lIns="0" bIns="0" rIns="0">
            <a:spAutoFit/>
          </a:bodyPr>
          <a:lstStyle/>
          <a:p>
            <a:pPr algn="just" marL="539745" indent="-269872" lvl="1">
              <a:lnSpc>
                <a:spcPts val="3499"/>
              </a:lnSpc>
              <a:buFont typeface="Arial"/>
              <a:buChar char="•"/>
            </a:pPr>
            <a:r>
              <a:rPr lang="en-US" sz="2499">
                <a:solidFill>
                  <a:srgbClr val="4D4D4D"/>
                </a:solidFill>
                <a:latin typeface="Montserrat"/>
                <a:ea typeface="Montserrat"/>
                <a:cs typeface="Montserrat"/>
                <a:sym typeface="Montserrat"/>
              </a:rPr>
              <a:t>The scan flops are stitched to form scan chain. The number of scan chains depends upon various user inputs like –</a:t>
            </a:r>
          </a:p>
          <a:p>
            <a:pPr algn="just" marL="539745" indent="-269872" lvl="1">
              <a:lnSpc>
                <a:spcPts val="3499"/>
              </a:lnSpc>
              <a:buFont typeface="Arial"/>
              <a:buChar char="•"/>
            </a:pPr>
            <a:r>
              <a:rPr lang="en-US" sz="2499">
                <a:solidFill>
                  <a:srgbClr val="4D4D4D"/>
                </a:solidFill>
                <a:latin typeface="Montserrat"/>
                <a:ea typeface="Montserrat"/>
                <a:cs typeface="Montserrat"/>
                <a:sym typeface="Montserrat"/>
              </a:rPr>
              <a:t>   Length of scan chain</a:t>
            </a:r>
          </a:p>
          <a:p>
            <a:pPr algn="just" marL="539745" indent="-269872" lvl="1">
              <a:lnSpc>
                <a:spcPts val="3499"/>
              </a:lnSpc>
              <a:buFont typeface="Arial"/>
              <a:buChar char="•"/>
            </a:pPr>
            <a:r>
              <a:rPr lang="en-US" sz="2499">
                <a:solidFill>
                  <a:srgbClr val="4D4D4D"/>
                </a:solidFill>
                <a:latin typeface="Montserrat"/>
                <a:ea typeface="Montserrat"/>
                <a:cs typeface="Montserrat"/>
                <a:sym typeface="Montserrat"/>
              </a:rPr>
              <a:t>   Clock domain mixing</a:t>
            </a:r>
          </a:p>
          <a:p>
            <a:pPr algn="just" marL="539745" indent="-269872" lvl="1">
              <a:lnSpc>
                <a:spcPts val="3499"/>
              </a:lnSpc>
              <a:buFont typeface="Arial"/>
              <a:buChar char="•"/>
            </a:pPr>
            <a:r>
              <a:rPr lang="en-US" sz="2499">
                <a:solidFill>
                  <a:srgbClr val="4D4D4D"/>
                </a:solidFill>
                <a:latin typeface="Montserrat"/>
                <a:ea typeface="Montserrat"/>
                <a:cs typeface="Montserrat"/>
                <a:sym typeface="Montserrat"/>
              </a:rPr>
              <a:t>   Power domain mixing</a:t>
            </a:r>
          </a:p>
          <a:p>
            <a:pPr algn="just" marL="539745" indent="-269872" lvl="1">
              <a:lnSpc>
                <a:spcPts val="3499"/>
              </a:lnSpc>
              <a:spcBef>
                <a:spcPct val="0"/>
              </a:spcBef>
              <a:buFont typeface="Arial"/>
              <a:buChar char="•"/>
            </a:pPr>
            <a:r>
              <a:rPr lang="en-US" sz="2499">
                <a:solidFill>
                  <a:srgbClr val="4D4D4D"/>
                </a:solidFill>
                <a:latin typeface="Montserrat"/>
                <a:ea typeface="Montserrat"/>
                <a:cs typeface="Montserrat"/>
                <a:sym typeface="Montserrat"/>
              </a:rPr>
              <a:t>   Voltage domain mixing</a:t>
            </a:r>
            <a:r>
              <a:rPr lang="en-US" sz="2499">
                <a:solidFill>
                  <a:srgbClr val="4D4D4D"/>
                </a:solidFill>
                <a:latin typeface="Montserrat"/>
                <a:ea typeface="Montserrat"/>
                <a:cs typeface="Montserrat"/>
                <a:sym typeface="Montserrat"/>
              </a:rPr>
              <a:t>.</a:t>
            </a:r>
          </a:p>
          <a:p>
            <a:pPr algn="just">
              <a:lnSpc>
                <a:spcPts val="2239"/>
              </a:lnSpc>
              <a:spcBef>
                <a:spcPct val="0"/>
              </a:spcBef>
            </a:pPr>
            <a:r>
              <a:rPr lang="en-US" sz="1599">
                <a:solidFill>
                  <a:srgbClr val="4D4D4D"/>
                </a:solidFill>
                <a:latin typeface="Montserrat"/>
                <a:ea typeface="Montserrat"/>
                <a:cs typeface="Montserrat"/>
                <a:sym typeface="Montserrat"/>
              </a:rPr>
              <a:t>.</a:t>
            </a:r>
          </a:p>
        </p:txBody>
      </p:sp>
      <p:sp>
        <p:nvSpPr>
          <p:cNvPr name="TextBox 9" id="9"/>
          <p:cNvSpPr txBox="true"/>
          <p:nvPr/>
        </p:nvSpPr>
        <p:spPr>
          <a:xfrm rot="0">
            <a:off x="1919663" y="9489439"/>
            <a:ext cx="12783055" cy="797561"/>
          </a:xfrm>
          <a:prstGeom prst="rect">
            <a:avLst/>
          </a:prstGeom>
        </p:spPr>
        <p:txBody>
          <a:bodyPr anchor="t" rtlCol="false" tIns="0" lIns="0" bIns="0" rIns="0">
            <a:spAutoFit/>
          </a:bodyPr>
          <a:lstStyle/>
          <a:p>
            <a:pPr algn="just" marL="518155" indent="-259078" lvl="1">
              <a:lnSpc>
                <a:spcPts val="3359"/>
              </a:lnSpc>
              <a:buFont typeface="Arial"/>
              <a:buChar char="•"/>
            </a:pPr>
            <a:r>
              <a:rPr lang="en-US" sz="2399">
                <a:solidFill>
                  <a:srgbClr val="4D4D4D"/>
                </a:solidFill>
                <a:latin typeface="Montserrat"/>
                <a:ea typeface="Montserrat"/>
                <a:cs typeface="Montserrat"/>
                <a:sym typeface="Montserrat"/>
              </a:rPr>
              <a:t> A typical sequential circuit compatible for Scan and ATPG (after scan insertion)</a:t>
            </a:r>
          </a:p>
          <a:p>
            <a:pPr algn="just">
              <a:lnSpc>
                <a:spcPts val="3219"/>
              </a:lnSpc>
              <a:spcBef>
                <a:spcPct val="0"/>
              </a:spcBef>
            </a:pP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sp>
        <p:nvSpPr>
          <p:cNvPr name="TextBox 3" id="3"/>
          <p:cNvSpPr txBox="true"/>
          <p:nvPr/>
        </p:nvSpPr>
        <p:spPr>
          <a:xfrm rot="-5400000">
            <a:off x="12330436" y="3848733"/>
            <a:ext cx="9437764" cy="2477364"/>
          </a:xfrm>
          <a:prstGeom prst="rect">
            <a:avLst/>
          </a:prstGeom>
        </p:spPr>
        <p:txBody>
          <a:bodyPr anchor="t" rtlCol="false" tIns="0" lIns="0" bIns="0" rIns="0">
            <a:spAutoFit/>
          </a:bodyPr>
          <a:lstStyle/>
          <a:p>
            <a:pPr algn="l">
              <a:lnSpc>
                <a:spcPts val="15442"/>
              </a:lnSpc>
            </a:pPr>
            <a:r>
              <a:rPr lang="en-US" sz="17749" spc="2839" b="true">
                <a:solidFill>
                  <a:srgbClr val="041226">
                    <a:alpha val="4706"/>
                  </a:srgbClr>
                </a:solidFill>
                <a:latin typeface="Futura Bold"/>
                <a:ea typeface="Futura Bold"/>
                <a:cs typeface="Futura Bold"/>
                <a:sym typeface="Futura Bold"/>
              </a:rPr>
              <a:t>DFT</a:t>
            </a:r>
          </a:p>
        </p:txBody>
      </p:sp>
      <p:sp>
        <p:nvSpPr>
          <p:cNvPr name="Freeform 4" id="4"/>
          <p:cNvSpPr/>
          <p:nvPr/>
        </p:nvSpPr>
        <p:spPr>
          <a:xfrm flipH="true" flipV="true" rot="0">
            <a:off x="1028700" y="1028700"/>
            <a:ext cx="759822" cy="750151"/>
          </a:xfrm>
          <a:custGeom>
            <a:avLst/>
            <a:gdLst/>
            <a:ahLst/>
            <a:cxnLst/>
            <a:rect r="r" b="b" t="t" l="l"/>
            <a:pathLst>
              <a:path h="750151" w="759822">
                <a:moveTo>
                  <a:pt x="759822" y="750151"/>
                </a:moveTo>
                <a:lnTo>
                  <a:pt x="0" y="750151"/>
                </a:lnTo>
                <a:lnTo>
                  <a:pt x="0" y="0"/>
                </a:lnTo>
                <a:lnTo>
                  <a:pt x="759822" y="0"/>
                </a:lnTo>
                <a:lnTo>
                  <a:pt x="759822" y="750151"/>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0">
            <a:off x="16887790" y="8891519"/>
            <a:ext cx="371510" cy="366781"/>
          </a:xfrm>
          <a:custGeom>
            <a:avLst/>
            <a:gdLst/>
            <a:ahLst/>
            <a:cxnLst/>
            <a:rect r="r" b="b" t="t" l="l"/>
            <a:pathLst>
              <a:path h="366781" w="371510">
                <a:moveTo>
                  <a:pt x="0" y="0"/>
                </a:moveTo>
                <a:lnTo>
                  <a:pt x="371510" y="0"/>
                </a:lnTo>
                <a:lnTo>
                  <a:pt x="371510" y="366781"/>
                </a:lnTo>
                <a:lnTo>
                  <a:pt x="0" y="366781"/>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6" id="6"/>
          <p:cNvSpPr/>
          <p:nvPr/>
        </p:nvSpPr>
        <p:spPr>
          <a:xfrm flipH="false" flipV="false" rot="0">
            <a:off x="8066302" y="3917974"/>
            <a:ext cx="8666229" cy="5572084"/>
          </a:xfrm>
          <a:custGeom>
            <a:avLst/>
            <a:gdLst/>
            <a:ahLst/>
            <a:cxnLst/>
            <a:rect r="r" b="b" t="t" l="l"/>
            <a:pathLst>
              <a:path h="5572084" w="8666229">
                <a:moveTo>
                  <a:pt x="0" y="0"/>
                </a:moveTo>
                <a:lnTo>
                  <a:pt x="8666229" y="0"/>
                </a:lnTo>
                <a:lnTo>
                  <a:pt x="8666229" y="5572084"/>
                </a:lnTo>
                <a:lnTo>
                  <a:pt x="0" y="5572084"/>
                </a:lnTo>
                <a:lnTo>
                  <a:pt x="0" y="0"/>
                </a:lnTo>
                <a:close/>
              </a:path>
            </a:pathLst>
          </a:custGeom>
          <a:blipFill>
            <a:blip r:embed="rId5"/>
            <a:stretch>
              <a:fillRect l="0" t="0" r="0" b="0"/>
            </a:stretch>
          </a:blipFill>
        </p:spPr>
      </p:sp>
      <p:sp>
        <p:nvSpPr>
          <p:cNvPr name="TextBox 7" id="7"/>
          <p:cNvSpPr txBox="true"/>
          <p:nvPr/>
        </p:nvSpPr>
        <p:spPr>
          <a:xfrm rot="0">
            <a:off x="2056159" y="1357474"/>
            <a:ext cx="12501134" cy="804655"/>
          </a:xfrm>
          <a:prstGeom prst="rect">
            <a:avLst/>
          </a:prstGeom>
        </p:spPr>
        <p:txBody>
          <a:bodyPr anchor="t" rtlCol="false" tIns="0" lIns="0" bIns="0" rIns="0">
            <a:spAutoFit/>
          </a:bodyPr>
          <a:lstStyle/>
          <a:p>
            <a:pPr algn="l">
              <a:lnSpc>
                <a:spcPts val="5382"/>
              </a:lnSpc>
            </a:pPr>
            <a:r>
              <a:rPr lang="en-US" sz="5077" spc="40" b="true">
                <a:solidFill>
                  <a:srgbClr val="7C7AAC"/>
                </a:solidFill>
                <a:latin typeface="Futura Bold"/>
                <a:ea typeface="Futura Bold"/>
                <a:cs typeface="Futura Bold"/>
                <a:sym typeface="Futura Bold"/>
              </a:rPr>
              <a:t>ATPG (Automatic Test Pattern Generation)</a:t>
            </a:r>
          </a:p>
        </p:txBody>
      </p:sp>
      <p:sp>
        <p:nvSpPr>
          <p:cNvPr name="TextBox 8" id="8"/>
          <p:cNvSpPr txBox="true"/>
          <p:nvPr/>
        </p:nvSpPr>
        <p:spPr>
          <a:xfrm rot="0">
            <a:off x="2056159" y="2337990"/>
            <a:ext cx="10567191" cy="1884046"/>
          </a:xfrm>
          <a:prstGeom prst="rect">
            <a:avLst/>
          </a:prstGeom>
        </p:spPr>
        <p:txBody>
          <a:bodyPr anchor="t" rtlCol="false" tIns="0" lIns="0" bIns="0" rIns="0">
            <a:spAutoFit/>
          </a:bodyPr>
          <a:lstStyle/>
          <a:p>
            <a:pPr algn="just" marL="582924" indent="-291462" lvl="1">
              <a:lnSpc>
                <a:spcPts val="3779"/>
              </a:lnSpc>
              <a:buFont typeface="Arial"/>
              <a:buChar char="•"/>
            </a:pPr>
            <a:r>
              <a:rPr lang="en-US" sz="2699">
                <a:solidFill>
                  <a:srgbClr val="4D4D4D"/>
                </a:solidFill>
                <a:latin typeface="Montserrat"/>
                <a:ea typeface="Montserrat"/>
                <a:cs typeface="Montserrat"/>
                <a:sym typeface="Montserrat"/>
              </a:rPr>
              <a:t>Tool generates test vectors automatically</a:t>
            </a:r>
          </a:p>
          <a:p>
            <a:pPr algn="just" marL="582924" indent="-291462" lvl="1">
              <a:lnSpc>
                <a:spcPts val="3779"/>
              </a:lnSpc>
              <a:buFont typeface="Arial"/>
              <a:buChar char="•"/>
            </a:pPr>
            <a:r>
              <a:rPr lang="en-US" sz="2699">
                <a:solidFill>
                  <a:srgbClr val="4D4D4D"/>
                </a:solidFill>
                <a:latin typeface="Montserrat"/>
                <a:ea typeface="Montserrat"/>
                <a:cs typeface="Montserrat"/>
                <a:sym typeface="Montserrat"/>
              </a:rPr>
              <a:t>Targets stuck-at, transition, path delay faults</a:t>
            </a:r>
          </a:p>
          <a:p>
            <a:pPr algn="just" marL="582924" indent="-291462" lvl="1">
              <a:lnSpc>
                <a:spcPts val="3779"/>
              </a:lnSpc>
              <a:buFont typeface="Arial"/>
              <a:buChar char="•"/>
            </a:pPr>
            <a:r>
              <a:rPr lang="en-US" sz="2699">
                <a:solidFill>
                  <a:srgbClr val="4D4D4D"/>
                </a:solidFill>
                <a:latin typeface="Montserrat"/>
                <a:ea typeface="Montserrat"/>
                <a:cs typeface="Montserrat"/>
                <a:sym typeface="Montserrat"/>
              </a:rPr>
              <a:t>Provides fault coverage report</a:t>
            </a:r>
          </a:p>
          <a:p>
            <a:pPr algn="just" marL="582924" indent="-291462" lvl="1">
              <a:lnSpc>
                <a:spcPts val="3779"/>
              </a:lnSpc>
              <a:spcBef>
                <a:spcPct val="0"/>
              </a:spcBef>
              <a:buFont typeface="Arial"/>
              <a:buChar char="•"/>
            </a:pPr>
            <a:r>
              <a:rPr lang="en-US" sz="2699">
                <a:solidFill>
                  <a:srgbClr val="4D4D4D"/>
                </a:solidFill>
                <a:latin typeface="Montserrat"/>
                <a:ea typeface="Montserrat"/>
                <a:cs typeface="Montserrat"/>
                <a:sym typeface="Montserrat"/>
              </a:rPr>
              <a:t>Patterns used by tester (ATE)</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sp>
        <p:nvSpPr>
          <p:cNvPr name="TextBox 3" id="3"/>
          <p:cNvSpPr txBox="true"/>
          <p:nvPr/>
        </p:nvSpPr>
        <p:spPr>
          <a:xfrm rot="0">
            <a:off x="4976536" y="7478605"/>
            <a:ext cx="12651303" cy="2552815"/>
          </a:xfrm>
          <a:prstGeom prst="rect">
            <a:avLst/>
          </a:prstGeom>
        </p:spPr>
        <p:txBody>
          <a:bodyPr anchor="t" rtlCol="false" tIns="0" lIns="0" bIns="0" rIns="0">
            <a:spAutoFit/>
          </a:bodyPr>
          <a:lstStyle/>
          <a:p>
            <a:pPr algn="ctr">
              <a:lnSpc>
                <a:spcPts val="15930"/>
              </a:lnSpc>
            </a:pPr>
            <a:r>
              <a:rPr lang="en-US" b="true" sz="18310" spc="2929">
                <a:solidFill>
                  <a:srgbClr val="041226">
                    <a:alpha val="4706"/>
                  </a:srgbClr>
                </a:solidFill>
                <a:latin typeface="Futura Bold"/>
                <a:ea typeface="Futura Bold"/>
                <a:cs typeface="Futura Bold"/>
                <a:sym typeface="Futura Bold"/>
              </a:rPr>
              <a:t>DFT</a:t>
            </a:r>
          </a:p>
        </p:txBody>
      </p:sp>
      <p:sp>
        <p:nvSpPr>
          <p:cNvPr name="Freeform 4" id="4"/>
          <p:cNvSpPr/>
          <p:nvPr/>
        </p:nvSpPr>
        <p:spPr>
          <a:xfrm flipH="false" flipV="true" rot="0">
            <a:off x="16499478" y="1028700"/>
            <a:ext cx="759822" cy="750151"/>
          </a:xfrm>
          <a:custGeom>
            <a:avLst/>
            <a:gdLst/>
            <a:ahLst/>
            <a:cxnLst/>
            <a:rect r="r" b="b" t="t" l="l"/>
            <a:pathLst>
              <a:path h="750151" w="759822">
                <a:moveTo>
                  <a:pt x="0" y="750151"/>
                </a:moveTo>
                <a:lnTo>
                  <a:pt x="759822" y="750151"/>
                </a:lnTo>
                <a:lnTo>
                  <a:pt x="759822" y="0"/>
                </a:lnTo>
                <a:lnTo>
                  <a:pt x="0" y="0"/>
                </a:lnTo>
                <a:lnTo>
                  <a:pt x="0" y="750151"/>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true" flipV="false" rot="0">
            <a:off x="1028700" y="8891519"/>
            <a:ext cx="371510" cy="366781"/>
          </a:xfrm>
          <a:custGeom>
            <a:avLst/>
            <a:gdLst/>
            <a:ahLst/>
            <a:cxnLst/>
            <a:rect r="r" b="b" t="t" l="l"/>
            <a:pathLst>
              <a:path h="366781" w="371510">
                <a:moveTo>
                  <a:pt x="371510" y="0"/>
                </a:moveTo>
                <a:lnTo>
                  <a:pt x="0" y="0"/>
                </a:lnTo>
                <a:lnTo>
                  <a:pt x="0" y="366781"/>
                </a:lnTo>
                <a:lnTo>
                  <a:pt x="371510" y="366781"/>
                </a:lnTo>
                <a:lnTo>
                  <a:pt x="37151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6" id="6"/>
          <p:cNvSpPr txBox="true"/>
          <p:nvPr/>
        </p:nvSpPr>
        <p:spPr>
          <a:xfrm rot="0">
            <a:off x="1672910" y="981075"/>
            <a:ext cx="12697103" cy="1097759"/>
          </a:xfrm>
          <a:prstGeom prst="rect">
            <a:avLst/>
          </a:prstGeom>
        </p:spPr>
        <p:txBody>
          <a:bodyPr anchor="t" rtlCol="false" tIns="0" lIns="0" bIns="0" rIns="0">
            <a:spAutoFit/>
          </a:bodyPr>
          <a:lstStyle/>
          <a:p>
            <a:pPr algn="l">
              <a:lnSpc>
                <a:spcPts val="7681"/>
              </a:lnSpc>
            </a:pPr>
            <a:r>
              <a:rPr lang="en-US" sz="7246" spc="57" b="true">
                <a:solidFill>
                  <a:srgbClr val="7C7AAC"/>
                </a:solidFill>
                <a:latin typeface="Futura Bold"/>
                <a:ea typeface="Futura Bold"/>
                <a:cs typeface="Futura Bold"/>
                <a:sym typeface="Futura Bold"/>
              </a:rPr>
              <a:t>Logic Built In Self Test (LBIST)</a:t>
            </a:r>
          </a:p>
          <a:p>
            <a:pPr algn="l">
              <a:lnSpc>
                <a:spcPts val="79"/>
              </a:lnSpc>
            </a:pPr>
          </a:p>
        </p:txBody>
      </p:sp>
      <p:sp>
        <p:nvSpPr>
          <p:cNvPr name="TextBox 7" id="7"/>
          <p:cNvSpPr txBox="true"/>
          <p:nvPr/>
        </p:nvSpPr>
        <p:spPr>
          <a:xfrm rot="0">
            <a:off x="1214455" y="2368441"/>
            <a:ext cx="15586390" cy="1884046"/>
          </a:xfrm>
          <a:prstGeom prst="rect">
            <a:avLst/>
          </a:prstGeom>
        </p:spPr>
        <p:txBody>
          <a:bodyPr anchor="t" rtlCol="false" tIns="0" lIns="0" bIns="0" rIns="0">
            <a:spAutoFit/>
          </a:bodyPr>
          <a:lstStyle/>
          <a:p>
            <a:pPr algn="just" marL="582924" indent="-291462" lvl="1">
              <a:lnSpc>
                <a:spcPts val="3779"/>
              </a:lnSpc>
              <a:buFont typeface="Arial"/>
              <a:buChar char="•"/>
            </a:pPr>
            <a:r>
              <a:rPr lang="en-US" sz="2699">
                <a:solidFill>
                  <a:srgbClr val="4D4D4D"/>
                </a:solidFill>
                <a:latin typeface="Montserrat"/>
                <a:ea typeface="Montserrat"/>
                <a:cs typeface="Montserrat"/>
                <a:sym typeface="Montserrat"/>
              </a:rPr>
              <a:t>LBIST is a form of built in self-test (BIST) in which the logic inside a chip can be tested on-chip itself without any expensive Automatic Test Equipment (ATE). A BIST engine is built inside the chip and requires only an access mechanism like the </a:t>
            </a:r>
            <a:r>
              <a:rPr lang="en-US" sz="2699">
                <a:solidFill>
                  <a:srgbClr val="4D4D4D"/>
                </a:solidFill>
                <a:latin typeface="Montserrat"/>
                <a:ea typeface="Montserrat"/>
                <a:cs typeface="Montserrat"/>
                <a:sym typeface="Montserrat"/>
                <a:hlinkClick r:id="rId5" tooltip="https://vlsitutorialscom.wordpress.com/jtag-test-access-port-and-tap-controller/"/>
              </a:rPr>
              <a:t>Test Access Port</a:t>
            </a:r>
            <a:r>
              <a:rPr lang="en-US" sz="2699">
                <a:solidFill>
                  <a:srgbClr val="4D4D4D"/>
                </a:solidFill>
                <a:latin typeface="Montserrat"/>
                <a:ea typeface="Montserrat"/>
                <a:cs typeface="Montserrat"/>
                <a:sym typeface="Montserrat"/>
              </a:rPr>
              <a:t> (TAP) to start.</a:t>
            </a:r>
          </a:p>
        </p:txBody>
      </p:sp>
      <p:sp>
        <p:nvSpPr>
          <p:cNvPr name="TextBox 8" id="8"/>
          <p:cNvSpPr txBox="true"/>
          <p:nvPr/>
        </p:nvSpPr>
        <p:spPr>
          <a:xfrm rot="0">
            <a:off x="872810" y="4699218"/>
            <a:ext cx="13863638" cy="444282"/>
          </a:xfrm>
          <a:prstGeom prst="rect">
            <a:avLst/>
          </a:prstGeom>
        </p:spPr>
        <p:txBody>
          <a:bodyPr anchor="t" rtlCol="false" tIns="0" lIns="0" bIns="0" rIns="0">
            <a:spAutoFit/>
          </a:bodyPr>
          <a:lstStyle/>
          <a:p>
            <a:pPr algn="ctr">
              <a:lnSpc>
                <a:spcPts val="3607"/>
              </a:lnSpc>
              <a:spcBef>
                <a:spcPct val="0"/>
              </a:spcBef>
            </a:pPr>
            <a:r>
              <a:rPr lang="en-US" b="true" sz="2796" spc="-55">
                <a:solidFill>
                  <a:srgbClr val="000000"/>
                </a:solidFill>
                <a:latin typeface="Montserrat Bold"/>
                <a:ea typeface="Montserrat Bold"/>
                <a:cs typeface="Montserrat Bold"/>
                <a:sym typeface="Montserrat Bold"/>
              </a:rPr>
              <a:t>The general architecture of an on-chip BIST consists of 3 major components </a:t>
            </a:r>
            <a:r>
              <a:rPr lang="en-US" sz="2796" spc="-55">
                <a:solidFill>
                  <a:srgbClr val="000000"/>
                </a:solidFill>
                <a:latin typeface="Montserrat"/>
                <a:ea typeface="Montserrat"/>
                <a:cs typeface="Montserrat"/>
                <a:sym typeface="Montserrat"/>
              </a:rPr>
              <a:t>–</a:t>
            </a:r>
          </a:p>
        </p:txBody>
      </p:sp>
      <p:sp>
        <p:nvSpPr>
          <p:cNvPr name="TextBox 9" id="9"/>
          <p:cNvSpPr txBox="true"/>
          <p:nvPr/>
        </p:nvSpPr>
        <p:spPr>
          <a:xfrm rot="0">
            <a:off x="1552879" y="5734050"/>
            <a:ext cx="15586390" cy="1407796"/>
          </a:xfrm>
          <a:prstGeom prst="rect">
            <a:avLst/>
          </a:prstGeom>
        </p:spPr>
        <p:txBody>
          <a:bodyPr anchor="t" rtlCol="false" tIns="0" lIns="0" bIns="0" rIns="0">
            <a:spAutoFit/>
          </a:bodyPr>
          <a:lstStyle/>
          <a:p>
            <a:pPr algn="just" marL="582924" indent="-291462" lvl="1">
              <a:lnSpc>
                <a:spcPts val="3779"/>
              </a:lnSpc>
              <a:buFont typeface="Arial"/>
              <a:buChar char="•"/>
            </a:pPr>
            <a:r>
              <a:rPr lang="en-US" sz="2699">
                <a:solidFill>
                  <a:srgbClr val="4D4D4D"/>
                </a:solidFill>
                <a:latin typeface="Montserrat"/>
                <a:ea typeface="Montserrat"/>
                <a:cs typeface="Montserrat"/>
                <a:sym typeface="Montserrat"/>
              </a:rPr>
              <a:t> 1.  BIST controller</a:t>
            </a:r>
          </a:p>
          <a:p>
            <a:pPr algn="just" marL="582924" indent="-291462" lvl="1">
              <a:lnSpc>
                <a:spcPts val="3779"/>
              </a:lnSpc>
              <a:buFont typeface="Arial"/>
              <a:buChar char="•"/>
            </a:pPr>
            <a:r>
              <a:rPr lang="en-US" sz="2699">
                <a:solidFill>
                  <a:srgbClr val="4D4D4D"/>
                </a:solidFill>
                <a:latin typeface="Montserrat"/>
                <a:ea typeface="Montserrat"/>
                <a:cs typeface="Montserrat"/>
                <a:sym typeface="Montserrat"/>
              </a:rPr>
              <a:t>  2.  TPG (Test Pattern Generator)</a:t>
            </a:r>
          </a:p>
          <a:p>
            <a:pPr algn="just" marL="582924" indent="-291462" lvl="1">
              <a:lnSpc>
                <a:spcPts val="3779"/>
              </a:lnSpc>
              <a:buFont typeface="Arial"/>
              <a:buChar char="•"/>
            </a:pPr>
            <a:r>
              <a:rPr lang="en-US" sz="2699">
                <a:solidFill>
                  <a:srgbClr val="4D4D4D"/>
                </a:solidFill>
                <a:latin typeface="Montserrat"/>
                <a:ea typeface="Montserrat"/>
                <a:cs typeface="Montserrat"/>
                <a:sym typeface="Montserrat"/>
              </a:rPr>
              <a:t>  3.  RA (Response Analyzer)</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sp>
        <p:nvSpPr>
          <p:cNvPr name="TextBox 3" id="3"/>
          <p:cNvSpPr txBox="true"/>
          <p:nvPr/>
        </p:nvSpPr>
        <p:spPr>
          <a:xfrm rot="0">
            <a:off x="698856" y="5839037"/>
            <a:ext cx="8445144" cy="3117568"/>
          </a:xfrm>
          <a:prstGeom prst="rect">
            <a:avLst/>
          </a:prstGeom>
        </p:spPr>
        <p:txBody>
          <a:bodyPr anchor="t" rtlCol="false" tIns="0" lIns="0" bIns="0" rIns="0">
            <a:spAutoFit/>
          </a:bodyPr>
          <a:lstStyle/>
          <a:p>
            <a:pPr algn="l">
              <a:lnSpc>
                <a:spcPts val="3220"/>
              </a:lnSpc>
            </a:pPr>
            <a:r>
              <a:rPr lang="en-US" sz="2496" spc="-49" b="true">
                <a:solidFill>
                  <a:srgbClr val="000000"/>
                </a:solidFill>
                <a:latin typeface="Montserrat Bold"/>
                <a:ea typeface="Montserrat Bold"/>
                <a:cs typeface="Montserrat Bold"/>
                <a:sym typeface="Montserrat Bold"/>
              </a:rPr>
              <a:t>RA (Respons</a:t>
            </a:r>
            <a:r>
              <a:rPr lang="en-US" sz="2496" spc="-49" b="true">
                <a:solidFill>
                  <a:srgbClr val="000000"/>
                </a:solidFill>
                <a:latin typeface="Montserrat Bold"/>
                <a:ea typeface="Montserrat Bold"/>
                <a:cs typeface="Montserrat Bold"/>
                <a:sym typeface="Montserrat Bold"/>
              </a:rPr>
              <a:t>e Analyzer) </a:t>
            </a:r>
          </a:p>
          <a:p>
            <a:pPr algn="l" marL="539071" indent="-269535" lvl="1">
              <a:lnSpc>
                <a:spcPts val="3220"/>
              </a:lnSpc>
              <a:buFont typeface="Arial"/>
              <a:buChar char="•"/>
            </a:pPr>
            <a:r>
              <a:rPr lang="en-US" sz="2496" spc="-49">
                <a:solidFill>
                  <a:srgbClr val="000000"/>
                </a:solidFill>
                <a:latin typeface="Montserrat"/>
                <a:ea typeface="Montserrat"/>
                <a:cs typeface="Montserrat"/>
                <a:sym typeface="Montserrat"/>
              </a:rPr>
              <a:t>Compresses and evaluates the circuit’s output responses, often using a MISR (Multiple Input Signature Register).</a:t>
            </a:r>
          </a:p>
          <a:p>
            <a:pPr algn="l" marL="539071" indent="-269535" lvl="1">
              <a:lnSpc>
                <a:spcPts val="3220"/>
              </a:lnSpc>
              <a:buFont typeface="Arial"/>
              <a:buChar char="•"/>
            </a:pPr>
            <a:r>
              <a:rPr lang="en-US" sz="2496" spc="-49">
                <a:solidFill>
                  <a:srgbClr val="000000"/>
                </a:solidFill>
                <a:latin typeface="Montserrat"/>
                <a:ea typeface="Montserrat"/>
                <a:cs typeface="Montserrat"/>
                <a:sym typeface="Montserrat"/>
              </a:rPr>
              <a:t>Compares the obtained signature with a golden reference to determine pass/fail status automatically.</a:t>
            </a:r>
          </a:p>
          <a:p>
            <a:pPr algn="l">
              <a:lnSpc>
                <a:spcPts val="2575"/>
              </a:lnSpc>
            </a:pPr>
          </a:p>
        </p:txBody>
      </p:sp>
      <p:sp>
        <p:nvSpPr>
          <p:cNvPr name="TextBox 4" id="4"/>
          <p:cNvSpPr txBox="true"/>
          <p:nvPr/>
        </p:nvSpPr>
        <p:spPr>
          <a:xfrm rot="0">
            <a:off x="0" y="6679922"/>
            <a:ext cx="17636917" cy="3607078"/>
          </a:xfrm>
          <a:prstGeom prst="rect">
            <a:avLst/>
          </a:prstGeom>
        </p:spPr>
        <p:txBody>
          <a:bodyPr anchor="t" rtlCol="false" tIns="0" lIns="0" bIns="0" rIns="0">
            <a:spAutoFit/>
          </a:bodyPr>
          <a:lstStyle/>
          <a:p>
            <a:pPr algn="r">
              <a:lnSpc>
                <a:spcPts val="22422"/>
              </a:lnSpc>
            </a:pPr>
            <a:r>
              <a:rPr lang="en-US" b="true" sz="25773" spc="4123">
                <a:solidFill>
                  <a:srgbClr val="041226">
                    <a:alpha val="4706"/>
                  </a:srgbClr>
                </a:solidFill>
                <a:latin typeface="Futura Bold"/>
                <a:ea typeface="Futura Bold"/>
                <a:cs typeface="Futura Bold"/>
                <a:sym typeface="Futura Bold"/>
              </a:rPr>
              <a:t>DFT</a:t>
            </a:r>
          </a:p>
        </p:txBody>
      </p:sp>
      <p:sp>
        <p:nvSpPr>
          <p:cNvPr name="Freeform 5" id="5"/>
          <p:cNvSpPr/>
          <p:nvPr/>
        </p:nvSpPr>
        <p:spPr>
          <a:xfrm flipH="true" flipV="false" rot="0">
            <a:off x="1028700" y="8489021"/>
            <a:ext cx="759822" cy="750151"/>
          </a:xfrm>
          <a:custGeom>
            <a:avLst/>
            <a:gdLst/>
            <a:ahLst/>
            <a:cxnLst/>
            <a:rect r="r" b="b" t="t" l="l"/>
            <a:pathLst>
              <a:path h="750151" w="759822">
                <a:moveTo>
                  <a:pt x="759822" y="0"/>
                </a:moveTo>
                <a:lnTo>
                  <a:pt x="0" y="0"/>
                </a:lnTo>
                <a:lnTo>
                  <a:pt x="0" y="750152"/>
                </a:lnTo>
                <a:lnTo>
                  <a:pt x="759822" y="750152"/>
                </a:lnTo>
                <a:lnTo>
                  <a:pt x="759822"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6" id="6"/>
          <p:cNvSpPr/>
          <p:nvPr/>
        </p:nvSpPr>
        <p:spPr>
          <a:xfrm flipH="false" flipV="true" rot="0">
            <a:off x="16887790" y="1028700"/>
            <a:ext cx="371510" cy="366781"/>
          </a:xfrm>
          <a:custGeom>
            <a:avLst/>
            <a:gdLst/>
            <a:ahLst/>
            <a:cxnLst/>
            <a:rect r="r" b="b" t="t" l="l"/>
            <a:pathLst>
              <a:path h="366781" w="371510">
                <a:moveTo>
                  <a:pt x="0" y="366781"/>
                </a:moveTo>
                <a:lnTo>
                  <a:pt x="371510" y="366781"/>
                </a:lnTo>
                <a:lnTo>
                  <a:pt x="371510" y="0"/>
                </a:lnTo>
                <a:lnTo>
                  <a:pt x="0" y="0"/>
                </a:lnTo>
                <a:lnTo>
                  <a:pt x="0" y="366781"/>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7" id="7"/>
          <p:cNvSpPr/>
          <p:nvPr/>
        </p:nvSpPr>
        <p:spPr>
          <a:xfrm flipH="false" flipV="false" rot="0">
            <a:off x="8818458" y="4684333"/>
            <a:ext cx="8946005" cy="5446026"/>
          </a:xfrm>
          <a:custGeom>
            <a:avLst/>
            <a:gdLst/>
            <a:ahLst/>
            <a:cxnLst/>
            <a:rect r="r" b="b" t="t" l="l"/>
            <a:pathLst>
              <a:path h="5446026" w="8946005">
                <a:moveTo>
                  <a:pt x="0" y="0"/>
                </a:moveTo>
                <a:lnTo>
                  <a:pt x="8946006" y="0"/>
                </a:lnTo>
                <a:lnTo>
                  <a:pt x="8946006" y="5446026"/>
                </a:lnTo>
                <a:lnTo>
                  <a:pt x="0" y="5446026"/>
                </a:lnTo>
                <a:lnTo>
                  <a:pt x="0" y="0"/>
                </a:lnTo>
                <a:close/>
              </a:path>
            </a:pathLst>
          </a:custGeom>
          <a:blipFill>
            <a:blip r:embed="rId5"/>
            <a:stretch>
              <a:fillRect l="0" t="0" r="0" b="0"/>
            </a:stretch>
          </a:blipFill>
        </p:spPr>
      </p:sp>
      <p:sp>
        <p:nvSpPr>
          <p:cNvPr name="TextBox 8" id="8"/>
          <p:cNvSpPr txBox="true"/>
          <p:nvPr/>
        </p:nvSpPr>
        <p:spPr>
          <a:xfrm rot="0">
            <a:off x="910469" y="562694"/>
            <a:ext cx="11403259" cy="2427768"/>
          </a:xfrm>
          <a:prstGeom prst="rect">
            <a:avLst/>
          </a:prstGeom>
        </p:spPr>
        <p:txBody>
          <a:bodyPr anchor="t" rtlCol="false" tIns="0" lIns="0" bIns="0" rIns="0">
            <a:spAutoFit/>
          </a:bodyPr>
          <a:lstStyle/>
          <a:p>
            <a:pPr algn="l">
              <a:lnSpc>
                <a:spcPts val="3478"/>
              </a:lnSpc>
            </a:pPr>
            <a:r>
              <a:rPr lang="en-US" sz="2696" spc="-53">
                <a:solidFill>
                  <a:srgbClr val="000000"/>
                </a:solidFill>
                <a:latin typeface="Montserrat"/>
                <a:ea typeface="Montserrat"/>
                <a:cs typeface="Montserrat"/>
                <a:sym typeface="Montserrat"/>
              </a:rPr>
              <a:t>1. </a:t>
            </a:r>
            <a:r>
              <a:rPr lang="en-US" sz="2696" spc="-53" b="true">
                <a:solidFill>
                  <a:srgbClr val="000000"/>
                </a:solidFill>
                <a:latin typeface="Montserrat Bold"/>
                <a:ea typeface="Montserrat Bold"/>
                <a:cs typeface="Montserrat Bold"/>
                <a:sym typeface="Montserrat Bold"/>
              </a:rPr>
              <a:t>BIST Controller</a:t>
            </a:r>
            <a:r>
              <a:rPr lang="en-US" sz="2696" spc="-53">
                <a:solidFill>
                  <a:srgbClr val="000000"/>
                </a:solidFill>
                <a:latin typeface="Montserrat"/>
                <a:ea typeface="Montserrat"/>
                <a:cs typeface="Montserrat"/>
                <a:sym typeface="Montserrat"/>
              </a:rPr>
              <a:t> </a:t>
            </a:r>
          </a:p>
          <a:p>
            <a:pPr algn="l" marL="539073" indent="-269536" lvl="1">
              <a:lnSpc>
                <a:spcPts val="3220"/>
              </a:lnSpc>
              <a:buFont typeface="Arial"/>
              <a:buChar char="•"/>
            </a:pPr>
            <a:r>
              <a:rPr lang="en-US" sz="2496" spc="-49">
                <a:solidFill>
                  <a:srgbClr val="000000"/>
                </a:solidFill>
                <a:latin typeface="Montserrat"/>
                <a:ea typeface="Montserrat"/>
                <a:cs typeface="Montserrat"/>
                <a:sym typeface="Montserrat"/>
              </a:rPr>
              <a:t>Coordinates the entire Built-In Self-Test operation by controlling test mode, enabling TPG, and managing response capture.</a:t>
            </a:r>
          </a:p>
          <a:p>
            <a:pPr algn="l" marL="539073" indent="-269536" lvl="1">
              <a:lnSpc>
                <a:spcPts val="3220"/>
              </a:lnSpc>
              <a:buFont typeface="Arial"/>
              <a:buChar char="•"/>
            </a:pPr>
            <a:r>
              <a:rPr lang="en-US" sz="2496" spc="-49">
                <a:solidFill>
                  <a:srgbClr val="000000"/>
                </a:solidFill>
                <a:latin typeface="Montserrat"/>
                <a:ea typeface="Montserrat"/>
                <a:cs typeface="Montserrat"/>
                <a:sym typeface="Montserrat"/>
              </a:rPr>
              <a:t>Generates the control signals for test sequencing (start, stop, shift, capture) and interfaces with memory or logic under test.</a:t>
            </a:r>
          </a:p>
          <a:p>
            <a:pPr algn="l">
              <a:lnSpc>
                <a:spcPts val="3220"/>
              </a:lnSpc>
            </a:pPr>
          </a:p>
        </p:txBody>
      </p:sp>
      <p:sp>
        <p:nvSpPr>
          <p:cNvPr name="TextBox 9" id="9"/>
          <p:cNvSpPr txBox="true"/>
          <p:nvPr/>
        </p:nvSpPr>
        <p:spPr>
          <a:xfrm rot="0">
            <a:off x="698856" y="3219626"/>
            <a:ext cx="11262193" cy="2390811"/>
          </a:xfrm>
          <a:prstGeom prst="rect">
            <a:avLst/>
          </a:prstGeom>
        </p:spPr>
        <p:txBody>
          <a:bodyPr anchor="t" rtlCol="false" tIns="0" lIns="0" bIns="0" rIns="0">
            <a:spAutoFit/>
          </a:bodyPr>
          <a:lstStyle/>
          <a:p>
            <a:pPr algn="l">
              <a:lnSpc>
                <a:spcPts val="3220"/>
              </a:lnSpc>
            </a:pPr>
            <a:r>
              <a:rPr lang="en-US" sz="2496" spc="-49">
                <a:solidFill>
                  <a:srgbClr val="000000"/>
                </a:solidFill>
                <a:latin typeface="Montserrat"/>
                <a:ea typeface="Montserrat"/>
                <a:cs typeface="Montserrat"/>
                <a:sym typeface="Montserrat"/>
              </a:rPr>
              <a:t>2.</a:t>
            </a:r>
            <a:r>
              <a:rPr lang="en-US" sz="2496" spc="-49" b="true">
                <a:solidFill>
                  <a:srgbClr val="000000"/>
                </a:solidFill>
                <a:latin typeface="Montserrat Bold"/>
                <a:ea typeface="Montserrat Bold"/>
                <a:cs typeface="Montserrat Bold"/>
                <a:sym typeface="Montserrat Bold"/>
              </a:rPr>
              <a:t> TPG (Test Pattern Generator)</a:t>
            </a:r>
            <a:r>
              <a:rPr lang="en-US" sz="2496" spc="-49">
                <a:solidFill>
                  <a:srgbClr val="000000"/>
                </a:solidFill>
                <a:latin typeface="Montserrat"/>
                <a:ea typeface="Montserrat"/>
                <a:cs typeface="Montserrat"/>
                <a:sym typeface="Montserrat"/>
              </a:rPr>
              <a:t> </a:t>
            </a:r>
          </a:p>
          <a:p>
            <a:pPr algn="l" marL="539071" indent="-269535" lvl="1">
              <a:lnSpc>
                <a:spcPts val="3220"/>
              </a:lnSpc>
              <a:buFont typeface="Arial"/>
              <a:buChar char="•"/>
            </a:pPr>
            <a:r>
              <a:rPr lang="en-US" sz="2496" spc="-49">
                <a:solidFill>
                  <a:srgbClr val="000000"/>
                </a:solidFill>
                <a:latin typeface="Montserrat"/>
                <a:ea typeface="Montserrat"/>
                <a:cs typeface="Montserrat"/>
                <a:sym typeface="Montserrat"/>
              </a:rPr>
              <a:t>Produces deterministic or pseudo-random test vectors using LFSRs, counters, or ROM-based patterns.</a:t>
            </a:r>
          </a:p>
          <a:p>
            <a:pPr algn="l" marL="539071" indent="-269535" lvl="1">
              <a:lnSpc>
                <a:spcPts val="3220"/>
              </a:lnSpc>
              <a:buFont typeface="Arial"/>
              <a:buChar char="•"/>
            </a:pPr>
            <a:r>
              <a:rPr lang="en-US" sz="2496" spc="-49">
                <a:solidFill>
                  <a:srgbClr val="000000"/>
                </a:solidFill>
                <a:latin typeface="Montserrat"/>
                <a:ea typeface="Montserrat"/>
                <a:cs typeface="Montserrat"/>
                <a:sym typeface="Montserrat"/>
              </a:rPr>
              <a:t>Ensures high fault coverage by applying diverse patterns to stimulate the CUT (Circuit Under Test).</a:t>
            </a:r>
          </a:p>
          <a:p>
            <a:pPr algn="l">
              <a:lnSpc>
                <a:spcPts val="3220"/>
              </a:lnSpc>
            </a:pPr>
          </a:p>
        </p:txBody>
      </p:sp>
    </p:spTree>
  </p:cSld>
  <p:clrMapOvr>
    <a:masterClrMapping/>
  </p:clrMapOvr>
</p:sld>
</file>

<file path=ppt/slides/slide11.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Tree>
  </p:cSld>
  <p:clrMapOvr>
    <a:masterClrMapping/>
  </p:clrMapOvr>
</p:sld>
</file>

<file path=ppt/slides/slide12.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Tree>
  </p:cSld>
  <p:clrMapOvr>
    <a:masterClrMapping/>
  </p:clrMapOvr>
</p:sld>
</file>

<file path=ppt/slides/slide13.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Tree>
  </p:cSld>
  <p:clrMapOvr>
    <a:masterClrMapping/>
  </p:clrMapOvr>
</p:sld>
</file>

<file path=ppt/slides/slide14.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Tree>
  </p:cSld>
  <p:clrMapOvr>
    <a:masterClrMapping/>
  </p:clrMapOvr>
</p:sld>
</file>

<file path=ppt/slides/slide15.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Tree>
  </p:cSld>
  <p:clrMapOvr>
    <a:masterClrMapping/>
  </p:clrMapOvr>
</p:sld>
</file>

<file path=ppt/slides/slide16.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Tree>
  </p:cSld>
  <p:clrMapOvr>
    <a:masterClrMapping/>
  </p:clrMapOvr>
</p:sld>
</file>

<file path=ppt/slides/slide17.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Tree>
  </p:cSld>
  <p:clrMapOvr>
    <a:masterClrMapping/>
  </p:clrMapOvr>
</p:sld>
</file>

<file path=ppt/slides/slide18.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DAG5YmSgPP0</dc:identifier>
  <dcterms:modified xsi:type="dcterms:W3CDTF">2011-08-01T06:04:30Z</dcterms:modified>
  <cp:revision>1</cp:revision>
  <dc:title>Purple and White Clean Geometric Startup Pitch Deck Presentation</dc:title>
</cp:coreProperties>
</file>