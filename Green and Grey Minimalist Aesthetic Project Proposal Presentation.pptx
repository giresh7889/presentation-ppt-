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League Spartan" panose="020B0604020202020204" charset="0"/>
      <p:regular r:id="rId12"/>
    </p:embeddedFont>
    <p:embeddedFont>
      <p:font typeface="Museo Moderno" panose="020B0604020202020204" charset="0"/>
      <p:regular r:id="rId13"/>
    </p:embeddedFont>
    <p:embeddedFont>
      <p:font typeface="Poppins" panose="00000500000000000000" pitchFamily="2" charset="0"/>
      <p:regular r:id="rId14"/>
    </p:embeddedFont>
    <p:embeddedFont>
      <p:font typeface="Poppins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3924323" y="3753943"/>
            <a:ext cx="16230600" cy="3417289"/>
          </a:xfrm>
          <a:prstGeom prst="rect">
            <a:avLst/>
          </a:prstGeom>
        </p:spPr>
        <p:txBody>
          <a:bodyPr lIns="0" tIns="0" rIns="0" bIns="0" rtlCol="0" anchor="t">
            <a:spAutoFit/>
          </a:bodyPr>
          <a:lstStyle/>
          <a:p>
            <a:pPr algn="l">
              <a:lnSpc>
                <a:spcPts val="25299"/>
              </a:lnSpc>
            </a:pPr>
            <a:r>
              <a:rPr lang="en-US" sz="26631" spc="-479">
                <a:solidFill>
                  <a:srgbClr val="566660"/>
                </a:solidFill>
                <a:latin typeface="League Spartan"/>
                <a:ea typeface="League Spartan"/>
                <a:cs typeface="League Spartan"/>
                <a:sym typeface="League Spartan"/>
              </a:rPr>
              <a:t>JTAG</a:t>
            </a:r>
          </a:p>
        </p:txBody>
      </p:sp>
      <p:sp>
        <p:nvSpPr>
          <p:cNvPr id="3" name="TextBox 3"/>
          <p:cNvSpPr txBox="1"/>
          <p:nvPr/>
        </p:nvSpPr>
        <p:spPr>
          <a:xfrm>
            <a:off x="9399771" y="6661327"/>
            <a:ext cx="2281745" cy="509905"/>
          </a:xfrm>
          <a:prstGeom prst="rect">
            <a:avLst/>
          </a:prstGeom>
        </p:spPr>
        <p:txBody>
          <a:bodyPr lIns="0" tIns="0" rIns="0" bIns="0" rtlCol="0" anchor="t">
            <a:spAutoFit/>
          </a:bodyPr>
          <a:lstStyle/>
          <a:p>
            <a:pPr algn="l">
              <a:lnSpc>
                <a:spcPts val="3919"/>
              </a:lnSpc>
            </a:pPr>
            <a:r>
              <a:rPr lang="en-US" sz="2799" spc="-167">
                <a:solidFill>
                  <a:srgbClr val="566660"/>
                </a:solidFill>
                <a:latin typeface="Poppins"/>
                <a:ea typeface="Poppins"/>
                <a:cs typeface="Poppins"/>
                <a:sym typeface="Poppins"/>
              </a:rPr>
              <a:t>presented by</a:t>
            </a:r>
          </a:p>
        </p:txBody>
      </p:sp>
      <p:sp>
        <p:nvSpPr>
          <p:cNvPr id="4" name="TextBox 4"/>
          <p:cNvSpPr txBox="1"/>
          <p:nvPr/>
        </p:nvSpPr>
        <p:spPr>
          <a:xfrm>
            <a:off x="6705600" y="7355527"/>
            <a:ext cx="6877869" cy="700128"/>
          </a:xfrm>
          <a:prstGeom prst="rect">
            <a:avLst/>
          </a:prstGeom>
        </p:spPr>
        <p:txBody>
          <a:bodyPr wrap="square" lIns="0" tIns="0" rIns="0" bIns="0" rtlCol="0" anchor="t">
            <a:spAutoFit/>
          </a:bodyPr>
          <a:lstStyle/>
          <a:p>
            <a:pPr algn="l">
              <a:lnSpc>
                <a:spcPts val="2799"/>
              </a:lnSpc>
            </a:pPr>
            <a:r>
              <a:rPr lang="en-US" sz="1999" spc="-99" dirty="0">
                <a:solidFill>
                  <a:srgbClr val="566660"/>
                </a:solidFill>
                <a:latin typeface="Poppins"/>
                <a:ea typeface="Poppins"/>
                <a:cs typeface="Poppins"/>
                <a:sym typeface="Poppins"/>
              </a:rPr>
              <a:t>BODDU GIRESH </a:t>
            </a:r>
          </a:p>
          <a:p>
            <a:pPr algn="l">
              <a:lnSpc>
                <a:spcPts val="2799"/>
              </a:lnSpc>
            </a:pPr>
            <a:r>
              <a:rPr lang="en-US" sz="1999" spc="-99" dirty="0">
                <a:solidFill>
                  <a:srgbClr val="566660"/>
                </a:solidFill>
                <a:latin typeface="Poppins"/>
                <a:ea typeface="Poppins"/>
                <a:cs typeface="Poppins"/>
                <a:sym typeface="Poppins"/>
              </a:rPr>
              <a:t>CHIPWEAVE TECHNOLOGIES PVT LTD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832784" y="832627"/>
            <a:ext cx="9780804" cy="1035063"/>
          </a:xfrm>
          <a:prstGeom prst="rect">
            <a:avLst/>
          </a:prstGeom>
        </p:spPr>
        <p:txBody>
          <a:bodyPr lIns="0" tIns="0" rIns="0" bIns="0" rtlCol="0" anchor="t">
            <a:spAutoFit/>
          </a:bodyPr>
          <a:lstStyle/>
          <a:p>
            <a:pPr algn="l">
              <a:lnSpc>
                <a:spcPts val="7600"/>
              </a:lnSpc>
            </a:pPr>
            <a:r>
              <a:rPr lang="en-US" sz="8000" spc="-144">
                <a:solidFill>
                  <a:srgbClr val="566660"/>
                </a:solidFill>
                <a:latin typeface="League Spartan"/>
                <a:ea typeface="League Spartan"/>
                <a:cs typeface="League Spartan"/>
                <a:sym typeface="League Spartan"/>
              </a:rPr>
              <a:t>WHAT IS JTAG?</a:t>
            </a:r>
          </a:p>
        </p:txBody>
      </p:sp>
      <p:sp>
        <p:nvSpPr>
          <p:cNvPr id="3" name="TextBox 3"/>
          <p:cNvSpPr txBox="1"/>
          <p:nvPr/>
        </p:nvSpPr>
        <p:spPr>
          <a:xfrm>
            <a:off x="1028700" y="1729423"/>
            <a:ext cx="12239672" cy="2534920"/>
          </a:xfrm>
          <a:prstGeom prst="rect">
            <a:avLst/>
          </a:prstGeom>
        </p:spPr>
        <p:txBody>
          <a:bodyPr lIns="0" tIns="0" rIns="0" bIns="0" rtlCol="0" anchor="t">
            <a:spAutoFit/>
          </a:bodyPr>
          <a:lstStyle/>
          <a:p>
            <a:pPr marL="539748" lvl="1" indent="-269874" algn="just">
              <a:lnSpc>
                <a:spcPts val="3499"/>
              </a:lnSpc>
              <a:buFont typeface="Arial"/>
              <a:buChar char="•"/>
            </a:pPr>
            <a:r>
              <a:rPr lang="en-US" sz="2499">
                <a:solidFill>
                  <a:srgbClr val="2C4A24"/>
                </a:solidFill>
                <a:latin typeface="Poppins"/>
                <a:ea typeface="Poppins"/>
                <a:cs typeface="Poppins"/>
                <a:sym typeface="Poppins"/>
              </a:rPr>
              <a:t>JTAG stands for Joint Test Action Group.</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It is a standard test access port (TAP) and boundary scan architecture.</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Used for testing interconnects on PCBs.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Enables debugging, programming, and testability of ICs.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Defined under IEEE 1149.1 standard.</a:t>
            </a:r>
          </a:p>
          <a:p>
            <a:pPr algn="just">
              <a:lnSpc>
                <a:spcPts val="2660"/>
              </a:lnSpc>
            </a:pPr>
            <a:endParaRPr lang="en-US" sz="2499">
              <a:solidFill>
                <a:srgbClr val="2C4A24"/>
              </a:solidFill>
              <a:latin typeface="Poppins"/>
              <a:ea typeface="Poppins"/>
              <a:cs typeface="Poppins"/>
              <a:sym typeface="Poppins"/>
            </a:endParaRPr>
          </a:p>
        </p:txBody>
      </p:sp>
      <p:sp>
        <p:nvSpPr>
          <p:cNvPr id="4" name="TextBox 4"/>
          <p:cNvSpPr txBox="1"/>
          <p:nvPr/>
        </p:nvSpPr>
        <p:spPr>
          <a:xfrm>
            <a:off x="832784" y="5869117"/>
            <a:ext cx="6807777" cy="2628900"/>
          </a:xfrm>
          <a:prstGeom prst="rect">
            <a:avLst/>
          </a:prstGeom>
        </p:spPr>
        <p:txBody>
          <a:bodyPr lIns="0" tIns="0" rIns="0" bIns="0" rtlCol="0" anchor="t">
            <a:spAutoFit/>
          </a:bodyPr>
          <a:lstStyle/>
          <a:p>
            <a:pPr marL="561337" lvl="1" indent="-280669" algn="just">
              <a:lnSpc>
                <a:spcPts val="3639"/>
              </a:lnSpc>
              <a:buFont typeface="Arial"/>
              <a:buChar char="•"/>
            </a:pPr>
            <a:r>
              <a:rPr lang="en-US" sz="2599">
                <a:solidFill>
                  <a:srgbClr val="2C4A24"/>
                </a:solidFill>
                <a:latin typeface="Poppins"/>
                <a:ea typeface="Poppins"/>
                <a:cs typeface="Poppins"/>
                <a:sym typeface="Poppins"/>
              </a:rPr>
              <a:t>Testing PCB connections</a:t>
            </a:r>
          </a:p>
          <a:p>
            <a:pPr marL="561337" lvl="1" indent="-280669" algn="just">
              <a:lnSpc>
                <a:spcPts val="3639"/>
              </a:lnSpc>
              <a:buFont typeface="Arial"/>
              <a:buChar char="•"/>
            </a:pPr>
            <a:r>
              <a:rPr lang="en-US" sz="2599">
                <a:solidFill>
                  <a:srgbClr val="2C4A24"/>
                </a:solidFill>
                <a:latin typeface="Poppins"/>
                <a:ea typeface="Poppins"/>
                <a:cs typeface="Poppins"/>
                <a:sym typeface="Poppins"/>
              </a:rPr>
              <a:t>Detecting shorts &amp; opens</a:t>
            </a:r>
          </a:p>
          <a:p>
            <a:pPr marL="561337" lvl="1" indent="-280669" algn="just">
              <a:lnSpc>
                <a:spcPts val="3639"/>
              </a:lnSpc>
              <a:buFont typeface="Arial"/>
              <a:buChar char="•"/>
            </a:pPr>
            <a:r>
              <a:rPr lang="en-US" sz="2599">
                <a:solidFill>
                  <a:srgbClr val="2C4A24"/>
                </a:solidFill>
                <a:latin typeface="Poppins"/>
                <a:ea typeface="Poppins"/>
                <a:cs typeface="Poppins"/>
                <a:sym typeface="Poppins"/>
              </a:rPr>
              <a:t>Programming devices</a:t>
            </a:r>
          </a:p>
          <a:p>
            <a:pPr marL="561337" lvl="1" indent="-280669" algn="just">
              <a:lnSpc>
                <a:spcPts val="3639"/>
              </a:lnSpc>
              <a:buFont typeface="Arial"/>
              <a:buChar char="•"/>
            </a:pPr>
            <a:r>
              <a:rPr lang="en-US" sz="2599">
                <a:solidFill>
                  <a:srgbClr val="2C4A24"/>
                </a:solidFill>
                <a:latin typeface="Poppins"/>
                <a:ea typeface="Poppins"/>
                <a:cs typeface="Poppins"/>
                <a:sym typeface="Poppins"/>
              </a:rPr>
              <a:t>On-chip debug</a:t>
            </a:r>
          </a:p>
          <a:p>
            <a:pPr marL="561337" lvl="1" indent="-280669" algn="just">
              <a:lnSpc>
                <a:spcPts val="3639"/>
              </a:lnSpc>
              <a:buFont typeface="Arial"/>
              <a:buChar char="•"/>
            </a:pPr>
            <a:r>
              <a:rPr lang="en-US" sz="2599">
                <a:solidFill>
                  <a:srgbClr val="2C4A24"/>
                </a:solidFill>
                <a:latin typeface="Poppins"/>
                <a:ea typeface="Poppins"/>
                <a:cs typeface="Poppins"/>
                <a:sym typeface="Poppins"/>
              </a:rPr>
              <a:t>Boundary scan testing</a:t>
            </a:r>
          </a:p>
          <a:p>
            <a:pPr algn="just">
              <a:lnSpc>
                <a:spcPts val="2660"/>
              </a:lnSpc>
            </a:pPr>
            <a:endParaRPr lang="en-US" sz="2599">
              <a:solidFill>
                <a:srgbClr val="2C4A24"/>
              </a:solidFill>
              <a:latin typeface="Poppins"/>
              <a:ea typeface="Poppins"/>
              <a:cs typeface="Poppins"/>
              <a:sym typeface="Poppins"/>
            </a:endParaRPr>
          </a:p>
        </p:txBody>
      </p:sp>
      <p:sp>
        <p:nvSpPr>
          <p:cNvPr id="5" name="TextBox 5"/>
          <p:cNvSpPr txBox="1"/>
          <p:nvPr/>
        </p:nvSpPr>
        <p:spPr>
          <a:xfrm>
            <a:off x="408510" y="4594137"/>
            <a:ext cx="12329330" cy="1035063"/>
          </a:xfrm>
          <a:prstGeom prst="rect">
            <a:avLst/>
          </a:prstGeom>
        </p:spPr>
        <p:txBody>
          <a:bodyPr lIns="0" tIns="0" rIns="0" bIns="0" rtlCol="0" anchor="t">
            <a:spAutoFit/>
          </a:bodyPr>
          <a:lstStyle/>
          <a:p>
            <a:pPr algn="l">
              <a:lnSpc>
                <a:spcPts val="7600"/>
              </a:lnSpc>
            </a:pPr>
            <a:r>
              <a:rPr lang="en-US" sz="8000" spc="-144">
                <a:solidFill>
                  <a:srgbClr val="566660"/>
                </a:solidFill>
                <a:latin typeface="League Spartan"/>
                <a:ea typeface="League Spartan"/>
                <a:cs typeface="League Spartan"/>
                <a:sym typeface="League Spartan"/>
              </a:rPr>
              <a:t> WHY JTAG IS NEEDED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17259300" y="0"/>
            <a:ext cx="7427196" cy="5406786"/>
            <a:chOff x="0" y="0"/>
            <a:chExt cx="1150667" cy="837653"/>
          </a:xfrm>
        </p:grpSpPr>
        <p:sp>
          <p:nvSpPr>
            <p:cNvPr id="3" name="Freeform 3"/>
            <p:cNvSpPr/>
            <p:nvPr/>
          </p:nvSpPr>
          <p:spPr>
            <a:xfrm>
              <a:off x="0" y="0"/>
              <a:ext cx="1150667" cy="837653"/>
            </a:xfrm>
            <a:custGeom>
              <a:avLst/>
              <a:gdLst/>
              <a:ahLst/>
              <a:cxnLst/>
              <a:rect l="l" t="t" r="r" b="b"/>
              <a:pathLst>
                <a:path w="1150667" h="837653">
                  <a:moveTo>
                    <a:pt x="0" y="0"/>
                  </a:moveTo>
                  <a:lnTo>
                    <a:pt x="1150667" y="0"/>
                  </a:lnTo>
                  <a:lnTo>
                    <a:pt x="1150667" y="837653"/>
                  </a:lnTo>
                  <a:lnTo>
                    <a:pt x="0" y="837653"/>
                  </a:lnTo>
                  <a:close/>
                </a:path>
              </a:pathLst>
            </a:custGeom>
            <a:blipFill>
              <a:blip r:embed="rId2"/>
              <a:stretch>
                <a:fillRect t="-53090" b="-53090"/>
              </a:stretch>
            </a:blipFill>
            <a:ln cap="sq">
              <a:noFill/>
              <a:prstDash val="solid"/>
              <a:miter/>
            </a:ln>
          </p:spPr>
        </p:sp>
      </p:grpSp>
      <p:sp>
        <p:nvSpPr>
          <p:cNvPr id="4" name="Freeform 4"/>
          <p:cNvSpPr/>
          <p:nvPr/>
        </p:nvSpPr>
        <p:spPr>
          <a:xfrm>
            <a:off x="10804099" y="2047987"/>
            <a:ext cx="4381187" cy="6191026"/>
          </a:xfrm>
          <a:custGeom>
            <a:avLst/>
            <a:gdLst/>
            <a:ahLst/>
            <a:cxnLst/>
            <a:rect l="l" t="t" r="r" b="b"/>
            <a:pathLst>
              <a:path w="4381187" h="6191026">
                <a:moveTo>
                  <a:pt x="0" y="0"/>
                </a:moveTo>
                <a:lnTo>
                  <a:pt x="4381187" y="0"/>
                </a:lnTo>
                <a:lnTo>
                  <a:pt x="4381187" y="6191026"/>
                </a:lnTo>
                <a:lnTo>
                  <a:pt x="0" y="6191026"/>
                </a:lnTo>
                <a:lnTo>
                  <a:pt x="0" y="0"/>
                </a:lnTo>
                <a:close/>
              </a:path>
            </a:pathLst>
          </a:custGeom>
          <a:blipFill>
            <a:blip r:embed="rId3"/>
            <a:stretch>
              <a:fillRect l="-4953" r="-4953"/>
            </a:stretch>
          </a:blipFill>
        </p:spPr>
      </p:sp>
      <p:sp>
        <p:nvSpPr>
          <p:cNvPr id="5" name="TextBox 5"/>
          <p:cNvSpPr txBox="1"/>
          <p:nvPr/>
        </p:nvSpPr>
        <p:spPr>
          <a:xfrm>
            <a:off x="666883" y="728653"/>
            <a:ext cx="15818701" cy="733443"/>
          </a:xfrm>
          <a:prstGeom prst="rect">
            <a:avLst/>
          </a:prstGeom>
        </p:spPr>
        <p:txBody>
          <a:bodyPr lIns="0" tIns="0" rIns="0" bIns="0" rtlCol="0" anchor="t">
            <a:spAutoFit/>
          </a:bodyPr>
          <a:lstStyle/>
          <a:p>
            <a:pPr algn="l">
              <a:lnSpc>
                <a:spcPts val="5415"/>
              </a:lnSpc>
            </a:pPr>
            <a:r>
              <a:rPr lang="en-US" sz="5700" spc="-102">
                <a:solidFill>
                  <a:srgbClr val="566660"/>
                </a:solidFill>
                <a:latin typeface="League Spartan"/>
                <a:ea typeface="League Spartan"/>
                <a:cs typeface="League Spartan"/>
                <a:sym typeface="League Spartan"/>
              </a:rPr>
              <a:t>JTAG USES TESt Access Port (TAP) Pins</a:t>
            </a:r>
          </a:p>
        </p:txBody>
      </p:sp>
      <p:sp>
        <p:nvSpPr>
          <p:cNvPr id="6" name="TextBox 6"/>
          <p:cNvSpPr txBox="1"/>
          <p:nvPr/>
        </p:nvSpPr>
        <p:spPr>
          <a:xfrm>
            <a:off x="1028700" y="1827411"/>
            <a:ext cx="6807777" cy="2973070"/>
          </a:xfrm>
          <a:prstGeom prst="rect">
            <a:avLst/>
          </a:prstGeom>
        </p:spPr>
        <p:txBody>
          <a:bodyPr lIns="0" tIns="0" rIns="0" bIns="0" rtlCol="0" anchor="t">
            <a:spAutoFit/>
          </a:bodyPr>
          <a:lstStyle/>
          <a:p>
            <a:pPr algn="just">
              <a:lnSpc>
                <a:spcPts val="3499"/>
              </a:lnSpc>
            </a:pPr>
            <a:r>
              <a:rPr lang="en-US" sz="2499">
                <a:solidFill>
                  <a:srgbClr val="2C4A24"/>
                </a:solidFill>
                <a:latin typeface="Poppins"/>
                <a:ea typeface="Poppins"/>
                <a:cs typeface="Poppins"/>
                <a:sym typeface="Poppins"/>
              </a:rPr>
              <a:t>Four Mandatory Pins:</a:t>
            </a:r>
          </a:p>
          <a:p>
            <a:pPr marL="539748" lvl="1" indent="-269874" algn="just">
              <a:lnSpc>
                <a:spcPts val="3499"/>
              </a:lnSpc>
              <a:buAutoNum type="arabicPeriod"/>
            </a:pPr>
            <a:r>
              <a:rPr lang="en-US" sz="2499">
                <a:solidFill>
                  <a:srgbClr val="2C4A24"/>
                </a:solidFill>
                <a:latin typeface="Poppins"/>
                <a:ea typeface="Poppins"/>
                <a:cs typeface="Poppins"/>
                <a:sym typeface="Poppins"/>
              </a:rPr>
              <a:t>TDI – Test Data In</a:t>
            </a:r>
          </a:p>
          <a:p>
            <a:pPr marL="539748" lvl="1" indent="-269874" algn="just">
              <a:lnSpc>
                <a:spcPts val="3499"/>
              </a:lnSpc>
              <a:buAutoNum type="arabicPeriod"/>
            </a:pPr>
            <a:r>
              <a:rPr lang="en-US" sz="2499">
                <a:solidFill>
                  <a:srgbClr val="2C4A24"/>
                </a:solidFill>
                <a:latin typeface="Poppins"/>
                <a:ea typeface="Poppins"/>
                <a:cs typeface="Poppins"/>
                <a:sym typeface="Poppins"/>
              </a:rPr>
              <a:t>TDO – Test Data Out</a:t>
            </a:r>
          </a:p>
          <a:p>
            <a:pPr marL="539748" lvl="1" indent="-269874" algn="just">
              <a:lnSpc>
                <a:spcPts val="3499"/>
              </a:lnSpc>
              <a:buAutoNum type="arabicPeriod"/>
            </a:pPr>
            <a:r>
              <a:rPr lang="en-US" sz="2499">
                <a:solidFill>
                  <a:srgbClr val="2C4A24"/>
                </a:solidFill>
                <a:latin typeface="Poppins"/>
                <a:ea typeface="Poppins"/>
                <a:cs typeface="Poppins"/>
                <a:sym typeface="Poppins"/>
              </a:rPr>
              <a:t>TCK – Test Clock</a:t>
            </a:r>
          </a:p>
          <a:p>
            <a:pPr marL="539748" lvl="1" indent="-269874" algn="just">
              <a:lnSpc>
                <a:spcPts val="3499"/>
              </a:lnSpc>
              <a:buAutoNum type="arabicPeriod"/>
            </a:pPr>
            <a:r>
              <a:rPr lang="en-US" sz="2499">
                <a:solidFill>
                  <a:srgbClr val="2C4A24"/>
                </a:solidFill>
                <a:latin typeface="Poppins"/>
                <a:ea typeface="Poppins"/>
                <a:cs typeface="Poppins"/>
                <a:sym typeface="Poppins"/>
              </a:rPr>
              <a:t>TMS – Test Mode Select</a:t>
            </a:r>
          </a:p>
          <a:p>
            <a:pPr algn="just">
              <a:lnSpc>
                <a:spcPts val="3499"/>
              </a:lnSpc>
            </a:pPr>
            <a:r>
              <a:rPr lang="en-US" sz="2499">
                <a:solidFill>
                  <a:srgbClr val="2C4A24"/>
                </a:solidFill>
                <a:latin typeface="Poppins"/>
                <a:ea typeface="Poppins"/>
                <a:cs typeface="Poppins"/>
                <a:sym typeface="Poppins"/>
              </a:rPr>
              <a:t>   5. TRST – Test Reset</a:t>
            </a:r>
          </a:p>
          <a:p>
            <a:pPr algn="just">
              <a:lnSpc>
                <a:spcPts val="2660"/>
              </a:lnSpc>
            </a:pPr>
            <a:endParaRPr lang="en-US" sz="2499">
              <a:solidFill>
                <a:srgbClr val="2C4A24"/>
              </a:solidFill>
              <a:latin typeface="Poppins"/>
              <a:ea typeface="Poppins"/>
              <a:cs typeface="Poppins"/>
              <a:sym typeface="Poppins"/>
            </a:endParaRPr>
          </a:p>
        </p:txBody>
      </p:sp>
      <p:sp>
        <p:nvSpPr>
          <p:cNvPr id="7" name="TextBox 7"/>
          <p:cNvSpPr txBox="1"/>
          <p:nvPr/>
        </p:nvSpPr>
        <p:spPr>
          <a:xfrm>
            <a:off x="882933" y="4898140"/>
            <a:ext cx="9467917" cy="3849370"/>
          </a:xfrm>
          <a:prstGeom prst="rect">
            <a:avLst/>
          </a:prstGeom>
        </p:spPr>
        <p:txBody>
          <a:bodyPr lIns="0" tIns="0" rIns="0" bIns="0" rtlCol="0" anchor="t">
            <a:spAutoFit/>
          </a:bodyPr>
          <a:lstStyle/>
          <a:p>
            <a:pPr algn="just">
              <a:lnSpc>
                <a:spcPts val="3499"/>
              </a:lnSpc>
            </a:pPr>
            <a:r>
              <a:rPr lang="en-US" sz="2499" b="1">
                <a:solidFill>
                  <a:srgbClr val="2C4A24"/>
                </a:solidFill>
                <a:latin typeface="Poppins Bold"/>
                <a:ea typeface="Poppins Bold"/>
                <a:cs typeface="Poppins Bold"/>
                <a:sym typeface="Poppins Bold"/>
              </a:rPr>
              <a:t>1. JTAG sends control signals to TAP</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TCK gives clock pulses.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TMS selects next state of the TAP Controller FSM.</a:t>
            </a:r>
          </a:p>
          <a:p>
            <a:pPr algn="just">
              <a:lnSpc>
                <a:spcPts val="3499"/>
              </a:lnSpc>
            </a:pPr>
            <a:r>
              <a:rPr lang="en-US" sz="2499" b="1">
                <a:solidFill>
                  <a:srgbClr val="2C4A24"/>
                </a:solidFill>
                <a:latin typeface="Poppins Bold"/>
                <a:ea typeface="Poppins Bold"/>
                <a:cs typeface="Poppins Bold"/>
                <a:sym typeface="Poppins Bold"/>
              </a:rPr>
              <a:t>2. TAP Controller enters different states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TAP Controller is a 16-state FSM that controls: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Loading instruction (IR path)</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Loading/shifting test data (DR path)</a:t>
            </a:r>
          </a:p>
          <a:p>
            <a:pPr algn="just">
              <a:lnSpc>
                <a:spcPts val="3499"/>
              </a:lnSpc>
            </a:pPr>
            <a:endParaRPr lang="en-US" sz="2499">
              <a:solidFill>
                <a:srgbClr val="2C4A24"/>
              </a:solidFill>
              <a:latin typeface="Poppins"/>
              <a:ea typeface="Poppins"/>
              <a:cs typeface="Poppins"/>
              <a:sym typeface="Poppins"/>
            </a:endParaRPr>
          </a:p>
          <a:p>
            <a:pPr algn="just">
              <a:lnSpc>
                <a:spcPts val="2660"/>
              </a:lnSpc>
            </a:pPr>
            <a:endParaRPr lang="en-US" sz="2499">
              <a:solidFill>
                <a:srgbClr val="2C4A24"/>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425465" y="791672"/>
            <a:ext cx="13030474" cy="7792720"/>
          </a:xfrm>
          <a:prstGeom prst="rect">
            <a:avLst/>
          </a:prstGeom>
        </p:spPr>
        <p:txBody>
          <a:bodyPr lIns="0" tIns="0" rIns="0" bIns="0" rtlCol="0" anchor="t">
            <a:spAutoFit/>
          </a:bodyPr>
          <a:lstStyle/>
          <a:p>
            <a:pPr algn="just">
              <a:lnSpc>
                <a:spcPts val="3499"/>
              </a:lnSpc>
            </a:pPr>
            <a:r>
              <a:rPr lang="en-US" sz="2499" b="1">
                <a:solidFill>
                  <a:srgbClr val="2C4A24"/>
                </a:solidFill>
                <a:latin typeface="Poppins Bold"/>
                <a:ea typeface="Poppins Bold"/>
                <a:cs typeface="Poppins Bold"/>
                <a:sym typeface="Poppins Bold"/>
              </a:rPr>
              <a:t>3. JTAG shifts data through TDI → TAP → TDO</a:t>
            </a:r>
          </a:p>
          <a:p>
            <a:pPr algn="just">
              <a:lnSpc>
                <a:spcPts val="3499"/>
              </a:lnSpc>
            </a:pPr>
            <a:r>
              <a:rPr lang="en-US" sz="2499">
                <a:solidFill>
                  <a:srgbClr val="2C4A24"/>
                </a:solidFill>
                <a:latin typeface="Poppins"/>
                <a:ea typeface="Poppins"/>
                <a:cs typeface="Poppins"/>
                <a:sym typeface="Poppins"/>
              </a:rPr>
              <a:t>Depending on state:</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TAP shifts instruction bits into IR</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TAP shifts data bits into DR (boundary scan, IDCODE, BYPASS)</a:t>
            </a:r>
          </a:p>
          <a:p>
            <a:pPr algn="just">
              <a:lnSpc>
                <a:spcPts val="3499"/>
              </a:lnSpc>
            </a:pPr>
            <a:r>
              <a:rPr lang="en-US" sz="2499" b="1">
                <a:solidFill>
                  <a:srgbClr val="2C4A24"/>
                </a:solidFill>
                <a:latin typeface="Poppins Bold"/>
                <a:ea typeface="Poppins Bold"/>
                <a:cs typeface="Poppins Bold"/>
                <a:sym typeface="Poppins Bold"/>
              </a:rPr>
              <a:t>4. TAP executes JTAG Instructions</a:t>
            </a:r>
          </a:p>
          <a:p>
            <a:pPr algn="just">
              <a:lnSpc>
                <a:spcPts val="3499"/>
              </a:lnSpc>
            </a:pPr>
            <a:r>
              <a:rPr lang="en-US" sz="2499">
                <a:solidFill>
                  <a:srgbClr val="2C4A24"/>
                </a:solidFill>
                <a:latin typeface="Poppins"/>
                <a:ea typeface="Poppins"/>
                <a:cs typeface="Poppins"/>
                <a:sym typeface="Poppins"/>
              </a:rPr>
              <a:t>Examples: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EXTEST → test PCB connections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INTEST → test internal logic</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SAMPLE → capture pin values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IDCODE → read device ID</a:t>
            </a:r>
          </a:p>
          <a:p>
            <a:pPr algn="just">
              <a:lnSpc>
                <a:spcPts val="3499"/>
              </a:lnSpc>
            </a:pPr>
            <a:r>
              <a:rPr lang="en-US" sz="2499">
                <a:solidFill>
                  <a:srgbClr val="2C4A24"/>
                </a:solidFill>
                <a:latin typeface="Poppins"/>
                <a:ea typeface="Poppins"/>
                <a:cs typeface="Poppins"/>
                <a:sym typeface="Poppins"/>
              </a:rPr>
              <a:t>The TAP controller selects which Data Register is active.</a:t>
            </a:r>
          </a:p>
          <a:p>
            <a:pPr algn="just">
              <a:lnSpc>
                <a:spcPts val="3499"/>
              </a:lnSpc>
            </a:pPr>
            <a:r>
              <a:rPr lang="en-US" sz="2499" b="1">
                <a:solidFill>
                  <a:srgbClr val="2C4A24"/>
                </a:solidFill>
                <a:latin typeface="Poppins Bold"/>
                <a:ea typeface="Poppins Bold"/>
                <a:cs typeface="Poppins Bold"/>
                <a:sym typeface="Poppins Bold"/>
              </a:rPr>
              <a:t>5. TAP applies data to Boundary Scan Cells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TAP drives/controls every boundary scan cell in the chain</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Used for:</a:t>
            </a:r>
          </a:p>
          <a:p>
            <a:pPr marL="1079496" lvl="2" indent="-359832" algn="just">
              <a:lnSpc>
                <a:spcPts val="3499"/>
              </a:lnSpc>
              <a:buFont typeface="Arial"/>
              <a:buChar char="⚬"/>
            </a:pPr>
            <a:r>
              <a:rPr lang="en-US" sz="2499">
                <a:solidFill>
                  <a:srgbClr val="2C4A24"/>
                </a:solidFill>
                <a:latin typeface="Poppins"/>
                <a:ea typeface="Poppins"/>
                <a:cs typeface="Poppins"/>
                <a:sym typeface="Poppins"/>
              </a:rPr>
              <a:t>Testing pins</a:t>
            </a:r>
          </a:p>
          <a:p>
            <a:pPr marL="1079496" lvl="2" indent="-359832" algn="just">
              <a:lnSpc>
                <a:spcPts val="3499"/>
              </a:lnSpc>
              <a:buFont typeface="Arial"/>
              <a:buChar char="⚬"/>
            </a:pPr>
            <a:r>
              <a:rPr lang="en-US" sz="2499">
                <a:solidFill>
                  <a:srgbClr val="2C4A24"/>
                </a:solidFill>
                <a:latin typeface="Poppins"/>
                <a:ea typeface="Poppins"/>
                <a:cs typeface="Poppins"/>
                <a:sym typeface="Poppins"/>
              </a:rPr>
              <a:t>Capturing logic levels</a:t>
            </a:r>
          </a:p>
          <a:p>
            <a:pPr marL="1079496" lvl="2" indent="-359832" algn="just">
              <a:lnSpc>
                <a:spcPts val="3499"/>
              </a:lnSpc>
              <a:buFont typeface="Arial"/>
              <a:buChar char="⚬"/>
            </a:pPr>
            <a:r>
              <a:rPr lang="en-US" sz="2499">
                <a:solidFill>
                  <a:srgbClr val="2C4A24"/>
                </a:solidFill>
                <a:latin typeface="Poppins"/>
                <a:ea typeface="Poppins"/>
                <a:cs typeface="Poppins"/>
                <a:sym typeface="Poppins"/>
              </a:rPr>
              <a:t>Driving test patterns</a:t>
            </a:r>
          </a:p>
          <a:p>
            <a:pPr algn="just">
              <a:lnSpc>
                <a:spcPts val="2660"/>
              </a:lnSpc>
            </a:pPr>
            <a:endParaRPr lang="en-US" sz="2499">
              <a:solidFill>
                <a:srgbClr val="2C4A24"/>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9823089" y="2169898"/>
            <a:ext cx="5859546" cy="5356850"/>
          </a:xfrm>
          <a:custGeom>
            <a:avLst/>
            <a:gdLst/>
            <a:ahLst/>
            <a:cxnLst/>
            <a:rect l="l" t="t" r="r" b="b"/>
            <a:pathLst>
              <a:path w="5859546" h="5356850">
                <a:moveTo>
                  <a:pt x="0" y="0"/>
                </a:moveTo>
                <a:lnTo>
                  <a:pt x="5859546" y="0"/>
                </a:lnTo>
                <a:lnTo>
                  <a:pt x="5859546" y="5356850"/>
                </a:lnTo>
                <a:lnTo>
                  <a:pt x="0" y="5356850"/>
                </a:lnTo>
                <a:lnTo>
                  <a:pt x="0" y="0"/>
                </a:lnTo>
                <a:close/>
              </a:path>
            </a:pathLst>
          </a:custGeom>
          <a:blipFill>
            <a:blip r:embed="rId2"/>
            <a:stretch>
              <a:fillRect/>
            </a:stretch>
          </a:blipFill>
        </p:spPr>
      </p:sp>
      <p:sp>
        <p:nvSpPr>
          <p:cNvPr id="3" name="TextBox 3"/>
          <p:cNvSpPr txBox="1"/>
          <p:nvPr/>
        </p:nvSpPr>
        <p:spPr>
          <a:xfrm>
            <a:off x="479055" y="933233"/>
            <a:ext cx="15316099" cy="546119"/>
          </a:xfrm>
          <a:prstGeom prst="rect">
            <a:avLst/>
          </a:prstGeom>
        </p:spPr>
        <p:txBody>
          <a:bodyPr lIns="0" tIns="0" rIns="0" bIns="0" rtlCol="0" anchor="t">
            <a:spAutoFit/>
          </a:bodyPr>
          <a:lstStyle/>
          <a:p>
            <a:pPr algn="l">
              <a:lnSpc>
                <a:spcPts val="4085"/>
              </a:lnSpc>
            </a:pPr>
            <a:r>
              <a:rPr lang="en-US" sz="4300" spc="-77">
                <a:solidFill>
                  <a:srgbClr val="566660"/>
                </a:solidFill>
                <a:latin typeface="League Spartan"/>
                <a:ea typeface="League Spartan"/>
                <a:cs typeface="League Spartan"/>
                <a:sym typeface="League Spartan"/>
              </a:rPr>
              <a:t>JTAG ARCHITECTURE DIAGRAM (BOUNDARY SCAN)</a:t>
            </a:r>
          </a:p>
        </p:txBody>
      </p:sp>
      <p:sp>
        <p:nvSpPr>
          <p:cNvPr id="4" name="TextBox 4"/>
          <p:cNvSpPr txBox="1"/>
          <p:nvPr/>
        </p:nvSpPr>
        <p:spPr>
          <a:xfrm>
            <a:off x="685827" y="2112748"/>
            <a:ext cx="8458173" cy="7367905"/>
          </a:xfrm>
          <a:prstGeom prst="rect">
            <a:avLst/>
          </a:prstGeom>
        </p:spPr>
        <p:txBody>
          <a:bodyPr lIns="0" tIns="0" rIns="0" bIns="0" rtlCol="0" anchor="t">
            <a:spAutoFit/>
          </a:bodyPr>
          <a:lstStyle/>
          <a:p>
            <a:pPr algn="just">
              <a:lnSpc>
                <a:spcPts val="3079"/>
              </a:lnSpc>
            </a:pPr>
            <a:r>
              <a:rPr lang="en-US" sz="2199" b="1">
                <a:solidFill>
                  <a:srgbClr val="2C4A24"/>
                </a:solidFill>
                <a:latin typeface="Poppins Bold"/>
                <a:ea typeface="Poppins Bold"/>
                <a:cs typeface="Poppins Bold"/>
                <a:sym typeface="Poppins Bold"/>
              </a:rPr>
              <a:t>Interface Signals</a:t>
            </a:r>
          </a:p>
          <a:p>
            <a:pPr algn="just">
              <a:lnSpc>
                <a:spcPts val="3079"/>
              </a:lnSpc>
            </a:pPr>
            <a:r>
              <a:rPr lang="en-US" sz="2199">
                <a:solidFill>
                  <a:srgbClr val="2C4A24"/>
                </a:solidFill>
                <a:latin typeface="Poppins"/>
                <a:ea typeface="Poppins"/>
                <a:cs typeface="Poppins"/>
                <a:sym typeface="Poppins"/>
              </a:rPr>
              <a:t>The JTAG interface, collectively known as a Test Access Port, or TAP, uses the following signals to support the operation of boundary scan.</a:t>
            </a:r>
          </a:p>
          <a:p>
            <a:pPr marL="474979" lvl="1" indent="-237490" algn="just">
              <a:lnSpc>
                <a:spcPts val="3079"/>
              </a:lnSpc>
              <a:buFont typeface="Arial"/>
              <a:buChar char="•"/>
            </a:pPr>
            <a:r>
              <a:rPr lang="en-US" sz="2199" b="1">
                <a:solidFill>
                  <a:srgbClr val="2C4A24"/>
                </a:solidFill>
                <a:latin typeface="Poppins Bold"/>
                <a:ea typeface="Poppins Bold"/>
                <a:cs typeface="Poppins Bold"/>
                <a:sym typeface="Poppins Bold"/>
              </a:rPr>
              <a:t>TCK </a:t>
            </a:r>
            <a:r>
              <a:rPr lang="en-US" sz="2199">
                <a:solidFill>
                  <a:srgbClr val="2C4A24"/>
                </a:solidFill>
                <a:latin typeface="Poppins"/>
                <a:ea typeface="Poppins"/>
                <a:cs typeface="Poppins"/>
                <a:sym typeface="Poppins"/>
              </a:rPr>
              <a:t>(Test Clock) – this signal synchronizes the internal state machine operations.</a:t>
            </a:r>
          </a:p>
          <a:p>
            <a:pPr marL="474979" lvl="1" indent="-237490" algn="just">
              <a:lnSpc>
                <a:spcPts val="3079"/>
              </a:lnSpc>
              <a:buFont typeface="Arial"/>
              <a:buChar char="•"/>
            </a:pPr>
            <a:r>
              <a:rPr lang="en-US" sz="2199" b="1">
                <a:solidFill>
                  <a:srgbClr val="2C4A24"/>
                </a:solidFill>
                <a:latin typeface="Poppins Bold"/>
                <a:ea typeface="Poppins Bold"/>
                <a:cs typeface="Poppins Bold"/>
                <a:sym typeface="Poppins Bold"/>
              </a:rPr>
              <a:t>TMS </a:t>
            </a:r>
            <a:r>
              <a:rPr lang="en-US" sz="2199">
                <a:solidFill>
                  <a:srgbClr val="2C4A24"/>
                </a:solidFill>
                <a:latin typeface="Poppins"/>
                <a:ea typeface="Poppins"/>
                <a:cs typeface="Poppins"/>
                <a:sym typeface="Poppins"/>
              </a:rPr>
              <a:t>(Test Mode Select) – this signal is sampled at the rising edge of TCK to determine the next state.</a:t>
            </a:r>
          </a:p>
          <a:p>
            <a:pPr marL="474979" lvl="1" indent="-237490" algn="just">
              <a:lnSpc>
                <a:spcPts val="3079"/>
              </a:lnSpc>
              <a:buFont typeface="Arial"/>
              <a:buChar char="•"/>
            </a:pPr>
            <a:r>
              <a:rPr lang="en-US" sz="2199" b="1">
                <a:solidFill>
                  <a:srgbClr val="2C4A24"/>
                </a:solidFill>
                <a:latin typeface="Poppins Bold"/>
                <a:ea typeface="Poppins Bold"/>
                <a:cs typeface="Poppins Bold"/>
                <a:sym typeface="Poppins Bold"/>
              </a:rPr>
              <a:t>TDI </a:t>
            </a:r>
            <a:r>
              <a:rPr lang="en-US" sz="2199">
                <a:solidFill>
                  <a:srgbClr val="2C4A24"/>
                </a:solidFill>
                <a:latin typeface="Poppins"/>
                <a:ea typeface="Poppins"/>
                <a:cs typeface="Poppins"/>
                <a:sym typeface="Poppins"/>
              </a:rPr>
              <a:t>(Test Data In) – this signal represents the data shifted into the device’s test or programming logic. It is sampled at the rising edge of TCK when the internal state machine is in the correct state.</a:t>
            </a:r>
          </a:p>
          <a:p>
            <a:pPr marL="474979" lvl="1" indent="-237490" algn="just">
              <a:lnSpc>
                <a:spcPts val="3079"/>
              </a:lnSpc>
              <a:buFont typeface="Arial"/>
              <a:buChar char="•"/>
            </a:pPr>
            <a:r>
              <a:rPr lang="en-US" sz="2199" b="1">
                <a:solidFill>
                  <a:srgbClr val="2C4A24"/>
                </a:solidFill>
                <a:latin typeface="Poppins Bold"/>
                <a:ea typeface="Poppins Bold"/>
                <a:cs typeface="Poppins Bold"/>
                <a:sym typeface="Poppins Bold"/>
              </a:rPr>
              <a:t>TDO </a:t>
            </a:r>
            <a:r>
              <a:rPr lang="en-US" sz="2199">
                <a:solidFill>
                  <a:srgbClr val="2C4A24"/>
                </a:solidFill>
                <a:latin typeface="Poppins"/>
                <a:ea typeface="Poppins"/>
                <a:cs typeface="Poppins"/>
                <a:sym typeface="Poppins"/>
              </a:rPr>
              <a:t>(Test Data Out) – this signal represents the data shifted out of the device’s test or programming logic and is valid on the falling edge of TCK when the internal state machine is in the correct state.</a:t>
            </a:r>
          </a:p>
          <a:p>
            <a:pPr marL="474979" lvl="1" indent="-237490" algn="just">
              <a:lnSpc>
                <a:spcPts val="3079"/>
              </a:lnSpc>
              <a:buFont typeface="Arial"/>
              <a:buChar char="•"/>
            </a:pPr>
            <a:r>
              <a:rPr lang="en-US" sz="2199" b="1">
                <a:solidFill>
                  <a:srgbClr val="2C4A24"/>
                </a:solidFill>
                <a:latin typeface="Poppins Bold"/>
                <a:ea typeface="Poppins Bold"/>
                <a:cs typeface="Poppins Bold"/>
                <a:sym typeface="Poppins Bold"/>
              </a:rPr>
              <a:t>TRST </a:t>
            </a:r>
            <a:r>
              <a:rPr lang="en-US" sz="2199">
                <a:solidFill>
                  <a:srgbClr val="2C4A24"/>
                </a:solidFill>
                <a:latin typeface="Poppins"/>
                <a:ea typeface="Poppins"/>
                <a:cs typeface="Poppins"/>
                <a:sym typeface="Poppins"/>
              </a:rPr>
              <a:t>(Test Reset) – this is an optional pin which, when available, can reset the TAP controller’s state machine.</a:t>
            </a:r>
          </a:p>
          <a:p>
            <a:pPr algn="just">
              <a:lnSpc>
                <a:spcPts val="2660"/>
              </a:lnSpc>
            </a:pPr>
            <a:endParaRPr lang="en-US" sz="2199">
              <a:solidFill>
                <a:srgbClr val="2C4A24"/>
              </a:solidFill>
              <a:latin typeface="Poppins"/>
              <a:ea typeface="Poppins"/>
              <a:cs typeface="Poppins"/>
              <a:sym typeface="Poppins"/>
            </a:endParaRPr>
          </a:p>
        </p:txBody>
      </p:sp>
      <p:sp>
        <p:nvSpPr>
          <p:cNvPr id="5" name="TextBox 5"/>
          <p:cNvSpPr txBox="1"/>
          <p:nvPr/>
        </p:nvSpPr>
        <p:spPr>
          <a:xfrm>
            <a:off x="9823089" y="7823043"/>
            <a:ext cx="7732452" cy="644805"/>
          </a:xfrm>
          <a:prstGeom prst="rect">
            <a:avLst/>
          </a:prstGeom>
        </p:spPr>
        <p:txBody>
          <a:bodyPr lIns="0" tIns="0" rIns="0" bIns="0" rtlCol="0" anchor="t">
            <a:spAutoFit/>
          </a:bodyPr>
          <a:lstStyle/>
          <a:p>
            <a:pPr marL="438415" lvl="1" indent="-219207" algn="just">
              <a:lnSpc>
                <a:spcPts val="2842"/>
              </a:lnSpc>
              <a:buFont typeface="Arial"/>
              <a:buChar char="•"/>
            </a:pPr>
            <a:r>
              <a:rPr lang="en-US" sz="2030" b="1">
                <a:solidFill>
                  <a:srgbClr val="2C4A24"/>
                </a:solidFill>
                <a:latin typeface="Poppins Bold"/>
                <a:ea typeface="Poppins Bold"/>
                <a:cs typeface="Poppins Bold"/>
                <a:sym typeface="Poppins Bold"/>
              </a:rPr>
              <a:t>Schematic Diagram of a JTAG enabled device.</a:t>
            </a:r>
          </a:p>
          <a:p>
            <a:pPr algn="just">
              <a:lnSpc>
                <a:spcPts val="1162"/>
              </a:lnSpc>
            </a:pPr>
            <a:endParaRPr lang="en-US" sz="2030" b="1">
              <a:solidFill>
                <a:srgbClr val="2C4A24"/>
              </a:solidFill>
              <a:latin typeface="Poppins Bold"/>
              <a:ea typeface="Poppins Bold"/>
              <a:cs typeface="Poppins Bold"/>
              <a:sym typeface="Poppins Bold"/>
            </a:endParaRPr>
          </a:p>
          <a:p>
            <a:pPr algn="just">
              <a:lnSpc>
                <a:spcPts val="1004"/>
              </a:lnSpc>
            </a:pPr>
            <a:endParaRPr lang="en-US" sz="2030" b="1">
              <a:solidFill>
                <a:srgbClr val="2C4A24"/>
              </a:solidFill>
              <a:latin typeface="Poppins Bold"/>
              <a:ea typeface="Poppins Bold"/>
              <a:cs typeface="Poppins Bold"/>
              <a:sym typeface="Poppins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7316949" y="6506881"/>
            <a:ext cx="2793750" cy="445062"/>
          </a:xfrm>
          <a:prstGeom prst="rect">
            <a:avLst/>
          </a:prstGeom>
        </p:spPr>
        <p:txBody>
          <a:bodyPr lIns="0" tIns="0" rIns="0" bIns="0" rtlCol="0" anchor="t">
            <a:spAutoFit/>
          </a:bodyPr>
          <a:lstStyle/>
          <a:p>
            <a:pPr algn="ctr">
              <a:lnSpc>
                <a:spcPts val="3321"/>
              </a:lnSpc>
            </a:pPr>
            <a:r>
              <a:rPr lang="en-US" sz="3496" spc="-62">
                <a:solidFill>
                  <a:srgbClr val="F8F8F8"/>
                </a:solidFill>
                <a:latin typeface="League Spartan"/>
                <a:ea typeface="League Spartan"/>
                <a:cs typeface="League Spartan"/>
                <a:sym typeface="League Spartan"/>
              </a:rPr>
              <a:t>TARGET 1</a:t>
            </a:r>
          </a:p>
        </p:txBody>
      </p:sp>
      <p:sp>
        <p:nvSpPr>
          <p:cNvPr id="3" name="TextBox 3"/>
          <p:cNvSpPr txBox="1"/>
          <p:nvPr/>
        </p:nvSpPr>
        <p:spPr>
          <a:xfrm>
            <a:off x="10818162" y="6506881"/>
            <a:ext cx="2793750" cy="445062"/>
          </a:xfrm>
          <a:prstGeom prst="rect">
            <a:avLst/>
          </a:prstGeom>
        </p:spPr>
        <p:txBody>
          <a:bodyPr lIns="0" tIns="0" rIns="0" bIns="0" rtlCol="0" anchor="t">
            <a:spAutoFit/>
          </a:bodyPr>
          <a:lstStyle/>
          <a:p>
            <a:pPr algn="ctr">
              <a:lnSpc>
                <a:spcPts val="3321"/>
              </a:lnSpc>
            </a:pPr>
            <a:r>
              <a:rPr lang="en-US" sz="3496" spc="-62">
                <a:solidFill>
                  <a:srgbClr val="F8F8F8"/>
                </a:solidFill>
                <a:latin typeface="League Spartan"/>
                <a:ea typeface="League Spartan"/>
                <a:cs typeface="League Spartan"/>
                <a:sym typeface="League Spartan"/>
              </a:rPr>
              <a:t>TARGET 1</a:t>
            </a:r>
          </a:p>
        </p:txBody>
      </p:sp>
      <p:sp>
        <p:nvSpPr>
          <p:cNvPr id="4" name="TextBox 4"/>
          <p:cNvSpPr txBox="1"/>
          <p:nvPr/>
        </p:nvSpPr>
        <p:spPr>
          <a:xfrm>
            <a:off x="14319375" y="6506881"/>
            <a:ext cx="2793750" cy="445062"/>
          </a:xfrm>
          <a:prstGeom prst="rect">
            <a:avLst/>
          </a:prstGeom>
        </p:spPr>
        <p:txBody>
          <a:bodyPr lIns="0" tIns="0" rIns="0" bIns="0" rtlCol="0" anchor="t">
            <a:spAutoFit/>
          </a:bodyPr>
          <a:lstStyle/>
          <a:p>
            <a:pPr algn="ctr">
              <a:lnSpc>
                <a:spcPts val="3321"/>
              </a:lnSpc>
            </a:pPr>
            <a:r>
              <a:rPr lang="en-US" sz="3496" spc="-62">
                <a:solidFill>
                  <a:srgbClr val="F8F8F8"/>
                </a:solidFill>
                <a:latin typeface="League Spartan"/>
                <a:ea typeface="League Spartan"/>
                <a:cs typeface="League Spartan"/>
                <a:sym typeface="League Spartan"/>
              </a:rPr>
              <a:t>TARGET 1</a:t>
            </a:r>
          </a:p>
        </p:txBody>
      </p:sp>
      <p:sp>
        <p:nvSpPr>
          <p:cNvPr id="5" name="TextBox 5"/>
          <p:cNvSpPr txBox="1"/>
          <p:nvPr/>
        </p:nvSpPr>
        <p:spPr>
          <a:xfrm>
            <a:off x="727590" y="1986280"/>
            <a:ext cx="15675251" cy="4676140"/>
          </a:xfrm>
          <a:prstGeom prst="rect">
            <a:avLst/>
          </a:prstGeom>
        </p:spPr>
        <p:txBody>
          <a:bodyPr lIns="0" tIns="0" rIns="0" bIns="0" rtlCol="0" anchor="t">
            <a:spAutoFit/>
          </a:bodyPr>
          <a:lstStyle/>
          <a:p>
            <a:pPr algn="just">
              <a:lnSpc>
                <a:spcPts val="2660"/>
              </a:lnSpc>
            </a:pPr>
            <a:r>
              <a:rPr lang="en-US" sz="1900">
                <a:solidFill>
                  <a:srgbClr val="2C4A24"/>
                </a:solidFill>
                <a:latin typeface="Poppins"/>
                <a:ea typeface="Poppins"/>
                <a:cs typeface="Poppins"/>
                <a:sym typeface="Poppins"/>
              </a:rPr>
              <a:t>There are two types of registers associated with boundary scan. Each compliant device has one instruction register and two or more data registers.</a:t>
            </a:r>
          </a:p>
          <a:p>
            <a:pPr algn="just">
              <a:lnSpc>
                <a:spcPts val="2660"/>
              </a:lnSpc>
            </a:pPr>
            <a:r>
              <a:rPr lang="en-US" sz="1900" b="1">
                <a:solidFill>
                  <a:srgbClr val="2C4A24"/>
                </a:solidFill>
                <a:latin typeface="Poppins Bold"/>
                <a:ea typeface="Poppins Bold"/>
                <a:cs typeface="Poppins Bold"/>
                <a:sym typeface="Poppins Bold"/>
              </a:rPr>
              <a:t>Instruction Register </a:t>
            </a:r>
            <a:r>
              <a:rPr lang="en-US" sz="1900">
                <a:solidFill>
                  <a:srgbClr val="2C4A24"/>
                </a:solidFill>
                <a:latin typeface="Poppins"/>
                <a:ea typeface="Poppins"/>
                <a:cs typeface="Poppins"/>
                <a:sym typeface="Poppins"/>
              </a:rPr>
              <a:t>– the instruction register holds the current instruction. Its content is used by the TAP controller to decide what to do with signals that are received. Most commonly, the content of the instruction register will define to which of the data registers signals should be passed.</a:t>
            </a:r>
          </a:p>
          <a:p>
            <a:pPr algn="just">
              <a:lnSpc>
                <a:spcPts val="2660"/>
              </a:lnSpc>
            </a:pPr>
            <a:r>
              <a:rPr lang="en-US" sz="1900" b="1">
                <a:solidFill>
                  <a:srgbClr val="2C4A24"/>
                </a:solidFill>
                <a:latin typeface="Poppins Bold"/>
                <a:ea typeface="Poppins Bold"/>
                <a:cs typeface="Poppins Bold"/>
                <a:sym typeface="Poppins Bold"/>
              </a:rPr>
              <a:t>Data Registers</a:t>
            </a:r>
            <a:r>
              <a:rPr lang="en-US" sz="1900">
                <a:solidFill>
                  <a:srgbClr val="2C4A24"/>
                </a:solidFill>
                <a:latin typeface="Poppins"/>
                <a:ea typeface="Poppins"/>
                <a:cs typeface="Poppins"/>
                <a:sym typeface="Poppins"/>
              </a:rPr>
              <a:t> – there are three primary data registers, the Boundary Scan Register (BSR), the BYPASS register and the IDCODES register. Other data registers may be present, but they are not required as part of the JTAG standard.</a:t>
            </a:r>
          </a:p>
          <a:p>
            <a:pPr marL="410211" lvl="1" indent="-205106" algn="just">
              <a:lnSpc>
                <a:spcPts val="2660"/>
              </a:lnSpc>
              <a:buFont typeface="Arial"/>
              <a:buChar char="•"/>
            </a:pPr>
            <a:r>
              <a:rPr lang="en-US" sz="1900" b="1">
                <a:solidFill>
                  <a:srgbClr val="2C4A24"/>
                </a:solidFill>
                <a:latin typeface="Poppins Bold"/>
                <a:ea typeface="Poppins Bold"/>
                <a:cs typeface="Poppins Bold"/>
                <a:sym typeface="Poppins Bold"/>
              </a:rPr>
              <a:t>BSR</a:t>
            </a:r>
            <a:r>
              <a:rPr lang="en-US" sz="1900">
                <a:solidFill>
                  <a:srgbClr val="2C4A24"/>
                </a:solidFill>
                <a:latin typeface="Poppins"/>
                <a:ea typeface="Poppins"/>
                <a:cs typeface="Poppins"/>
                <a:sym typeface="Poppins"/>
              </a:rPr>
              <a:t> – this is the main testing data register. It is used to move data to and from the I/O pins of a device.</a:t>
            </a:r>
          </a:p>
          <a:p>
            <a:pPr marL="410211" lvl="1" indent="-205106" algn="just">
              <a:lnSpc>
                <a:spcPts val="2660"/>
              </a:lnSpc>
              <a:buFont typeface="Arial"/>
              <a:buChar char="•"/>
            </a:pPr>
            <a:r>
              <a:rPr lang="en-US" sz="1900" b="1">
                <a:solidFill>
                  <a:srgbClr val="2C4A24"/>
                </a:solidFill>
                <a:latin typeface="Poppins Bold"/>
                <a:ea typeface="Poppins Bold"/>
                <a:cs typeface="Poppins Bold"/>
                <a:sym typeface="Poppins Bold"/>
              </a:rPr>
              <a:t>BYPASS</a:t>
            </a:r>
            <a:r>
              <a:rPr lang="en-US" sz="1900">
                <a:solidFill>
                  <a:srgbClr val="2C4A24"/>
                </a:solidFill>
                <a:latin typeface="Poppins"/>
                <a:ea typeface="Poppins"/>
                <a:cs typeface="Poppins"/>
                <a:sym typeface="Poppins"/>
              </a:rPr>
              <a:t> – this is a single-bit register that passes information from TDI to TDO. It allows other devices in a circuit to be tested with minimal overhead.</a:t>
            </a:r>
          </a:p>
          <a:p>
            <a:pPr marL="410211" lvl="1" indent="-205106" algn="just">
              <a:lnSpc>
                <a:spcPts val="2660"/>
              </a:lnSpc>
              <a:buFont typeface="Arial"/>
              <a:buChar char="•"/>
            </a:pPr>
            <a:r>
              <a:rPr lang="en-US" sz="1900" b="1">
                <a:solidFill>
                  <a:srgbClr val="2C4A24"/>
                </a:solidFill>
                <a:latin typeface="Poppins Bold"/>
                <a:ea typeface="Poppins Bold"/>
                <a:cs typeface="Poppins Bold"/>
                <a:sym typeface="Poppins Bold"/>
              </a:rPr>
              <a:t>IDCODES </a:t>
            </a:r>
            <a:r>
              <a:rPr lang="en-US" sz="1900">
                <a:solidFill>
                  <a:srgbClr val="2C4A24"/>
                </a:solidFill>
                <a:latin typeface="Poppins"/>
                <a:ea typeface="Poppins"/>
                <a:cs typeface="Poppins"/>
                <a:sym typeface="Poppins"/>
              </a:rPr>
              <a:t>– this register contains the ID code and revision number for the device. This information allows the device to be linked to its Boundary Scan Description Language (BSDL) file. The file contains details of the Boundary Scan configuration for the device.</a:t>
            </a:r>
          </a:p>
          <a:p>
            <a:pPr algn="just">
              <a:lnSpc>
                <a:spcPts val="2660"/>
              </a:lnSpc>
            </a:pPr>
            <a:endParaRPr lang="en-US" sz="1900">
              <a:solidFill>
                <a:srgbClr val="2C4A24"/>
              </a:solidFill>
              <a:latin typeface="Poppins"/>
              <a:ea typeface="Poppins"/>
              <a:cs typeface="Poppins"/>
              <a:sym typeface="Poppins"/>
            </a:endParaRPr>
          </a:p>
        </p:txBody>
      </p:sp>
      <p:sp>
        <p:nvSpPr>
          <p:cNvPr id="6" name="TextBox 6"/>
          <p:cNvSpPr txBox="1"/>
          <p:nvPr/>
        </p:nvSpPr>
        <p:spPr>
          <a:xfrm>
            <a:off x="577518" y="1241073"/>
            <a:ext cx="7548518" cy="2095520"/>
          </a:xfrm>
          <a:prstGeom prst="rect">
            <a:avLst/>
          </a:prstGeom>
        </p:spPr>
        <p:txBody>
          <a:bodyPr lIns="0" tIns="0" rIns="0" bIns="0" rtlCol="0" anchor="t">
            <a:spAutoFit/>
          </a:bodyPr>
          <a:lstStyle/>
          <a:p>
            <a:pPr algn="l">
              <a:lnSpc>
                <a:spcPts val="4370"/>
              </a:lnSpc>
            </a:pPr>
            <a:r>
              <a:rPr lang="en-US" sz="4600" spc="-82">
                <a:solidFill>
                  <a:srgbClr val="566660"/>
                </a:solidFill>
                <a:latin typeface="League Spartan"/>
                <a:ea typeface="League Spartan"/>
                <a:cs typeface="League Spartan"/>
                <a:sym typeface="League Spartan"/>
              </a:rPr>
              <a:t>REGISTERS</a:t>
            </a:r>
          </a:p>
          <a:p>
            <a:pPr algn="l">
              <a:lnSpc>
                <a:spcPts val="9119"/>
              </a:lnSpc>
            </a:pPr>
            <a:endParaRPr lang="en-US" sz="4600" spc="-82">
              <a:solidFill>
                <a:srgbClr val="566660"/>
              </a:solidFill>
              <a:latin typeface="League Spartan"/>
              <a:ea typeface="League Spartan"/>
              <a:cs typeface="League Spartan"/>
              <a:sym typeface="League Spartan"/>
            </a:endParaRPr>
          </a:p>
          <a:p>
            <a:pPr algn="l">
              <a:lnSpc>
                <a:spcPts val="3040"/>
              </a:lnSpc>
            </a:pPr>
            <a:endParaRPr lang="en-US" sz="4600" spc="-82">
              <a:solidFill>
                <a:srgbClr val="566660"/>
              </a:solidFill>
              <a:latin typeface="League Spartan"/>
              <a:ea typeface="League Spartan"/>
              <a:cs typeface="League Spartan"/>
              <a:sym typeface="League Spart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1702320" y="2787829"/>
            <a:ext cx="5173746" cy="5660063"/>
          </a:xfrm>
          <a:custGeom>
            <a:avLst/>
            <a:gdLst/>
            <a:ahLst/>
            <a:cxnLst/>
            <a:rect l="l" t="t" r="r" b="b"/>
            <a:pathLst>
              <a:path w="5173746" h="5660063">
                <a:moveTo>
                  <a:pt x="0" y="0"/>
                </a:moveTo>
                <a:lnTo>
                  <a:pt x="5173747" y="0"/>
                </a:lnTo>
                <a:lnTo>
                  <a:pt x="5173747" y="5660063"/>
                </a:lnTo>
                <a:lnTo>
                  <a:pt x="0" y="5660063"/>
                </a:lnTo>
                <a:lnTo>
                  <a:pt x="0" y="0"/>
                </a:lnTo>
                <a:close/>
              </a:path>
            </a:pathLst>
          </a:custGeom>
          <a:blipFill>
            <a:blip r:embed="rId2"/>
            <a:stretch>
              <a:fillRect b="-985"/>
            </a:stretch>
          </a:blipFill>
        </p:spPr>
      </p:sp>
      <p:sp>
        <p:nvSpPr>
          <p:cNvPr id="3" name="TextBox 3"/>
          <p:cNvSpPr txBox="1"/>
          <p:nvPr/>
        </p:nvSpPr>
        <p:spPr>
          <a:xfrm>
            <a:off x="652222" y="2555995"/>
            <a:ext cx="9784158" cy="3070225"/>
          </a:xfrm>
          <a:prstGeom prst="rect">
            <a:avLst/>
          </a:prstGeom>
        </p:spPr>
        <p:txBody>
          <a:bodyPr lIns="0" tIns="0" rIns="0" bIns="0" rtlCol="0" anchor="t">
            <a:spAutoFit/>
          </a:bodyPr>
          <a:lstStyle/>
          <a:p>
            <a:pPr marL="539748" lvl="1" indent="-269874" algn="just">
              <a:lnSpc>
                <a:spcPts val="3499"/>
              </a:lnSpc>
              <a:buFont typeface="Arial"/>
              <a:buChar char="•"/>
            </a:pPr>
            <a:r>
              <a:rPr lang="en-US" sz="2499">
                <a:solidFill>
                  <a:srgbClr val="2C4A24"/>
                </a:solidFill>
                <a:latin typeface="Poppins"/>
                <a:ea typeface="Poppins"/>
                <a:cs typeface="Poppins"/>
                <a:sym typeface="Poppins"/>
              </a:rPr>
              <a:t>All states have two exits, so all transitions can be controlled by the single TMS signal sampled on TCK. The two main paths allow for setting or retrieving information from either a data register or the instruction register of the device. The data register operated on (e.g. BSR, IDCODES, BYPASS) depends on the value loaded into the instruction register.</a:t>
            </a:r>
          </a:p>
        </p:txBody>
      </p:sp>
      <p:sp>
        <p:nvSpPr>
          <p:cNvPr id="4" name="TextBox 4"/>
          <p:cNvSpPr txBox="1"/>
          <p:nvPr/>
        </p:nvSpPr>
        <p:spPr>
          <a:xfrm>
            <a:off x="652222" y="1423897"/>
            <a:ext cx="12555912" cy="879475"/>
          </a:xfrm>
          <a:prstGeom prst="rect">
            <a:avLst/>
          </a:prstGeom>
        </p:spPr>
        <p:txBody>
          <a:bodyPr lIns="0" tIns="0" rIns="0" bIns="0" rtlCol="0" anchor="t">
            <a:spAutoFit/>
          </a:bodyPr>
          <a:lstStyle/>
          <a:p>
            <a:pPr marL="539748" lvl="1" indent="-269874" algn="just">
              <a:lnSpc>
                <a:spcPts val="3499"/>
              </a:lnSpc>
              <a:buFont typeface="Arial"/>
              <a:buChar char="•"/>
            </a:pPr>
            <a:r>
              <a:rPr lang="en-US" sz="2499">
                <a:solidFill>
                  <a:srgbClr val="2C4A24"/>
                </a:solidFill>
                <a:latin typeface="Poppins"/>
                <a:ea typeface="Poppins"/>
                <a:cs typeface="Poppins"/>
                <a:sym typeface="Poppins"/>
              </a:rPr>
              <a:t>The TAP controller, a state machine whose transitions are controlled by the TMS signal, controls the behaviour of the JTAG system</a:t>
            </a:r>
          </a:p>
        </p:txBody>
      </p:sp>
      <p:sp>
        <p:nvSpPr>
          <p:cNvPr id="5" name="TextBox 5"/>
          <p:cNvSpPr txBox="1"/>
          <p:nvPr/>
        </p:nvSpPr>
        <p:spPr>
          <a:xfrm>
            <a:off x="413571" y="386277"/>
            <a:ext cx="13205937" cy="915635"/>
          </a:xfrm>
          <a:prstGeom prst="rect">
            <a:avLst/>
          </a:prstGeom>
        </p:spPr>
        <p:txBody>
          <a:bodyPr lIns="0" tIns="0" rIns="0" bIns="0" rtlCol="0" anchor="t">
            <a:spAutoFit/>
          </a:bodyPr>
          <a:lstStyle/>
          <a:p>
            <a:pPr algn="ctr">
              <a:lnSpc>
                <a:spcPts val="7420"/>
              </a:lnSpc>
              <a:spcBef>
                <a:spcPct val="0"/>
              </a:spcBef>
            </a:pPr>
            <a:r>
              <a:rPr lang="en-US" sz="4400" b="1" spc="-95" dirty="0">
                <a:solidFill>
                  <a:srgbClr val="000000"/>
                </a:solidFill>
                <a:latin typeface="League Spartan"/>
                <a:ea typeface="League Spartan"/>
                <a:cs typeface="League Spartan"/>
                <a:sym typeface="League Spartan"/>
              </a:rPr>
              <a:t>TEST ACCESS PORT (TAP) CONTROLLER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595482" y="1810230"/>
            <a:ext cx="8424025" cy="1228725"/>
          </a:xfrm>
          <a:prstGeom prst="rect">
            <a:avLst/>
          </a:prstGeom>
        </p:spPr>
        <p:txBody>
          <a:bodyPr lIns="0" tIns="0" rIns="0" bIns="0" rtlCol="0" anchor="t">
            <a:spAutoFit/>
          </a:bodyPr>
          <a:lstStyle/>
          <a:p>
            <a:pPr algn="l">
              <a:lnSpc>
                <a:spcPts val="9119"/>
              </a:lnSpc>
            </a:pPr>
            <a:r>
              <a:rPr lang="en-US" sz="9600" spc="-172">
                <a:solidFill>
                  <a:srgbClr val="566660"/>
                </a:solidFill>
                <a:latin typeface="League Spartan"/>
                <a:ea typeface="League Spartan"/>
                <a:cs typeface="League Spartan"/>
                <a:sym typeface="League Spartan"/>
              </a:rPr>
              <a:t>MARKETING</a:t>
            </a:r>
          </a:p>
        </p:txBody>
      </p:sp>
      <p:sp>
        <p:nvSpPr>
          <p:cNvPr id="3" name="TextBox 3"/>
          <p:cNvSpPr txBox="1"/>
          <p:nvPr/>
        </p:nvSpPr>
        <p:spPr>
          <a:xfrm>
            <a:off x="1595482" y="3124990"/>
            <a:ext cx="7548518" cy="1238250"/>
          </a:xfrm>
          <a:prstGeom prst="rect">
            <a:avLst/>
          </a:prstGeom>
        </p:spPr>
        <p:txBody>
          <a:bodyPr lIns="0" tIns="0" rIns="0" bIns="0" rtlCol="0" anchor="t">
            <a:spAutoFit/>
          </a:bodyPr>
          <a:lstStyle/>
          <a:p>
            <a:pPr algn="l">
              <a:lnSpc>
                <a:spcPts val="9119"/>
              </a:lnSpc>
            </a:pPr>
            <a:r>
              <a:rPr lang="en-US" sz="9600" spc="-768">
                <a:solidFill>
                  <a:srgbClr val="566660"/>
                </a:solidFill>
                <a:latin typeface="Museo Moderno"/>
                <a:ea typeface="Museo Moderno"/>
                <a:cs typeface="Museo Moderno"/>
                <a:sym typeface="Museo Moderno"/>
              </a:rPr>
              <a:t>STRATEGY</a:t>
            </a:r>
          </a:p>
        </p:txBody>
      </p:sp>
      <p:sp>
        <p:nvSpPr>
          <p:cNvPr id="4" name="TextBox 4"/>
          <p:cNvSpPr txBox="1"/>
          <p:nvPr/>
        </p:nvSpPr>
        <p:spPr>
          <a:xfrm>
            <a:off x="10019507" y="5086350"/>
            <a:ext cx="6807777" cy="1675765"/>
          </a:xfrm>
          <a:prstGeom prst="rect">
            <a:avLst/>
          </a:prstGeom>
        </p:spPr>
        <p:txBody>
          <a:bodyPr lIns="0" tIns="0" rIns="0" bIns="0" rtlCol="0" anchor="t">
            <a:spAutoFit/>
          </a:bodyPr>
          <a:lstStyle/>
          <a:p>
            <a:pPr algn="just">
              <a:lnSpc>
                <a:spcPts val="2660"/>
              </a:lnSpc>
            </a:pPr>
            <a:r>
              <a:rPr lang="en-US" sz="1900">
                <a:solidFill>
                  <a:srgbClr val="2C4A24"/>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 </a:t>
            </a:r>
          </a:p>
        </p:txBody>
      </p:sp>
      <p:sp>
        <p:nvSpPr>
          <p:cNvPr id="5" name="TextBox 5"/>
          <p:cNvSpPr txBox="1"/>
          <p:nvPr/>
        </p:nvSpPr>
        <p:spPr>
          <a:xfrm>
            <a:off x="10019507" y="7077314"/>
            <a:ext cx="6807777" cy="1675765"/>
          </a:xfrm>
          <a:prstGeom prst="rect">
            <a:avLst/>
          </a:prstGeom>
        </p:spPr>
        <p:txBody>
          <a:bodyPr lIns="0" tIns="0" rIns="0" bIns="0" rtlCol="0" anchor="t">
            <a:spAutoFit/>
          </a:bodyPr>
          <a:lstStyle/>
          <a:p>
            <a:pPr algn="just">
              <a:lnSpc>
                <a:spcPts val="2660"/>
              </a:lnSpc>
            </a:pPr>
            <a:r>
              <a:rPr lang="en-US" sz="1900">
                <a:solidFill>
                  <a:srgbClr val="2C4A24"/>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 </a:t>
            </a:r>
          </a:p>
        </p:txBody>
      </p:sp>
      <p:pic>
        <p:nvPicPr>
          <p:cNvPr id="6" name="Picture 6"/>
          <p:cNvPicPr>
            <a:picLocks noChangeAspect="1"/>
          </p:cNvPicPr>
          <p:nvPr/>
        </p:nvPicPr>
        <p:blipFill>
          <a:blip r:embed="rId2"/>
          <a:stretch>
            <a:fillRect/>
          </a:stretch>
        </p:blipFill>
        <p:spPr>
          <a:xfrm>
            <a:off x="979000" y="6824061"/>
            <a:ext cx="7397780" cy="2545499"/>
          </a:xfrm>
          <a:prstGeom prst="rect">
            <a:avLst/>
          </a:prstGeom>
        </p:spPr>
      </p:pic>
      <p:pic>
        <p:nvPicPr>
          <p:cNvPr id="7" name="Picture 7"/>
          <p:cNvPicPr>
            <a:picLocks noChangeAspect="1"/>
          </p:cNvPicPr>
          <p:nvPr/>
        </p:nvPicPr>
        <p:blipFill>
          <a:blip r:embed="rId3"/>
          <a:stretch>
            <a:fillRect/>
          </a:stretch>
        </p:blipFill>
        <p:spPr>
          <a:xfrm>
            <a:off x="12604199" y="2521998"/>
            <a:ext cx="4607000" cy="2080369"/>
          </a:xfrm>
          <a:prstGeom prst="rect">
            <a:avLst/>
          </a:prstGeom>
        </p:spPr>
      </p:pic>
      <p:sp>
        <p:nvSpPr>
          <p:cNvPr id="8" name="TextBox 8"/>
          <p:cNvSpPr txBox="1"/>
          <p:nvPr/>
        </p:nvSpPr>
        <p:spPr>
          <a:xfrm>
            <a:off x="1595482" y="4765919"/>
            <a:ext cx="1640218" cy="362069"/>
          </a:xfrm>
          <a:prstGeom prst="rect">
            <a:avLst/>
          </a:prstGeom>
        </p:spPr>
        <p:txBody>
          <a:bodyPr lIns="0" tIns="0" rIns="0" bIns="0" rtlCol="0" anchor="t">
            <a:spAutoFit/>
          </a:bodyPr>
          <a:lstStyle/>
          <a:p>
            <a:pPr algn="l">
              <a:lnSpc>
                <a:spcPts val="2817"/>
              </a:lnSpc>
            </a:pPr>
            <a:r>
              <a:rPr lang="en-US" sz="2012" spc="-120">
                <a:solidFill>
                  <a:srgbClr val="566660"/>
                </a:solidFill>
                <a:latin typeface="Poppins"/>
                <a:ea typeface="Poppins"/>
                <a:cs typeface="Poppins"/>
                <a:sym typeface="Poppins"/>
              </a:rPr>
              <a:t>presented by</a:t>
            </a:r>
          </a:p>
        </p:txBody>
      </p:sp>
      <p:sp>
        <p:nvSpPr>
          <p:cNvPr id="9" name="TextBox 9"/>
          <p:cNvSpPr txBox="1"/>
          <p:nvPr/>
        </p:nvSpPr>
        <p:spPr>
          <a:xfrm>
            <a:off x="1595482" y="5209010"/>
            <a:ext cx="3960094" cy="254921"/>
          </a:xfrm>
          <a:prstGeom prst="rect">
            <a:avLst/>
          </a:prstGeom>
        </p:spPr>
        <p:txBody>
          <a:bodyPr lIns="0" tIns="0" rIns="0" bIns="0" rtlCol="0" anchor="t">
            <a:spAutoFit/>
          </a:bodyPr>
          <a:lstStyle/>
          <a:p>
            <a:pPr algn="l">
              <a:lnSpc>
                <a:spcPts val="2012"/>
              </a:lnSpc>
            </a:pPr>
            <a:r>
              <a:rPr lang="en-US" sz="1437" spc="-71">
                <a:solidFill>
                  <a:srgbClr val="566660"/>
                </a:solidFill>
                <a:latin typeface="Poppins"/>
                <a:ea typeface="Poppins"/>
                <a:cs typeface="Poppins"/>
                <a:sym typeface="Poppins"/>
              </a:rPr>
              <a:t>Alfredo Torez</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573594" y="1961902"/>
            <a:ext cx="7570406" cy="1228725"/>
          </a:xfrm>
          <a:prstGeom prst="rect">
            <a:avLst/>
          </a:prstGeom>
        </p:spPr>
        <p:txBody>
          <a:bodyPr lIns="0" tIns="0" rIns="0" bIns="0" rtlCol="0" anchor="t">
            <a:spAutoFit/>
          </a:bodyPr>
          <a:lstStyle/>
          <a:p>
            <a:pPr algn="l">
              <a:lnSpc>
                <a:spcPts val="9119"/>
              </a:lnSpc>
            </a:pPr>
            <a:r>
              <a:rPr lang="en-US" sz="9600" spc="-172">
                <a:solidFill>
                  <a:srgbClr val="566660"/>
                </a:solidFill>
                <a:latin typeface="League Spartan"/>
                <a:ea typeface="League Spartan"/>
                <a:cs typeface="League Spartan"/>
                <a:sym typeface="League Spartan"/>
              </a:rPr>
              <a:t>OUR TEAM</a:t>
            </a:r>
          </a:p>
        </p:txBody>
      </p:sp>
      <p:grpSp>
        <p:nvGrpSpPr>
          <p:cNvPr id="3" name="Group 3"/>
          <p:cNvGrpSpPr/>
          <p:nvPr/>
        </p:nvGrpSpPr>
        <p:grpSpPr>
          <a:xfrm>
            <a:off x="1573594" y="3190627"/>
            <a:ext cx="6561276" cy="2211187"/>
            <a:chOff x="0" y="0"/>
            <a:chExt cx="1016513" cy="342571"/>
          </a:xfrm>
        </p:grpSpPr>
        <p:sp>
          <p:nvSpPr>
            <p:cNvPr id="4" name="Freeform 4"/>
            <p:cNvSpPr/>
            <p:nvPr/>
          </p:nvSpPr>
          <p:spPr>
            <a:xfrm>
              <a:off x="0" y="0"/>
              <a:ext cx="1016513" cy="342571"/>
            </a:xfrm>
            <a:custGeom>
              <a:avLst/>
              <a:gdLst/>
              <a:ahLst/>
              <a:cxnLst/>
              <a:rect l="l" t="t" r="r" b="b"/>
              <a:pathLst>
                <a:path w="1016513" h="342571">
                  <a:moveTo>
                    <a:pt x="0" y="0"/>
                  </a:moveTo>
                  <a:lnTo>
                    <a:pt x="1016513" y="0"/>
                  </a:lnTo>
                  <a:lnTo>
                    <a:pt x="1016513" y="342571"/>
                  </a:lnTo>
                  <a:lnTo>
                    <a:pt x="0" y="342571"/>
                  </a:lnTo>
                  <a:close/>
                </a:path>
              </a:pathLst>
            </a:custGeom>
            <a:blipFill>
              <a:blip r:embed="rId2"/>
              <a:stretch>
                <a:fillRect t="-172687" b="-172687"/>
              </a:stretch>
            </a:blipFill>
            <a:ln cap="sq">
              <a:noFill/>
              <a:prstDash val="solid"/>
              <a:miter/>
            </a:ln>
          </p:spPr>
        </p:sp>
      </p:grpSp>
      <p:grpSp>
        <p:nvGrpSpPr>
          <p:cNvPr id="5" name="Group 5"/>
          <p:cNvGrpSpPr/>
          <p:nvPr/>
        </p:nvGrpSpPr>
        <p:grpSpPr>
          <a:xfrm>
            <a:off x="9713079" y="1733302"/>
            <a:ext cx="1900386" cy="1900386"/>
            <a:chOff x="0" y="0"/>
            <a:chExt cx="13716000" cy="13716000"/>
          </a:xfrm>
        </p:grpSpPr>
        <p:sp>
          <p:nvSpPr>
            <p:cNvPr id="6" name="Freeform 6"/>
            <p:cNvSpPr/>
            <p:nvPr/>
          </p:nvSpPr>
          <p:spPr>
            <a:xfrm>
              <a:off x="0" y="0"/>
              <a:ext cx="13716000" cy="13716000"/>
            </a:xfrm>
            <a:custGeom>
              <a:avLst/>
              <a:gdLst/>
              <a:ahLst/>
              <a:cxnLst/>
              <a:rect l="l" t="t" r="r" b="b"/>
              <a:pathLst>
                <a:path w="13716000" h="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3"/>
              <a:stretch>
                <a:fillRect t="-25046" b="-25046"/>
              </a:stretch>
            </a:blipFill>
          </p:spPr>
        </p:sp>
      </p:grpSp>
      <p:grpSp>
        <p:nvGrpSpPr>
          <p:cNvPr id="7" name="Group 7"/>
          <p:cNvGrpSpPr/>
          <p:nvPr/>
        </p:nvGrpSpPr>
        <p:grpSpPr>
          <a:xfrm>
            <a:off x="9713079" y="4193307"/>
            <a:ext cx="1900386" cy="1900386"/>
            <a:chOff x="0" y="0"/>
            <a:chExt cx="13716000" cy="13716000"/>
          </a:xfrm>
        </p:grpSpPr>
        <p:sp>
          <p:nvSpPr>
            <p:cNvPr id="8" name="Freeform 8"/>
            <p:cNvSpPr/>
            <p:nvPr/>
          </p:nvSpPr>
          <p:spPr>
            <a:xfrm>
              <a:off x="0" y="0"/>
              <a:ext cx="13716000" cy="13716000"/>
            </a:xfrm>
            <a:custGeom>
              <a:avLst/>
              <a:gdLst/>
              <a:ahLst/>
              <a:cxnLst/>
              <a:rect l="l" t="t" r="r" b="b"/>
              <a:pathLst>
                <a:path w="13716000" h="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4"/>
              <a:stretch>
                <a:fillRect l="-11860" r="-11860" b="-85697"/>
              </a:stretch>
            </a:blipFill>
          </p:spPr>
        </p:sp>
      </p:grpSp>
      <p:grpSp>
        <p:nvGrpSpPr>
          <p:cNvPr id="9" name="Group 9"/>
          <p:cNvGrpSpPr/>
          <p:nvPr/>
        </p:nvGrpSpPr>
        <p:grpSpPr>
          <a:xfrm>
            <a:off x="9713079" y="6653313"/>
            <a:ext cx="1900386" cy="1900386"/>
            <a:chOff x="0" y="0"/>
            <a:chExt cx="13716000" cy="13716000"/>
          </a:xfrm>
        </p:grpSpPr>
        <p:sp>
          <p:nvSpPr>
            <p:cNvPr id="10" name="Freeform 10"/>
            <p:cNvSpPr/>
            <p:nvPr/>
          </p:nvSpPr>
          <p:spPr>
            <a:xfrm>
              <a:off x="0" y="0"/>
              <a:ext cx="13716000" cy="13716000"/>
            </a:xfrm>
            <a:custGeom>
              <a:avLst/>
              <a:gdLst/>
              <a:ahLst/>
              <a:cxnLst/>
              <a:rect l="l" t="t" r="r" b="b"/>
              <a:pathLst>
                <a:path w="13716000" h="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5"/>
              <a:stretch>
                <a:fillRect t="-25046" b="-25046"/>
              </a:stretch>
            </a:blipFill>
          </p:spPr>
        </p:sp>
      </p:grpSp>
      <p:sp>
        <p:nvSpPr>
          <p:cNvPr id="11" name="TextBox 11"/>
          <p:cNvSpPr txBox="1"/>
          <p:nvPr/>
        </p:nvSpPr>
        <p:spPr>
          <a:xfrm>
            <a:off x="11937315" y="2933752"/>
            <a:ext cx="4203003" cy="368300"/>
          </a:xfrm>
          <a:prstGeom prst="rect">
            <a:avLst/>
          </a:prstGeom>
        </p:spPr>
        <p:txBody>
          <a:bodyPr lIns="0" tIns="0" rIns="0" bIns="0" rtlCol="0" anchor="t">
            <a:spAutoFit/>
          </a:bodyPr>
          <a:lstStyle/>
          <a:p>
            <a:pPr algn="just">
              <a:lnSpc>
                <a:spcPts val="2800"/>
              </a:lnSpc>
            </a:pPr>
            <a:r>
              <a:rPr lang="en-US" sz="2000">
                <a:solidFill>
                  <a:srgbClr val="566660"/>
                </a:solidFill>
                <a:latin typeface="Poppins"/>
                <a:ea typeface="Poppins"/>
                <a:cs typeface="Poppins"/>
                <a:sym typeface="Poppins"/>
              </a:rPr>
              <a:t>PROJECT MANAGER</a:t>
            </a:r>
          </a:p>
        </p:txBody>
      </p:sp>
      <p:sp>
        <p:nvSpPr>
          <p:cNvPr id="12" name="TextBox 12"/>
          <p:cNvSpPr txBox="1"/>
          <p:nvPr/>
        </p:nvSpPr>
        <p:spPr>
          <a:xfrm>
            <a:off x="11937315" y="2128766"/>
            <a:ext cx="4874569" cy="676275"/>
          </a:xfrm>
          <a:prstGeom prst="rect">
            <a:avLst/>
          </a:prstGeom>
        </p:spPr>
        <p:txBody>
          <a:bodyPr lIns="0" tIns="0" rIns="0" bIns="0" rtlCol="0" anchor="t">
            <a:spAutoFit/>
          </a:bodyPr>
          <a:lstStyle/>
          <a:p>
            <a:pPr algn="l">
              <a:lnSpc>
                <a:spcPts val="5160"/>
              </a:lnSpc>
            </a:pPr>
            <a:r>
              <a:rPr lang="en-US" sz="4300" b="1" spc="-344">
                <a:solidFill>
                  <a:srgbClr val="566660"/>
                </a:solidFill>
                <a:latin typeface="Poppins Bold"/>
                <a:ea typeface="Poppins Bold"/>
                <a:cs typeface="Poppins Bold"/>
                <a:sym typeface="Poppins Bold"/>
              </a:rPr>
              <a:t>OLIVIA WILSON</a:t>
            </a:r>
          </a:p>
        </p:txBody>
      </p:sp>
      <p:sp>
        <p:nvSpPr>
          <p:cNvPr id="13" name="TextBox 13"/>
          <p:cNvSpPr txBox="1"/>
          <p:nvPr/>
        </p:nvSpPr>
        <p:spPr>
          <a:xfrm>
            <a:off x="11937315" y="5393758"/>
            <a:ext cx="4203003" cy="368300"/>
          </a:xfrm>
          <a:prstGeom prst="rect">
            <a:avLst/>
          </a:prstGeom>
        </p:spPr>
        <p:txBody>
          <a:bodyPr lIns="0" tIns="0" rIns="0" bIns="0" rtlCol="0" anchor="t">
            <a:spAutoFit/>
          </a:bodyPr>
          <a:lstStyle/>
          <a:p>
            <a:pPr algn="just">
              <a:lnSpc>
                <a:spcPts val="2800"/>
              </a:lnSpc>
            </a:pPr>
            <a:r>
              <a:rPr lang="en-US" sz="2000">
                <a:solidFill>
                  <a:srgbClr val="566660"/>
                </a:solidFill>
                <a:latin typeface="Poppins"/>
                <a:ea typeface="Poppins"/>
                <a:cs typeface="Poppins"/>
                <a:sym typeface="Poppins"/>
              </a:rPr>
              <a:t>BUSINESS ANALYST</a:t>
            </a:r>
          </a:p>
        </p:txBody>
      </p:sp>
      <p:sp>
        <p:nvSpPr>
          <p:cNvPr id="14" name="TextBox 14"/>
          <p:cNvSpPr txBox="1"/>
          <p:nvPr/>
        </p:nvSpPr>
        <p:spPr>
          <a:xfrm>
            <a:off x="11937315" y="4588771"/>
            <a:ext cx="4874569" cy="676275"/>
          </a:xfrm>
          <a:prstGeom prst="rect">
            <a:avLst/>
          </a:prstGeom>
        </p:spPr>
        <p:txBody>
          <a:bodyPr lIns="0" tIns="0" rIns="0" bIns="0" rtlCol="0" anchor="t">
            <a:spAutoFit/>
          </a:bodyPr>
          <a:lstStyle/>
          <a:p>
            <a:pPr algn="l">
              <a:lnSpc>
                <a:spcPts val="5160"/>
              </a:lnSpc>
            </a:pPr>
            <a:r>
              <a:rPr lang="en-US" sz="4300" b="1" spc="-344">
                <a:solidFill>
                  <a:srgbClr val="566660"/>
                </a:solidFill>
                <a:latin typeface="Poppins Bold"/>
                <a:ea typeface="Poppins Bold"/>
                <a:cs typeface="Poppins Bold"/>
                <a:sym typeface="Poppins Bold"/>
              </a:rPr>
              <a:t>CLAUDIA ALVES</a:t>
            </a:r>
          </a:p>
        </p:txBody>
      </p:sp>
      <p:sp>
        <p:nvSpPr>
          <p:cNvPr id="15" name="TextBox 15"/>
          <p:cNvSpPr txBox="1"/>
          <p:nvPr/>
        </p:nvSpPr>
        <p:spPr>
          <a:xfrm>
            <a:off x="11937315" y="7853763"/>
            <a:ext cx="4203003" cy="368300"/>
          </a:xfrm>
          <a:prstGeom prst="rect">
            <a:avLst/>
          </a:prstGeom>
        </p:spPr>
        <p:txBody>
          <a:bodyPr lIns="0" tIns="0" rIns="0" bIns="0" rtlCol="0" anchor="t">
            <a:spAutoFit/>
          </a:bodyPr>
          <a:lstStyle/>
          <a:p>
            <a:pPr algn="just">
              <a:lnSpc>
                <a:spcPts val="2800"/>
              </a:lnSpc>
            </a:pPr>
            <a:r>
              <a:rPr lang="en-US" sz="2000">
                <a:solidFill>
                  <a:srgbClr val="566660"/>
                </a:solidFill>
                <a:latin typeface="Poppins"/>
                <a:ea typeface="Poppins"/>
                <a:cs typeface="Poppins"/>
                <a:sym typeface="Poppins"/>
              </a:rPr>
              <a:t>UI / UX ENGINEER</a:t>
            </a:r>
          </a:p>
        </p:txBody>
      </p:sp>
      <p:sp>
        <p:nvSpPr>
          <p:cNvPr id="16" name="TextBox 16"/>
          <p:cNvSpPr txBox="1"/>
          <p:nvPr/>
        </p:nvSpPr>
        <p:spPr>
          <a:xfrm>
            <a:off x="11937315" y="7048777"/>
            <a:ext cx="4874569" cy="676275"/>
          </a:xfrm>
          <a:prstGeom prst="rect">
            <a:avLst/>
          </a:prstGeom>
        </p:spPr>
        <p:txBody>
          <a:bodyPr lIns="0" tIns="0" rIns="0" bIns="0" rtlCol="0" anchor="t">
            <a:spAutoFit/>
          </a:bodyPr>
          <a:lstStyle/>
          <a:p>
            <a:pPr algn="l">
              <a:lnSpc>
                <a:spcPts val="5160"/>
              </a:lnSpc>
            </a:pPr>
            <a:r>
              <a:rPr lang="en-US" sz="4300" b="1" spc="-344">
                <a:solidFill>
                  <a:srgbClr val="566660"/>
                </a:solidFill>
                <a:latin typeface="Poppins Bold"/>
                <a:ea typeface="Poppins Bold"/>
                <a:cs typeface="Poppins Bold"/>
                <a:sym typeface="Poppins Bold"/>
              </a:rPr>
              <a:t>ALFREDO TOREZ</a:t>
            </a:r>
          </a:p>
        </p:txBody>
      </p:sp>
      <p:sp>
        <p:nvSpPr>
          <p:cNvPr id="17" name="TextBox 17"/>
          <p:cNvSpPr txBox="1"/>
          <p:nvPr/>
        </p:nvSpPr>
        <p:spPr>
          <a:xfrm>
            <a:off x="1573594" y="7539767"/>
            <a:ext cx="2281745" cy="509905"/>
          </a:xfrm>
          <a:prstGeom prst="rect">
            <a:avLst/>
          </a:prstGeom>
        </p:spPr>
        <p:txBody>
          <a:bodyPr lIns="0" tIns="0" rIns="0" bIns="0" rtlCol="0" anchor="t">
            <a:spAutoFit/>
          </a:bodyPr>
          <a:lstStyle/>
          <a:p>
            <a:pPr algn="l">
              <a:lnSpc>
                <a:spcPts val="3919"/>
              </a:lnSpc>
            </a:pPr>
            <a:r>
              <a:rPr lang="en-US" sz="2799" spc="-167">
                <a:solidFill>
                  <a:srgbClr val="566660"/>
                </a:solidFill>
                <a:latin typeface="Poppins"/>
                <a:ea typeface="Poppins"/>
                <a:cs typeface="Poppins"/>
                <a:sym typeface="Poppins"/>
              </a:rPr>
              <a:t>presented by</a:t>
            </a:r>
          </a:p>
        </p:txBody>
      </p:sp>
      <p:sp>
        <p:nvSpPr>
          <p:cNvPr id="18" name="TextBox 18"/>
          <p:cNvSpPr txBox="1"/>
          <p:nvPr/>
        </p:nvSpPr>
        <p:spPr>
          <a:xfrm>
            <a:off x="1573594" y="8158234"/>
            <a:ext cx="5508978" cy="358775"/>
          </a:xfrm>
          <a:prstGeom prst="rect">
            <a:avLst/>
          </a:prstGeom>
        </p:spPr>
        <p:txBody>
          <a:bodyPr lIns="0" tIns="0" rIns="0" bIns="0" rtlCol="0" anchor="t">
            <a:spAutoFit/>
          </a:bodyPr>
          <a:lstStyle/>
          <a:p>
            <a:pPr algn="l">
              <a:lnSpc>
                <a:spcPts val="2799"/>
              </a:lnSpc>
            </a:pPr>
            <a:r>
              <a:rPr lang="en-US" sz="1999" spc="-99">
                <a:solidFill>
                  <a:srgbClr val="566660"/>
                </a:solidFill>
                <a:latin typeface="Poppins"/>
                <a:ea typeface="Poppins"/>
                <a:cs typeface="Poppins"/>
                <a:sym typeface="Poppins"/>
              </a:rPr>
              <a:t>Alfredo Torez</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945684" y="6296025"/>
            <a:ext cx="7548518" cy="1228725"/>
          </a:xfrm>
          <a:prstGeom prst="rect">
            <a:avLst/>
          </a:prstGeom>
        </p:spPr>
        <p:txBody>
          <a:bodyPr lIns="0" tIns="0" rIns="0" bIns="0" rtlCol="0" anchor="t">
            <a:spAutoFit/>
          </a:bodyPr>
          <a:lstStyle/>
          <a:p>
            <a:pPr algn="l">
              <a:lnSpc>
                <a:spcPts val="9119"/>
              </a:lnSpc>
            </a:pPr>
            <a:r>
              <a:rPr lang="en-US" sz="9600" spc="-172">
                <a:solidFill>
                  <a:srgbClr val="566660"/>
                </a:solidFill>
                <a:latin typeface="League Spartan"/>
                <a:ea typeface="League Spartan"/>
                <a:cs typeface="League Spartan"/>
                <a:sym typeface="League Spartan"/>
              </a:rPr>
              <a:t>GET IN</a:t>
            </a:r>
          </a:p>
        </p:txBody>
      </p:sp>
      <p:sp>
        <p:nvSpPr>
          <p:cNvPr id="3" name="TextBox 3"/>
          <p:cNvSpPr txBox="1"/>
          <p:nvPr/>
        </p:nvSpPr>
        <p:spPr>
          <a:xfrm>
            <a:off x="1945684" y="7610785"/>
            <a:ext cx="7548518" cy="1238250"/>
          </a:xfrm>
          <a:prstGeom prst="rect">
            <a:avLst/>
          </a:prstGeom>
        </p:spPr>
        <p:txBody>
          <a:bodyPr lIns="0" tIns="0" rIns="0" bIns="0" rtlCol="0" anchor="t">
            <a:spAutoFit/>
          </a:bodyPr>
          <a:lstStyle/>
          <a:p>
            <a:pPr algn="l">
              <a:lnSpc>
                <a:spcPts val="9119"/>
              </a:lnSpc>
            </a:pPr>
            <a:r>
              <a:rPr lang="en-US" sz="9600" spc="-768">
                <a:solidFill>
                  <a:srgbClr val="566660"/>
                </a:solidFill>
                <a:latin typeface="Museo Moderno"/>
                <a:ea typeface="Museo Moderno"/>
                <a:cs typeface="Museo Moderno"/>
                <a:sym typeface="Museo Moderno"/>
              </a:rPr>
              <a:t>TOUCH</a:t>
            </a:r>
          </a:p>
        </p:txBody>
      </p:sp>
      <p:sp>
        <p:nvSpPr>
          <p:cNvPr id="4" name="TextBox 4"/>
          <p:cNvSpPr txBox="1"/>
          <p:nvPr/>
        </p:nvSpPr>
        <p:spPr>
          <a:xfrm>
            <a:off x="7744219" y="1904885"/>
            <a:ext cx="2354315" cy="444843"/>
          </a:xfrm>
          <a:prstGeom prst="rect">
            <a:avLst/>
          </a:prstGeom>
        </p:spPr>
        <p:txBody>
          <a:bodyPr lIns="0" tIns="0" rIns="0" bIns="0" rtlCol="0" anchor="t">
            <a:spAutoFit/>
          </a:bodyPr>
          <a:lstStyle/>
          <a:p>
            <a:pPr algn="l">
              <a:lnSpc>
                <a:spcPts val="3488"/>
              </a:lnSpc>
            </a:pPr>
            <a:r>
              <a:rPr lang="en-US" sz="2491">
                <a:solidFill>
                  <a:srgbClr val="566660"/>
                </a:solidFill>
                <a:latin typeface="Poppins"/>
                <a:ea typeface="Poppins"/>
                <a:cs typeface="Poppins"/>
                <a:sym typeface="Poppins"/>
              </a:rPr>
              <a:t>EMAIL</a:t>
            </a:r>
          </a:p>
        </p:txBody>
      </p:sp>
      <p:sp>
        <p:nvSpPr>
          <p:cNvPr id="5" name="TextBox 5"/>
          <p:cNvSpPr txBox="1"/>
          <p:nvPr/>
        </p:nvSpPr>
        <p:spPr>
          <a:xfrm>
            <a:off x="7744219" y="3754217"/>
            <a:ext cx="2354315" cy="444843"/>
          </a:xfrm>
          <a:prstGeom prst="rect">
            <a:avLst/>
          </a:prstGeom>
        </p:spPr>
        <p:txBody>
          <a:bodyPr lIns="0" tIns="0" rIns="0" bIns="0" rtlCol="0" anchor="t">
            <a:spAutoFit/>
          </a:bodyPr>
          <a:lstStyle/>
          <a:p>
            <a:pPr algn="l">
              <a:lnSpc>
                <a:spcPts val="3488"/>
              </a:lnSpc>
            </a:pPr>
            <a:r>
              <a:rPr lang="en-US" sz="2491">
                <a:solidFill>
                  <a:srgbClr val="566660"/>
                </a:solidFill>
                <a:latin typeface="Poppins"/>
                <a:ea typeface="Poppins"/>
                <a:cs typeface="Poppins"/>
                <a:sym typeface="Poppins"/>
              </a:rPr>
              <a:t>ADDRESS</a:t>
            </a:r>
          </a:p>
        </p:txBody>
      </p:sp>
      <p:sp>
        <p:nvSpPr>
          <p:cNvPr id="6" name="TextBox 6"/>
          <p:cNvSpPr txBox="1"/>
          <p:nvPr/>
        </p:nvSpPr>
        <p:spPr>
          <a:xfrm>
            <a:off x="13303219" y="1904885"/>
            <a:ext cx="2354315" cy="444843"/>
          </a:xfrm>
          <a:prstGeom prst="rect">
            <a:avLst/>
          </a:prstGeom>
        </p:spPr>
        <p:txBody>
          <a:bodyPr lIns="0" tIns="0" rIns="0" bIns="0" rtlCol="0" anchor="t">
            <a:spAutoFit/>
          </a:bodyPr>
          <a:lstStyle/>
          <a:p>
            <a:pPr algn="l">
              <a:lnSpc>
                <a:spcPts val="3488"/>
              </a:lnSpc>
            </a:pPr>
            <a:r>
              <a:rPr lang="en-US" sz="2491">
                <a:solidFill>
                  <a:srgbClr val="566660"/>
                </a:solidFill>
                <a:latin typeface="Poppins"/>
                <a:ea typeface="Poppins"/>
                <a:cs typeface="Poppins"/>
                <a:sym typeface="Poppins"/>
              </a:rPr>
              <a:t>PHONE</a:t>
            </a:r>
          </a:p>
        </p:txBody>
      </p:sp>
      <p:sp>
        <p:nvSpPr>
          <p:cNvPr id="7" name="TextBox 7"/>
          <p:cNvSpPr txBox="1"/>
          <p:nvPr/>
        </p:nvSpPr>
        <p:spPr>
          <a:xfrm>
            <a:off x="13303219" y="3754217"/>
            <a:ext cx="2354315" cy="444843"/>
          </a:xfrm>
          <a:prstGeom prst="rect">
            <a:avLst/>
          </a:prstGeom>
        </p:spPr>
        <p:txBody>
          <a:bodyPr lIns="0" tIns="0" rIns="0" bIns="0" rtlCol="0" anchor="t">
            <a:spAutoFit/>
          </a:bodyPr>
          <a:lstStyle/>
          <a:p>
            <a:pPr algn="l">
              <a:lnSpc>
                <a:spcPts val="3488"/>
              </a:lnSpc>
            </a:pPr>
            <a:r>
              <a:rPr lang="en-US" sz="2491">
                <a:solidFill>
                  <a:srgbClr val="566660"/>
                </a:solidFill>
                <a:latin typeface="Poppins"/>
                <a:ea typeface="Poppins"/>
                <a:cs typeface="Poppins"/>
                <a:sym typeface="Poppins"/>
              </a:rPr>
              <a:t>WEBSITE</a:t>
            </a:r>
          </a:p>
        </p:txBody>
      </p:sp>
      <p:sp>
        <p:nvSpPr>
          <p:cNvPr id="8" name="TextBox 8"/>
          <p:cNvSpPr txBox="1"/>
          <p:nvPr/>
        </p:nvSpPr>
        <p:spPr>
          <a:xfrm>
            <a:off x="7744219" y="2492391"/>
            <a:ext cx="4147363" cy="405603"/>
          </a:xfrm>
          <a:prstGeom prst="rect">
            <a:avLst/>
          </a:prstGeom>
        </p:spPr>
        <p:txBody>
          <a:bodyPr lIns="0" tIns="0" rIns="0" bIns="0" rtlCol="0" anchor="t">
            <a:spAutoFit/>
          </a:bodyPr>
          <a:lstStyle/>
          <a:p>
            <a:pPr algn="l">
              <a:lnSpc>
                <a:spcPts val="3155"/>
              </a:lnSpc>
            </a:pPr>
            <a:r>
              <a:rPr lang="en-US" sz="2253">
                <a:solidFill>
                  <a:srgbClr val="566660"/>
                </a:solidFill>
                <a:latin typeface="Poppins"/>
                <a:ea typeface="Poppins"/>
                <a:cs typeface="Poppins"/>
                <a:sym typeface="Poppins"/>
              </a:rPr>
              <a:t>hello@reallygreatsite.com</a:t>
            </a:r>
          </a:p>
        </p:txBody>
      </p:sp>
      <p:sp>
        <p:nvSpPr>
          <p:cNvPr id="9" name="TextBox 9"/>
          <p:cNvSpPr txBox="1"/>
          <p:nvPr/>
        </p:nvSpPr>
        <p:spPr>
          <a:xfrm>
            <a:off x="7744219" y="4341723"/>
            <a:ext cx="3001088" cy="801777"/>
          </a:xfrm>
          <a:prstGeom prst="rect">
            <a:avLst/>
          </a:prstGeom>
        </p:spPr>
        <p:txBody>
          <a:bodyPr lIns="0" tIns="0" rIns="0" bIns="0" rtlCol="0" anchor="t">
            <a:spAutoFit/>
          </a:bodyPr>
          <a:lstStyle/>
          <a:p>
            <a:pPr algn="l">
              <a:lnSpc>
                <a:spcPts val="3155"/>
              </a:lnSpc>
            </a:pPr>
            <a:r>
              <a:rPr lang="en-US" sz="2253">
                <a:solidFill>
                  <a:srgbClr val="566660"/>
                </a:solidFill>
                <a:latin typeface="Poppins"/>
                <a:ea typeface="Poppins"/>
                <a:cs typeface="Poppins"/>
                <a:sym typeface="Poppins"/>
              </a:rPr>
              <a:t>123 Anywhere St., Any City, ST 12345</a:t>
            </a:r>
          </a:p>
        </p:txBody>
      </p:sp>
      <p:sp>
        <p:nvSpPr>
          <p:cNvPr id="10" name="TextBox 10"/>
          <p:cNvSpPr txBox="1"/>
          <p:nvPr/>
        </p:nvSpPr>
        <p:spPr>
          <a:xfrm>
            <a:off x="13303219" y="2492391"/>
            <a:ext cx="3759092" cy="405603"/>
          </a:xfrm>
          <a:prstGeom prst="rect">
            <a:avLst/>
          </a:prstGeom>
        </p:spPr>
        <p:txBody>
          <a:bodyPr lIns="0" tIns="0" rIns="0" bIns="0" rtlCol="0" anchor="t">
            <a:spAutoFit/>
          </a:bodyPr>
          <a:lstStyle/>
          <a:p>
            <a:pPr algn="l">
              <a:lnSpc>
                <a:spcPts val="3155"/>
              </a:lnSpc>
            </a:pPr>
            <a:r>
              <a:rPr lang="en-US" sz="2253">
                <a:solidFill>
                  <a:srgbClr val="566660"/>
                </a:solidFill>
                <a:latin typeface="Poppins"/>
                <a:ea typeface="Poppins"/>
                <a:cs typeface="Poppins"/>
                <a:sym typeface="Poppins"/>
              </a:rPr>
              <a:t>+123-456-7890</a:t>
            </a:r>
          </a:p>
        </p:txBody>
      </p:sp>
      <p:sp>
        <p:nvSpPr>
          <p:cNvPr id="11" name="TextBox 11"/>
          <p:cNvSpPr txBox="1"/>
          <p:nvPr/>
        </p:nvSpPr>
        <p:spPr>
          <a:xfrm>
            <a:off x="13303219" y="4341723"/>
            <a:ext cx="3759092" cy="405603"/>
          </a:xfrm>
          <a:prstGeom prst="rect">
            <a:avLst/>
          </a:prstGeom>
        </p:spPr>
        <p:txBody>
          <a:bodyPr lIns="0" tIns="0" rIns="0" bIns="0" rtlCol="0" anchor="t">
            <a:spAutoFit/>
          </a:bodyPr>
          <a:lstStyle/>
          <a:p>
            <a:pPr algn="l">
              <a:lnSpc>
                <a:spcPts val="3155"/>
              </a:lnSpc>
            </a:pPr>
            <a:r>
              <a:rPr lang="en-US" sz="2253">
                <a:solidFill>
                  <a:srgbClr val="566660"/>
                </a:solidFill>
                <a:latin typeface="Poppins"/>
                <a:ea typeface="Poppins"/>
                <a:cs typeface="Poppins"/>
                <a:sym typeface="Poppins"/>
              </a:rPr>
              <a:t>reallygreatsite.com</a:t>
            </a:r>
          </a:p>
        </p:txBody>
      </p:sp>
      <p:grpSp>
        <p:nvGrpSpPr>
          <p:cNvPr id="12" name="Group 12"/>
          <p:cNvGrpSpPr/>
          <p:nvPr/>
        </p:nvGrpSpPr>
        <p:grpSpPr>
          <a:xfrm>
            <a:off x="13540925" y="6380344"/>
            <a:ext cx="4233218" cy="3480058"/>
            <a:chOff x="0" y="0"/>
            <a:chExt cx="655836" cy="539152"/>
          </a:xfrm>
        </p:grpSpPr>
        <p:sp>
          <p:nvSpPr>
            <p:cNvPr id="13" name="Freeform 13"/>
            <p:cNvSpPr/>
            <p:nvPr/>
          </p:nvSpPr>
          <p:spPr>
            <a:xfrm>
              <a:off x="0" y="0"/>
              <a:ext cx="655836" cy="539152"/>
            </a:xfrm>
            <a:custGeom>
              <a:avLst/>
              <a:gdLst/>
              <a:ahLst/>
              <a:cxnLst/>
              <a:rect l="l" t="t" r="r" b="b"/>
              <a:pathLst>
                <a:path w="655836" h="539152">
                  <a:moveTo>
                    <a:pt x="0" y="0"/>
                  </a:moveTo>
                  <a:lnTo>
                    <a:pt x="655836" y="0"/>
                  </a:lnTo>
                  <a:lnTo>
                    <a:pt x="655836" y="539152"/>
                  </a:lnTo>
                  <a:lnTo>
                    <a:pt x="0" y="539152"/>
                  </a:lnTo>
                  <a:close/>
                </a:path>
              </a:pathLst>
            </a:custGeom>
            <a:blipFill>
              <a:blip r:embed="rId2"/>
              <a:stretch>
                <a:fillRect t="-41288" b="-41288"/>
              </a:stretch>
            </a:blipFill>
            <a:ln cap="sq">
              <a:noFill/>
              <a:prstDash val="solid"/>
              <a:miter/>
            </a:ln>
          </p:spPr>
        </p:sp>
      </p:grpSp>
      <p:sp>
        <p:nvSpPr>
          <p:cNvPr id="14" name="TextBox 14"/>
          <p:cNvSpPr txBox="1"/>
          <p:nvPr/>
        </p:nvSpPr>
        <p:spPr>
          <a:xfrm>
            <a:off x="1028700" y="971550"/>
            <a:ext cx="1640218" cy="362069"/>
          </a:xfrm>
          <a:prstGeom prst="rect">
            <a:avLst/>
          </a:prstGeom>
        </p:spPr>
        <p:txBody>
          <a:bodyPr lIns="0" tIns="0" rIns="0" bIns="0" rtlCol="0" anchor="t">
            <a:spAutoFit/>
          </a:bodyPr>
          <a:lstStyle/>
          <a:p>
            <a:pPr algn="l">
              <a:lnSpc>
                <a:spcPts val="2817"/>
              </a:lnSpc>
            </a:pPr>
            <a:r>
              <a:rPr lang="en-US" sz="2012" spc="-120">
                <a:solidFill>
                  <a:srgbClr val="566660"/>
                </a:solidFill>
                <a:latin typeface="Poppins"/>
                <a:ea typeface="Poppins"/>
                <a:cs typeface="Poppins"/>
                <a:sym typeface="Poppins"/>
              </a:rPr>
              <a:t>presented by</a:t>
            </a:r>
          </a:p>
        </p:txBody>
      </p:sp>
      <p:sp>
        <p:nvSpPr>
          <p:cNvPr id="15" name="TextBox 15"/>
          <p:cNvSpPr txBox="1"/>
          <p:nvPr/>
        </p:nvSpPr>
        <p:spPr>
          <a:xfrm>
            <a:off x="1028700" y="1414641"/>
            <a:ext cx="3960094" cy="254921"/>
          </a:xfrm>
          <a:prstGeom prst="rect">
            <a:avLst/>
          </a:prstGeom>
        </p:spPr>
        <p:txBody>
          <a:bodyPr lIns="0" tIns="0" rIns="0" bIns="0" rtlCol="0" anchor="t">
            <a:spAutoFit/>
          </a:bodyPr>
          <a:lstStyle/>
          <a:p>
            <a:pPr algn="l">
              <a:lnSpc>
                <a:spcPts val="2012"/>
              </a:lnSpc>
            </a:pPr>
            <a:r>
              <a:rPr lang="en-US" sz="1437" spc="-71">
                <a:solidFill>
                  <a:srgbClr val="566660"/>
                </a:solidFill>
                <a:latin typeface="Poppins"/>
                <a:ea typeface="Poppins"/>
                <a:cs typeface="Poppins"/>
                <a:sym typeface="Poppins"/>
              </a:rPr>
              <a:t>Alfredo Torez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565</TotalTime>
  <Words>933</Words>
  <Application>Microsoft Office PowerPoint</Application>
  <PresentationFormat>Custom</PresentationFormat>
  <Paragraphs>96</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Poppins Bold</vt:lpstr>
      <vt:lpstr>Calibri</vt:lpstr>
      <vt:lpstr>League Spartan</vt:lpstr>
      <vt:lpstr>Arial</vt:lpstr>
      <vt:lpstr>Poppins</vt:lpstr>
      <vt:lpstr>Museo Moderno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Grey Minimalist Aesthetic Project Proposal Presentation</dc:title>
  <cp:lastModifiedBy>Giresh Boddu</cp:lastModifiedBy>
  <cp:revision>3</cp:revision>
  <dcterms:created xsi:type="dcterms:W3CDTF">2006-08-16T00:00:00Z</dcterms:created>
  <dcterms:modified xsi:type="dcterms:W3CDTF">2025-11-26T13:17:34Z</dcterms:modified>
  <dc:identifier>DAG5sZ59feg</dc:identifier>
</cp:coreProperties>
</file>