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Futura Bold" panose="020B0604020202020204" charset="0"/>
      <p:regular r:id="rId20"/>
    </p:embeddedFont>
    <p:embeddedFont>
      <p:font typeface="Montserrat" panose="00000500000000000000" pitchFamily="2" charset="0"/>
      <p:regular r:id="rId21"/>
    </p:embeddedFont>
    <p:embeddedFont>
      <p:font typeface="Montserrat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9" d="100"/>
          <a:sy n="59" d="100"/>
        </p:scale>
        <p:origin x="34"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hyperlink" Target="https://vlsitutorialscom.wordpress.com/jtag-test-access-port-and-tap-controller/" TargetMode="Externa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100946" y="2145116"/>
            <a:ext cx="18086107" cy="5596718"/>
          </a:xfrm>
          <a:prstGeom prst="rect">
            <a:avLst/>
          </a:prstGeom>
        </p:spPr>
        <p:txBody>
          <a:bodyPr lIns="0" tIns="0" rIns="0" bIns="0" rtlCol="0" anchor="t">
            <a:spAutoFit/>
          </a:bodyPr>
          <a:lstStyle/>
          <a:p>
            <a:pPr algn="ctr">
              <a:lnSpc>
                <a:spcPts val="38204"/>
              </a:lnSpc>
            </a:pPr>
            <a:r>
              <a:rPr lang="en-US" sz="34111" b="1" spc="4843">
                <a:solidFill>
                  <a:srgbClr val="041226">
                    <a:alpha val="4706"/>
                  </a:srgbClr>
                </a:solidFill>
                <a:latin typeface="Futura Bold"/>
                <a:ea typeface="Futura Bold"/>
                <a:cs typeface="Futura Bold"/>
                <a:sym typeface="Futura Bold"/>
              </a:rPr>
              <a:t>DFT</a:t>
            </a:r>
          </a:p>
        </p:txBody>
      </p:sp>
      <p:sp>
        <p:nvSpPr>
          <p:cNvPr id="4" name="TextBox 4"/>
          <p:cNvSpPr txBox="1"/>
          <p:nvPr/>
        </p:nvSpPr>
        <p:spPr>
          <a:xfrm>
            <a:off x="2756585" y="4131211"/>
            <a:ext cx="13082826" cy="1681679"/>
          </a:xfrm>
          <a:prstGeom prst="rect">
            <a:avLst/>
          </a:prstGeom>
        </p:spPr>
        <p:txBody>
          <a:bodyPr lIns="0" tIns="0" rIns="0" bIns="0" rtlCol="0" anchor="t">
            <a:spAutoFit/>
          </a:bodyPr>
          <a:lstStyle/>
          <a:p>
            <a:pPr algn="ctr">
              <a:lnSpc>
                <a:spcPts val="12309"/>
              </a:lnSpc>
            </a:pPr>
            <a:r>
              <a:rPr lang="en-US" sz="8792" b="1">
                <a:solidFill>
                  <a:srgbClr val="7C7AAC"/>
                </a:solidFill>
                <a:latin typeface="Futura Bold"/>
                <a:ea typeface="Futura Bold"/>
                <a:cs typeface="Futura Bold"/>
                <a:sym typeface="Futura Bold"/>
              </a:rPr>
              <a:t>DESIGN FOR TESTABALITY</a:t>
            </a:r>
          </a:p>
        </p:txBody>
      </p:sp>
      <p:sp>
        <p:nvSpPr>
          <p:cNvPr id="5" name="TextBox 5"/>
          <p:cNvSpPr txBox="1"/>
          <p:nvPr/>
        </p:nvSpPr>
        <p:spPr>
          <a:xfrm>
            <a:off x="5542849" y="6241143"/>
            <a:ext cx="8624984" cy="1061772"/>
          </a:xfrm>
          <a:prstGeom prst="rect">
            <a:avLst/>
          </a:prstGeom>
        </p:spPr>
        <p:txBody>
          <a:bodyPr lIns="0" tIns="0" rIns="0" bIns="0" rtlCol="0" anchor="t">
            <a:spAutoFit/>
          </a:bodyPr>
          <a:lstStyle/>
          <a:p>
            <a:pPr algn="ctr">
              <a:lnSpc>
                <a:spcPts val="4266"/>
              </a:lnSpc>
            </a:pPr>
            <a:r>
              <a:rPr lang="en-US" sz="3047">
                <a:solidFill>
                  <a:srgbClr val="4D4B66"/>
                </a:solidFill>
                <a:latin typeface="Montserrat"/>
                <a:ea typeface="Montserrat"/>
                <a:cs typeface="Montserrat"/>
                <a:sym typeface="Montserrat"/>
              </a:rPr>
              <a:t>BODDU GIRESH</a:t>
            </a:r>
          </a:p>
          <a:p>
            <a:pPr algn="ctr">
              <a:lnSpc>
                <a:spcPts val="4266"/>
              </a:lnSpc>
            </a:pPr>
            <a:r>
              <a:rPr lang="en-US" sz="3047">
                <a:solidFill>
                  <a:srgbClr val="4D4B66"/>
                </a:solidFill>
                <a:latin typeface="Montserrat"/>
                <a:ea typeface="Montserrat"/>
                <a:cs typeface="Montserrat"/>
                <a:sym typeface="Montserrat"/>
              </a:rPr>
              <a:t>CHIPWEAVE TECHNOLOGIES PVT LTD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28700" y="1028700"/>
            <a:ext cx="759822" cy="750151"/>
          </a:xfrm>
          <a:custGeom>
            <a:avLst/>
            <a:gdLst/>
            <a:ahLst/>
            <a:cxnLst/>
            <a:rect l="l" t="t" r="r" b="b"/>
            <a:pathLst>
              <a:path w="759822" h="750151">
                <a:moveTo>
                  <a:pt x="759822" y="750151"/>
                </a:moveTo>
                <a:lnTo>
                  <a:pt x="0" y="750151"/>
                </a:lnTo>
                <a:lnTo>
                  <a:pt x="0" y="0"/>
                </a:lnTo>
                <a:lnTo>
                  <a:pt x="759822" y="0"/>
                </a:lnTo>
                <a:lnTo>
                  <a:pt x="759822" y="75015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408611" y="1098976"/>
            <a:ext cx="10966375" cy="1496650"/>
          </a:xfrm>
          <a:prstGeom prst="rect">
            <a:avLst/>
          </a:prstGeom>
        </p:spPr>
        <p:txBody>
          <a:bodyPr lIns="0" tIns="0" rIns="0" bIns="0" rtlCol="0" anchor="t">
            <a:spAutoFit/>
          </a:bodyPr>
          <a:lstStyle/>
          <a:p>
            <a:pPr algn="l">
              <a:lnSpc>
                <a:spcPts val="10957"/>
              </a:lnSpc>
              <a:spcBef>
                <a:spcPct val="0"/>
              </a:spcBef>
            </a:pPr>
            <a:r>
              <a:rPr lang="en-US" sz="7826" b="1">
                <a:solidFill>
                  <a:srgbClr val="7C7AAC"/>
                </a:solidFill>
                <a:latin typeface="Futura Bold"/>
                <a:ea typeface="Futura Bold"/>
                <a:cs typeface="Futura Bold"/>
                <a:sym typeface="Futura Bold"/>
              </a:rPr>
              <a:t>What is DFT?</a:t>
            </a:r>
          </a:p>
        </p:txBody>
      </p:sp>
      <p:sp>
        <p:nvSpPr>
          <p:cNvPr id="5" name="TextBox 5"/>
          <p:cNvSpPr txBox="1"/>
          <p:nvPr/>
        </p:nvSpPr>
        <p:spPr>
          <a:xfrm>
            <a:off x="1553220" y="2897623"/>
            <a:ext cx="12092267" cy="2122171"/>
          </a:xfrm>
          <a:prstGeom prst="rect">
            <a:avLst/>
          </a:prstGeom>
        </p:spPr>
        <p:txBody>
          <a:bodyPr lIns="0" tIns="0" rIns="0" bIns="0" rtlCol="0" anchor="t">
            <a:spAutoFit/>
          </a:bodyPr>
          <a:lstStyle/>
          <a:p>
            <a:pPr marL="496566" lvl="1" indent="-248283" algn="just">
              <a:lnSpc>
                <a:spcPts val="3219"/>
              </a:lnSpc>
              <a:buFont typeface="Arial"/>
              <a:buChar char="•"/>
            </a:pPr>
            <a:r>
              <a:rPr lang="en-US" sz="2299">
                <a:solidFill>
                  <a:srgbClr val="4D4B66"/>
                </a:solidFill>
                <a:latin typeface="Montserrat"/>
                <a:ea typeface="Montserrat"/>
                <a:cs typeface="Montserrat"/>
                <a:sym typeface="Montserrat"/>
              </a:rPr>
              <a:t>DFT = Design For Testability</a:t>
            </a:r>
          </a:p>
          <a:p>
            <a:pPr marL="496566" lvl="1" indent="-248283" algn="just">
              <a:lnSpc>
                <a:spcPts val="3219"/>
              </a:lnSpc>
              <a:buFont typeface="Arial"/>
              <a:buChar char="•"/>
            </a:pPr>
            <a:r>
              <a:rPr lang="en-US" sz="2299">
                <a:solidFill>
                  <a:srgbClr val="4D4B66"/>
                </a:solidFill>
                <a:latin typeface="Montserrat"/>
                <a:ea typeface="Montserrat"/>
                <a:cs typeface="Montserrat"/>
                <a:sym typeface="Montserrat"/>
              </a:rPr>
              <a:t>Set of techniques used to make ICs easier to test after fabrication</a:t>
            </a:r>
          </a:p>
          <a:p>
            <a:pPr marL="496566" lvl="1" indent="-248283" algn="just">
              <a:lnSpc>
                <a:spcPts val="3219"/>
              </a:lnSpc>
              <a:buFont typeface="Arial"/>
              <a:buChar char="•"/>
            </a:pPr>
            <a:r>
              <a:rPr lang="en-US" sz="2299">
                <a:solidFill>
                  <a:srgbClr val="4D4B66"/>
                </a:solidFill>
                <a:latin typeface="Montserrat"/>
                <a:ea typeface="Montserrat"/>
                <a:cs typeface="Montserrat"/>
                <a:sym typeface="Montserrat"/>
              </a:rPr>
              <a:t>Improves controllability and observability of internal nodes</a:t>
            </a:r>
          </a:p>
          <a:p>
            <a:pPr marL="496566" lvl="1" indent="-248283" algn="just">
              <a:lnSpc>
                <a:spcPts val="3219"/>
              </a:lnSpc>
              <a:buFont typeface="Arial"/>
              <a:buChar char="•"/>
            </a:pPr>
            <a:r>
              <a:rPr lang="en-US" sz="2299">
                <a:solidFill>
                  <a:srgbClr val="4D4B66"/>
                </a:solidFill>
                <a:latin typeface="Montserrat"/>
                <a:ea typeface="Montserrat"/>
                <a:cs typeface="Montserrat"/>
                <a:sym typeface="Montserrat"/>
              </a:rPr>
              <a:t>Ensures detection of manufacturing defects</a:t>
            </a:r>
          </a:p>
          <a:p>
            <a:pPr algn="just">
              <a:lnSpc>
                <a:spcPts val="4339"/>
              </a:lnSpc>
              <a:spcBef>
                <a:spcPct val="0"/>
              </a:spcBef>
            </a:pPr>
            <a:endParaRPr lang="en-US" sz="2299">
              <a:solidFill>
                <a:srgbClr val="4D4B66"/>
              </a:solidFill>
              <a:latin typeface="Montserrat"/>
              <a:ea typeface="Montserrat"/>
              <a:cs typeface="Montserrat"/>
              <a:sym typeface="Montserrat"/>
            </a:endParaRPr>
          </a:p>
        </p:txBody>
      </p:sp>
      <p:sp>
        <p:nvSpPr>
          <p:cNvPr id="6" name="TextBox 6"/>
          <p:cNvSpPr txBox="1"/>
          <p:nvPr/>
        </p:nvSpPr>
        <p:spPr>
          <a:xfrm>
            <a:off x="1553220" y="6369377"/>
            <a:ext cx="9648836" cy="2218690"/>
          </a:xfrm>
          <a:prstGeom prst="rect">
            <a:avLst/>
          </a:prstGeom>
        </p:spPr>
        <p:txBody>
          <a:bodyPr lIns="0" tIns="0" rIns="0" bIns="0" rtlCol="0" anchor="t">
            <a:spAutoFit/>
          </a:bodyPr>
          <a:lstStyle/>
          <a:p>
            <a:pPr marL="474976" lvl="1" indent="-237488" algn="just">
              <a:lnSpc>
                <a:spcPts val="3079"/>
              </a:lnSpc>
              <a:buFont typeface="Arial"/>
              <a:buChar char="•"/>
            </a:pPr>
            <a:r>
              <a:rPr lang="en-US" sz="2199">
                <a:solidFill>
                  <a:srgbClr val="4D4B66"/>
                </a:solidFill>
                <a:latin typeface="Montserrat"/>
                <a:ea typeface="Montserrat"/>
                <a:cs typeface="Montserrat"/>
                <a:sym typeface="Montserrat"/>
              </a:rPr>
              <a:t>Chips may contain defects (stuck-at, open, short, delay faults)</a:t>
            </a:r>
          </a:p>
          <a:p>
            <a:pPr marL="474976" lvl="1" indent="-237488" algn="just">
              <a:lnSpc>
                <a:spcPts val="3079"/>
              </a:lnSpc>
              <a:buFont typeface="Arial"/>
              <a:buChar char="•"/>
            </a:pPr>
            <a:r>
              <a:rPr lang="en-US" sz="2199">
                <a:solidFill>
                  <a:srgbClr val="4D4B66"/>
                </a:solidFill>
                <a:latin typeface="Montserrat"/>
                <a:ea typeface="Montserrat"/>
                <a:cs typeface="Montserrat"/>
                <a:sym typeface="Montserrat"/>
              </a:rPr>
              <a:t>Millions of internal nodes cannot be tested directly</a:t>
            </a:r>
          </a:p>
          <a:p>
            <a:pPr marL="474976" lvl="1" indent="-237488" algn="just">
              <a:lnSpc>
                <a:spcPts val="3079"/>
              </a:lnSpc>
              <a:buFont typeface="Arial"/>
              <a:buChar char="•"/>
            </a:pPr>
            <a:r>
              <a:rPr lang="en-US" sz="2199">
                <a:solidFill>
                  <a:srgbClr val="4D4B66"/>
                </a:solidFill>
                <a:latin typeface="Montserrat"/>
                <a:ea typeface="Montserrat"/>
                <a:cs typeface="Montserrat"/>
                <a:sym typeface="Montserrat"/>
              </a:rPr>
              <a:t>Testing cost is very high without DFT</a:t>
            </a:r>
          </a:p>
          <a:p>
            <a:pPr marL="474976" lvl="1" indent="-237488" algn="just">
              <a:lnSpc>
                <a:spcPts val="3079"/>
              </a:lnSpc>
              <a:buFont typeface="Arial"/>
              <a:buChar char="•"/>
            </a:pPr>
            <a:r>
              <a:rPr lang="en-US" sz="2199">
                <a:solidFill>
                  <a:srgbClr val="4D4B66"/>
                </a:solidFill>
                <a:latin typeface="Montserrat"/>
                <a:ea typeface="Montserrat"/>
                <a:cs typeface="Montserrat"/>
                <a:sym typeface="Montserrat"/>
              </a:rPr>
              <a:t>DFT improves test coverage (typically 98–99%+)</a:t>
            </a:r>
          </a:p>
          <a:p>
            <a:pPr marL="474976" lvl="1" indent="-237488" algn="just">
              <a:lnSpc>
                <a:spcPts val="3079"/>
              </a:lnSpc>
              <a:buFont typeface="Arial"/>
              <a:buChar char="•"/>
            </a:pPr>
            <a:r>
              <a:rPr lang="en-US" sz="2199">
                <a:solidFill>
                  <a:srgbClr val="4D4B66"/>
                </a:solidFill>
                <a:latin typeface="Montserrat"/>
                <a:ea typeface="Montserrat"/>
                <a:cs typeface="Montserrat"/>
                <a:sym typeface="Montserrat"/>
              </a:rPr>
              <a:t>Ensures high-quality, reliable silicon</a:t>
            </a:r>
          </a:p>
          <a:p>
            <a:pPr algn="just">
              <a:lnSpc>
                <a:spcPts val="2239"/>
              </a:lnSpc>
              <a:spcBef>
                <a:spcPct val="0"/>
              </a:spcBef>
            </a:pPr>
            <a:endParaRPr lang="en-US" sz="2199">
              <a:solidFill>
                <a:srgbClr val="4D4B66"/>
              </a:solidFill>
              <a:latin typeface="Montserrat"/>
              <a:ea typeface="Montserrat"/>
              <a:cs typeface="Montserrat"/>
              <a:sym typeface="Montserrat"/>
            </a:endParaRPr>
          </a:p>
        </p:txBody>
      </p:sp>
      <p:sp>
        <p:nvSpPr>
          <p:cNvPr id="7" name="Freeform 7"/>
          <p:cNvSpPr/>
          <p:nvPr/>
        </p:nvSpPr>
        <p:spPr>
          <a:xfrm>
            <a:off x="16887790" y="8891519"/>
            <a:ext cx="371510" cy="366781"/>
          </a:xfrm>
          <a:custGeom>
            <a:avLst/>
            <a:gdLst/>
            <a:ahLst/>
            <a:cxnLst/>
            <a:rect l="l" t="t" r="r" b="b"/>
            <a:pathLst>
              <a:path w="371510" h="366781">
                <a:moveTo>
                  <a:pt x="0" y="0"/>
                </a:moveTo>
                <a:lnTo>
                  <a:pt x="371510" y="0"/>
                </a:lnTo>
                <a:lnTo>
                  <a:pt x="371510" y="366781"/>
                </a:lnTo>
                <a:lnTo>
                  <a:pt x="0" y="3667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285413" y="4574913"/>
            <a:ext cx="10966375" cy="1496650"/>
          </a:xfrm>
          <a:prstGeom prst="rect">
            <a:avLst/>
          </a:prstGeom>
        </p:spPr>
        <p:txBody>
          <a:bodyPr lIns="0" tIns="0" rIns="0" bIns="0" rtlCol="0" anchor="t">
            <a:spAutoFit/>
          </a:bodyPr>
          <a:lstStyle/>
          <a:p>
            <a:pPr algn="l">
              <a:lnSpc>
                <a:spcPts val="10957"/>
              </a:lnSpc>
              <a:spcBef>
                <a:spcPct val="0"/>
              </a:spcBef>
            </a:pPr>
            <a:r>
              <a:rPr lang="en-US" sz="7826" b="1">
                <a:solidFill>
                  <a:srgbClr val="7C7AAC"/>
                </a:solidFill>
                <a:latin typeface="Futura Bold"/>
                <a:ea typeface="Futura Bold"/>
                <a:cs typeface="Futura Bold"/>
                <a:sym typeface="Futura Bold"/>
              </a:rPr>
              <a:t>Why DFT is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1214455" y="200025"/>
            <a:ext cx="6803614" cy="9636328"/>
          </a:xfrm>
          <a:prstGeom prst="rect">
            <a:avLst/>
          </a:prstGeom>
        </p:spPr>
        <p:txBody>
          <a:bodyPr lIns="0" tIns="0" rIns="0" bIns="0" rtlCol="0" anchor="t">
            <a:spAutoFit/>
          </a:bodyPr>
          <a:lstStyle/>
          <a:p>
            <a:pPr algn="l">
              <a:lnSpc>
                <a:spcPts val="14426"/>
              </a:lnSpc>
            </a:pPr>
            <a:r>
              <a:rPr lang="en-US" sz="16581" b="1" spc="2653">
                <a:solidFill>
                  <a:srgbClr val="041226">
                    <a:alpha val="4706"/>
                  </a:srgbClr>
                </a:solidFill>
                <a:latin typeface="Futura Bold"/>
                <a:ea typeface="Futura Bold"/>
                <a:cs typeface="Futura Bold"/>
                <a:sym typeface="Futura Bold"/>
              </a:rPr>
              <a:t>design for testabality</a:t>
            </a:r>
          </a:p>
        </p:txBody>
      </p:sp>
      <p:sp>
        <p:nvSpPr>
          <p:cNvPr id="4" name="Freeform 4"/>
          <p:cNvSpPr/>
          <p:nvPr/>
        </p:nvSpPr>
        <p:spPr>
          <a:xfrm flipH="1">
            <a:off x="1028700" y="8891519"/>
            <a:ext cx="371510" cy="366781"/>
          </a:xfrm>
          <a:custGeom>
            <a:avLst/>
            <a:gdLst/>
            <a:ahLst/>
            <a:cxnLst/>
            <a:rect l="l" t="t" r="r" b="b"/>
            <a:pathLst>
              <a:path w="371510" h="366781">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400210" y="1137771"/>
            <a:ext cx="9137798" cy="1234535"/>
          </a:xfrm>
          <a:prstGeom prst="rect">
            <a:avLst/>
          </a:prstGeom>
        </p:spPr>
        <p:txBody>
          <a:bodyPr lIns="0" tIns="0" rIns="0" bIns="0" rtlCol="0" anchor="t">
            <a:spAutoFit/>
          </a:bodyPr>
          <a:lstStyle/>
          <a:p>
            <a:pPr algn="l">
              <a:lnSpc>
                <a:spcPts val="8296"/>
              </a:lnSpc>
            </a:pPr>
            <a:r>
              <a:rPr lang="en-US" sz="7826" b="1" spc="62">
                <a:solidFill>
                  <a:srgbClr val="7C7AAC"/>
                </a:solidFill>
                <a:latin typeface="Futura Bold"/>
                <a:ea typeface="Futura Bold"/>
                <a:cs typeface="Futura Bold"/>
                <a:sym typeface="Futura Bold"/>
              </a:rPr>
              <a:t>DFT Goals</a:t>
            </a:r>
          </a:p>
        </p:txBody>
      </p:sp>
      <p:sp>
        <p:nvSpPr>
          <p:cNvPr id="6" name="TextBox 6"/>
          <p:cNvSpPr txBox="1"/>
          <p:nvPr/>
        </p:nvSpPr>
        <p:spPr>
          <a:xfrm>
            <a:off x="1400210" y="3083395"/>
            <a:ext cx="7743790" cy="2832735"/>
          </a:xfrm>
          <a:prstGeom prst="rect">
            <a:avLst/>
          </a:prstGeom>
        </p:spPr>
        <p:txBody>
          <a:bodyPr lIns="0" tIns="0" rIns="0" bIns="0" rtlCol="0" anchor="t">
            <a:spAutoFit/>
          </a:bodyPr>
          <a:lstStyle/>
          <a:p>
            <a:pPr marL="561334" lvl="1" indent="-280667" algn="just">
              <a:lnSpc>
                <a:spcPts val="3639"/>
              </a:lnSpc>
              <a:buFont typeface="Arial"/>
              <a:buChar char="•"/>
            </a:pPr>
            <a:r>
              <a:rPr lang="en-US" sz="2599">
                <a:solidFill>
                  <a:srgbClr val="4D4D4D"/>
                </a:solidFill>
                <a:latin typeface="Montserrat"/>
                <a:ea typeface="Montserrat"/>
                <a:cs typeface="Montserrat"/>
                <a:sym typeface="Montserrat"/>
              </a:rPr>
              <a:t>Increase fault coverage</a:t>
            </a:r>
          </a:p>
          <a:p>
            <a:pPr marL="561334" lvl="1" indent="-280667" algn="just">
              <a:lnSpc>
                <a:spcPts val="3639"/>
              </a:lnSpc>
              <a:buFont typeface="Arial"/>
              <a:buChar char="•"/>
            </a:pPr>
            <a:r>
              <a:rPr lang="en-US" sz="2599">
                <a:solidFill>
                  <a:srgbClr val="4D4D4D"/>
                </a:solidFill>
                <a:latin typeface="Montserrat"/>
                <a:ea typeface="Montserrat"/>
                <a:cs typeface="Montserrat"/>
                <a:sym typeface="Montserrat"/>
              </a:rPr>
              <a:t>Reduce test time</a:t>
            </a:r>
          </a:p>
          <a:p>
            <a:pPr marL="561334" lvl="1" indent="-280667" algn="just">
              <a:lnSpc>
                <a:spcPts val="3639"/>
              </a:lnSpc>
              <a:buFont typeface="Arial"/>
              <a:buChar char="•"/>
            </a:pPr>
            <a:r>
              <a:rPr lang="en-US" sz="2599">
                <a:solidFill>
                  <a:srgbClr val="4D4D4D"/>
                </a:solidFill>
                <a:latin typeface="Montserrat"/>
                <a:ea typeface="Montserrat"/>
                <a:cs typeface="Montserrat"/>
                <a:sym typeface="Montserrat"/>
              </a:rPr>
              <a:t>Reduce test cost</a:t>
            </a:r>
          </a:p>
          <a:p>
            <a:pPr marL="561334" lvl="1" indent="-280667" algn="just">
              <a:lnSpc>
                <a:spcPts val="3639"/>
              </a:lnSpc>
              <a:buFont typeface="Arial"/>
              <a:buChar char="•"/>
            </a:pPr>
            <a:r>
              <a:rPr lang="en-US" sz="2599">
                <a:solidFill>
                  <a:srgbClr val="4D4D4D"/>
                </a:solidFill>
                <a:latin typeface="Montserrat"/>
                <a:ea typeface="Montserrat"/>
                <a:cs typeface="Montserrat"/>
                <a:sym typeface="Montserrat"/>
              </a:rPr>
              <a:t>Ensure easy diagnosis of failures</a:t>
            </a:r>
          </a:p>
          <a:p>
            <a:pPr marL="561334" lvl="1" indent="-280667" algn="just">
              <a:lnSpc>
                <a:spcPts val="3639"/>
              </a:lnSpc>
              <a:buFont typeface="Arial"/>
              <a:buChar char="•"/>
            </a:pPr>
            <a:r>
              <a:rPr lang="en-US" sz="2599">
                <a:solidFill>
                  <a:srgbClr val="4D4D4D"/>
                </a:solidFill>
                <a:latin typeface="Montserrat"/>
                <a:ea typeface="Montserrat"/>
                <a:cs typeface="Montserrat"/>
                <a:sym typeface="Montserrat"/>
              </a:rPr>
              <a:t>Support automation (ATPG)</a:t>
            </a:r>
          </a:p>
          <a:p>
            <a:pPr algn="just">
              <a:lnSpc>
                <a:spcPts val="2239"/>
              </a:lnSpc>
            </a:pPr>
            <a:endParaRPr lang="en-US" sz="2599">
              <a:solidFill>
                <a:srgbClr val="4D4D4D"/>
              </a:solidFill>
              <a:latin typeface="Montserrat"/>
              <a:ea typeface="Montserrat"/>
              <a:cs typeface="Montserrat"/>
              <a:sym typeface="Montserrat"/>
            </a:endParaRPr>
          </a:p>
          <a:p>
            <a:pPr algn="just">
              <a:lnSpc>
                <a:spcPts val="2239"/>
              </a:lnSpc>
              <a:spcBef>
                <a:spcPct val="0"/>
              </a:spcBef>
            </a:pPr>
            <a:endParaRPr lang="en-US" sz="2599">
              <a:solidFill>
                <a:srgbClr val="4D4D4D"/>
              </a:solidFill>
              <a:latin typeface="Montserrat"/>
              <a:ea typeface="Montserrat"/>
              <a:cs typeface="Montserrat"/>
              <a:sym typeface="Montserrat"/>
            </a:endParaRPr>
          </a:p>
        </p:txBody>
      </p:sp>
      <p:sp>
        <p:nvSpPr>
          <p:cNvPr id="7" name="Freeform 7"/>
          <p:cNvSpPr/>
          <p:nvPr/>
        </p:nvSpPr>
        <p:spPr>
          <a:xfrm flipV="1">
            <a:off x="16499478" y="1028700"/>
            <a:ext cx="759822" cy="750151"/>
          </a:xfrm>
          <a:custGeom>
            <a:avLst/>
            <a:gdLst/>
            <a:ahLst/>
            <a:cxnLst/>
            <a:rect l="l" t="t" r="r" b="b"/>
            <a:pathLst>
              <a:path w="759822" h="750151">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0" y="5704307"/>
            <a:ext cx="18288000" cy="4412410"/>
          </a:xfrm>
          <a:prstGeom prst="rect">
            <a:avLst/>
          </a:prstGeom>
        </p:spPr>
        <p:txBody>
          <a:bodyPr lIns="0" tIns="0" rIns="0" bIns="0" rtlCol="0" anchor="t">
            <a:spAutoFit/>
          </a:bodyPr>
          <a:lstStyle/>
          <a:p>
            <a:pPr algn="r">
              <a:lnSpc>
                <a:spcPts val="27458"/>
              </a:lnSpc>
            </a:pPr>
            <a:r>
              <a:rPr lang="en-US" sz="31561" b="1" spc="5049">
                <a:solidFill>
                  <a:srgbClr val="041226">
                    <a:alpha val="4706"/>
                  </a:srgbClr>
                </a:solidFill>
                <a:latin typeface="Futura Bold"/>
                <a:ea typeface="Futura Bold"/>
                <a:cs typeface="Futura Bold"/>
                <a:sym typeface="Futura Bold"/>
              </a:rPr>
              <a:t>DFT</a:t>
            </a:r>
          </a:p>
        </p:txBody>
      </p:sp>
      <p:sp>
        <p:nvSpPr>
          <p:cNvPr id="4" name="TextBox 4"/>
          <p:cNvSpPr txBox="1"/>
          <p:nvPr/>
        </p:nvSpPr>
        <p:spPr>
          <a:xfrm>
            <a:off x="1375713" y="1034034"/>
            <a:ext cx="9056215" cy="1496650"/>
          </a:xfrm>
          <a:prstGeom prst="rect">
            <a:avLst/>
          </a:prstGeom>
        </p:spPr>
        <p:txBody>
          <a:bodyPr lIns="0" tIns="0" rIns="0" bIns="0" rtlCol="0" anchor="t">
            <a:spAutoFit/>
          </a:bodyPr>
          <a:lstStyle/>
          <a:p>
            <a:pPr algn="ctr">
              <a:lnSpc>
                <a:spcPts val="10957"/>
              </a:lnSpc>
              <a:spcBef>
                <a:spcPct val="0"/>
              </a:spcBef>
            </a:pPr>
            <a:r>
              <a:rPr lang="en-US" sz="7826" b="1">
                <a:solidFill>
                  <a:srgbClr val="7C7AAC"/>
                </a:solidFill>
                <a:latin typeface="Futura Bold"/>
                <a:ea typeface="Futura Bold"/>
                <a:cs typeface="Futura Bold"/>
                <a:sym typeface="Futura Bold"/>
              </a:rPr>
              <a:t>Key DFT Techniques</a:t>
            </a:r>
          </a:p>
        </p:txBody>
      </p:sp>
      <p:sp>
        <p:nvSpPr>
          <p:cNvPr id="5" name="TextBox 5"/>
          <p:cNvSpPr txBox="1"/>
          <p:nvPr/>
        </p:nvSpPr>
        <p:spPr>
          <a:xfrm>
            <a:off x="1172431" y="2911125"/>
            <a:ext cx="13658364" cy="3373756"/>
          </a:xfrm>
          <a:prstGeom prst="rect">
            <a:avLst/>
          </a:prstGeom>
        </p:spPr>
        <p:txBody>
          <a:bodyPr lIns="0" tIns="0" rIns="0" bIns="0" rtlCol="0" anchor="t">
            <a:spAutoFit/>
          </a:bodyPr>
          <a:lstStyle/>
          <a:p>
            <a:pPr marL="755639" lvl="1" indent="-377820" algn="just">
              <a:lnSpc>
                <a:spcPts val="4899"/>
              </a:lnSpc>
              <a:buFont typeface="Arial"/>
              <a:buChar char="•"/>
            </a:pPr>
            <a:r>
              <a:rPr lang="en-US" sz="3499" b="1">
                <a:solidFill>
                  <a:srgbClr val="000000"/>
                </a:solidFill>
                <a:latin typeface="Montserrat Bold"/>
                <a:ea typeface="Montserrat Bold"/>
                <a:cs typeface="Montserrat Bold"/>
                <a:sym typeface="Montserrat Bold"/>
              </a:rPr>
              <a:t>Scan Design / Scan Chains</a:t>
            </a:r>
          </a:p>
          <a:p>
            <a:pPr marL="755639" lvl="1" indent="-377820" algn="just">
              <a:lnSpc>
                <a:spcPts val="4899"/>
              </a:lnSpc>
              <a:buFont typeface="Arial"/>
              <a:buChar char="•"/>
            </a:pPr>
            <a:r>
              <a:rPr lang="en-US" sz="3499" b="1">
                <a:solidFill>
                  <a:srgbClr val="000000"/>
                </a:solidFill>
                <a:latin typeface="Montserrat Bold"/>
                <a:ea typeface="Montserrat Bold"/>
                <a:cs typeface="Montserrat Bold"/>
                <a:sym typeface="Montserrat Bold"/>
              </a:rPr>
              <a:t>ATPG (Automatic Test Pattern Generation)</a:t>
            </a:r>
          </a:p>
          <a:p>
            <a:pPr marL="755639" lvl="1" indent="-377820" algn="just">
              <a:lnSpc>
                <a:spcPts val="4899"/>
              </a:lnSpc>
              <a:buFont typeface="Arial"/>
              <a:buChar char="•"/>
            </a:pPr>
            <a:r>
              <a:rPr lang="en-US" sz="3499" b="1">
                <a:solidFill>
                  <a:srgbClr val="000000"/>
                </a:solidFill>
                <a:latin typeface="Montserrat Bold"/>
                <a:ea typeface="Montserrat Bold"/>
                <a:cs typeface="Montserrat Bold"/>
                <a:sym typeface="Montserrat Bold"/>
              </a:rPr>
              <a:t>LBIST (Logic Built-In Self Test)</a:t>
            </a:r>
          </a:p>
          <a:p>
            <a:pPr marL="755639" lvl="1" indent="-377820" algn="just">
              <a:lnSpc>
                <a:spcPts val="4899"/>
              </a:lnSpc>
              <a:buFont typeface="Arial"/>
              <a:buChar char="•"/>
            </a:pPr>
            <a:r>
              <a:rPr lang="en-US" sz="3499" b="1">
                <a:solidFill>
                  <a:srgbClr val="000000"/>
                </a:solidFill>
                <a:latin typeface="Montserrat Bold"/>
                <a:ea typeface="Montserrat Bold"/>
                <a:cs typeface="Montserrat Bold"/>
                <a:sym typeface="Montserrat Bold"/>
              </a:rPr>
              <a:t>JTAG / Boundary Scan (IEEE 1149.1)</a:t>
            </a:r>
          </a:p>
          <a:p>
            <a:pPr marL="755639" lvl="1" indent="-377820" algn="just">
              <a:lnSpc>
                <a:spcPts val="4899"/>
              </a:lnSpc>
              <a:buFont typeface="Arial"/>
              <a:buChar char="•"/>
            </a:pPr>
            <a:r>
              <a:rPr lang="en-US" sz="3499" b="1">
                <a:solidFill>
                  <a:srgbClr val="000000"/>
                </a:solidFill>
                <a:latin typeface="Montserrat Bold"/>
                <a:ea typeface="Montserrat Bold"/>
                <a:cs typeface="Montserrat Bold"/>
                <a:sym typeface="Montserrat Bold"/>
              </a:rPr>
              <a:t>Test Compression Techniques</a:t>
            </a:r>
          </a:p>
          <a:p>
            <a:pPr algn="just">
              <a:lnSpc>
                <a:spcPts val="2239"/>
              </a:lnSpc>
              <a:spcBef>
                <a:spcPct val="0"/>
              </a:spcBef>
            </a:pPr>
            <a:endParaRPr lang="en-US" sz="3499" b="1">
              <a:solidFill>
                <a:srgbClr val="000000"/>
              </a:solidFill>
              <a:latin typeface="Montserrat Bold"/>
              <a:ea typeface="Montserrat Bold"/>
              <a:cs typeface="Montserrat Bold"/>
              <a:sym typeface="Montserrat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295416" y="328930"/>
            <a:ext cx="16583974" cy="2688171"/>
          </a:xfrm>
          <a:prstGeom prst="rect">
            <a:avLst/>
          </a:prstGeom>
        </p:spPr>
        <p:txBody>
          <a:bodyPr lIns="0" tIns="0" rIns="0" bIns="0" rtlCol="0" anchor="t">
            <a:spAutoFit/>
          </a:bodyPr>
          <a:lstStyle/>
          <a:p>
            <a:pPr algn="l">
              <a:lnSpc>
                <a:spcPts val="9780"/>
              </a:lnSpc>
            </a:pPr>
            <a:r>
              <a:rPr lang="en-US" sz="9226" b="1" spc="73">
                <a:solidFill>
                  <a:srgbClr val="7C7AAC"/>
                </a:solidFill>
                <a:latin typeface="Futura Bold"/>
                <a:ea typeface="Futura Bold"/>
                <a:cs typeface="Futura Bold"/>
                <a:sym typeface="Futura Bold"/>
              </a:rPr>
              <a:t> Scan chain and ATPG</a:t>
            </a:r>
          </a:p>
          <a:p>
            <a:pPr algn="l">
              <a:lnSpc>
                <a:spcPts val="9780"/>
              </a:lnSpc>
            </a:pPr>
            <a:endParaRPr lang="en-US" sz="9226" b="1" spc="73">
              <a:solidFill>
                <a:srgbClr val="7C7AAC"/>
              </a:solidFill>
              <a:latin typeface="Futura Bold"/>
              <a:ea typeface="Futura Bold"/>
              <a:cs typeface="Futura Bold"/>
              <a:sym typeface="Futura Bold"/>
            </a:endParaRPr>
          </a:p>
        </p:txBody>
      </p:sp>
      <p:sp>
        <p:nvSpPr>
          <p:cNvPr id="4" name="TextBox 4"/>
          <p:cNvSpPr txBox="1"/>
          <p:nvPr/>
        </p:nvSpPr>
        <p:spPr>
          <a:xfrm rot="-5400000">
            <a:off x="11326231" y="4125331"/>
            <a:ext cx="10287000" cy="2036337"/>
          </a:xfrm>
          <a:prstGeom prst="rect">
            <a:avLst/>
          </a:prstGeom>
        </p:spPr>
        <p:txBody>
          <a:bodyPr lIns="0" tIns="0" rIns="0" bIns="0" rtlCol="0" anchor="t">
            <a:spAutoFit/>
          </a:bodyPr>
          <a:lstStyle/>
          <a:p>
            <a:pPr algn="ctr">
              <a:lnSpc>
                <a:spcPts val="12612"/>
              </a:lnSpc>
            </a:pPr>
            <a:r>
              <a:rPr lang="en-US" sz="14497" b="1" spc="2319">
                <a:solidFill>
                  <a:srgbClr val="041226">
                    <a:alpha val="4706"/>
                  </a:srgbClr>
                </a:solidFill>
                <a:latin typeface="Futura Bold"/>
                <a:ea typeface="Futura Bold"/>
                <a:cs typeface="Futura Bold"/>
                <a:sym typeface="Futura Bold"/>
              </a:rPr>
              <a:t>DFT</a:t>
            </a:r>
          </a:p>
        </p:txBody>
      </p:sp>
      <p:sp>
        <p:nvSpPr>
          <p:cNvPr id="5" name="Freeform 5"/>
          <p:cNvSpPr/>
          <p:nvPr/>
        </p:nvSpPr>
        <p:spPr>
          <a:xfrm flipV="1">
            <a:off x="16499478" y="1028700"/>
            <a:ext cx="759822" cy="750151"/>
          </a:xfrm>
          <a:custGeom>
            <a:avLst/>
            <a:gdLst/>
            <a:ahLst/>
            <a:cxnLst/>
            <a:rect l="l" t="t" r="r" b="b"/>
            <a:pathLst>
              <a:path w="759822" h="750151">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1028700" y="8891519"/>
            <a:ext cx="371510" cy="366781"/>
          </a:xfrm>
          <a:custGeom>
            <a:avLst/>
            <a:gdLst/>
            <a:ahLst/>
            <a:cxnLst/>
            <a:rect l="l" t="t" r="r" b="b"/>
            <a:pathLst>
              <a:path w="371510" h="366781">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2689532" y="3946963"/>
            <a:ext cx="11301259" cy="5127946"/>
          </a:xfrm>
          <a:custGeom>
            <a:avLst/>
            <a:gdLst/>
            <a:ahLst/>
            <a:cxnLst/>
            <a:rect l="l" t="t" r="r" b="b"/>
            <a:pathLst>
              <a:path w="11301259" h="5127946">
                <a:moveTo>
                  <a:pt x="0" y="0"/>
                </a:moveTo>
                <a:lnTo>
                  <a:pt x="11301259" y="0"/>
                </a:lnTo>
                <a:lnTo>
                  <a:pt x="11301259" y="5127946"/>
                </a:lnTo>
                <a:lnTo>
                  <a:pt x="0" y="5127946"/>
                </a:lnTo>
                <a:lnTo>
                  <a:pt x="0" y="0"/>
                </a:lnTo>
                <a:close/>
              </a:path>
            </a:pathLst>
          </a:custGeom>
          <a:blipFill>
            <a:blip r:embed="rId5"/>
            <a:stretch>
              <a:fillRect/>
            </a:stretch>
          </a:blipFill>
        </p:spPr>
      </p:sp>
      <p:sp>
        <p:nvSpPr>
          <p:cNvPr id="8" name="TextBox 8"/>
          <p:cNvSpPr txBox="1"/>
          <p:nvPr/>
        </p:nvSpPr>
        <p:spPr>
          <a:xfrm>
            <a:off x="1400210" y="2073472"/>
            <a:ext cx="14193472" cy="2014855"/>
          </a:xfrm>
          <a:prstGeom prst="rect">
            <a:avLst/>
          </a:prstGeom>
        </p:spPr>
        <p:txBody>
          <a:bodyPr lIns="0" tIns="0" rIns="0" bIns="0" rtlCol="0" anchor="t">
            <a:spAutoFit/>
          </a:bodyPr>
          <a:lstStyle/>
          <a:p>
            <a:pPr marL="539745" lvl="1" indent="-269872" algn="just">
              <a:lnSpc>
                <a:spcPts val="3499"/>
              </a:lnSpc>
              <a:buFont typeface="Arial"/>
              <a:buChar char="•"/>
            </a:pPr>
            <a:r>
              <a:rPr lang="en-US" sz="2499">
                <a:solidFill>
                  <a:srgbClr val="4D4D4D"/>
                </a:solidFill>
                <a:latin typeface="Montserrat"/>
                <a:ea typeface="Montserrat"/>
                <a:cs typeface="Montserrat"/>
                <a:sym typeface="Montserrat"/>
              </a:rPr>
              <a:t>Scan is the internal modification of the design’s circuitry to increase its test-ability. ATPG stands for Automatic Test Pattern Generation; as the name suggests, this is basically the generation of test patterns. In other words, we can say that Scan makes the process of pattern generation easier for detection of the faults </a:t>
            </a:r>
          </a:p>
          <a:p>
            <a:pPr algn="just">
              <a:lnSpc>
                <a:spcPts val="2239"/>
              </a:lnSpc>
              <a:spcBef>
                <a:spcPct val="0"/>
              </a:spcBef>
            </a:pPr>
            <a:r>
              <a:rPr lang="en-US" sz="1599">
                <a:solidFill>
                  <a:srgbClr val="4D4D4D"/>
                </a:solidFill>
                <a:latin typeface="Montserrat"/>
                <a:ea typeface="Montserrat"/>
                <a:cs typeface="Montserrat"/>
                <a:sym typeface="Montserrat"/>
              </a:rPr>
              <a:t>.</a:t>
            </a:r>
          </a:p>
        </p:txBody>
      </p:sp>
      <p:sp>
        <p:nvSpPr>
          <p:cNvPr id="9" name="TextBox 9"/>
          <p:cNvSpPr txBox="1"/>
          <p:nvPr/>
        </p:nvSpPr>
        <p:spPr>
          <a:xfrm rot="-5400000">
            <a:off x="-650433" y="7909011"/>
            <a:ext cx="2500458" cy="198120"/>
          </a:xfrm>
          <a:prstGeom prst="rect">
            <a:avLst/>
          </a:prstGeom>
        </p:spPr>
        <p:txBody>
          <a:bodyPr lIns="0" tIns="0" rIns="0" bIns="0" rtlCol="0" anchor="t">
            <a:spAutoFit/>
          </a:bodyPr>
          <a:lstStyle/>
          <a:p>
            <a:pPr algn="l">
              <a:lnSpc>
                <a:spcPts val="1679"/>
              </a:lnSpc>
            </a:pPr>
            <a:r>
              <a:rPr lang="en-US" sz="1200" b="1">
                <a:solidFill>
                  <a:srgbClr val="7C7AAC"/>
                </a:solidFill>
                <a:latin typeface="Montserrat Bold"/>
                <a:ea typeface="Montserrat Bold"/>
                <a:cs typeface="Montserrat Bold"/>
                <a:sym typeface="Montserrat Bold"/>
              </a:rPr>
              <a:t>PITCH DECK PRESENTATION</a:t>
            </a:r>
          </a:p>
        </p:txBody>
      </p:sp>
      <p:sp>
        <p:nvSpPr>
          <p:cNvPr id="10" name="TextBox 10"/>
          <p:cNvSpPr txBox="1"/>
          <p:nvPr/>
        </p:nvSpPr>
        <p:spPr>
          <a:xfrm>
            <a:off x="1906055" y="8853419"/>
            <a:ext cx="14193472" cy="396241"/>
          </a:xfrm>
          <a:prstGeom prst="rect">
            <a:avLst/>
          </a:prstGeom>
        </p:spPr>
        <p:txBody>
          <a:bodyPr lIns="0" tIns="0" rIns="0" bIns="0" rtlCol="0" anchor="t">
            <a:spAutoFit/>
          </a:bodyPr>
          <a:lstStyle/>
          <a:p>
            <a:pPr algn="just">
              <a:lnSpc>
                <a:spcPts val="3359"/>
              </a:lnSpc>
              <a:spcBef>
                <a:spcPct val="0"/>
              </a:spcBef>
            </a:pPr>
            <a:r>
              <a:rPr lang="en-US" sz="2399">
                <a:solidFill>
                  <a:srgbClr val="4D4D4D"/>
                </a:solidFill>
                <a:latin typeface="Montserrat"/>
                <a:ea typeface="Montserrat"/>
                <a:cs typeface="Montserrat"/>
                <a:sym typeface="Montserrat"/>
              </a:rPr>
              <a:t>A typical sequential circuit (before scan insertion).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1979878" y="7075882"/>
            <a:ext cx="16308122" cy="3211118"/>
          </a:xfrm>
          <a:prstGeom prst="rect">
            <a:avLst/>
          </a:prstGeom>
        </p:spPr>
        <p:txBody>
          <a:bodyPr lIns="0" tIns="0" rIns="0" bIns="0" rtlCol="0" anchor="t">
            <a:spAutoFit/>
          </a:bodyPr>
          <a:lstStyle/>
          <a:p>
            <a:pPr algn="r">
              <a:lnSpc>
                <a:spcPts val="19995"/>
              </a:lnSpc>
            </a:pPr>
            <a:r>
              <a:rPr lang="en-US" sz="22983" b="1" spc="3677">
                <a:solidFill>
                  <a:srgbClr val="041226">
                    <a:alpha val="4706"/>
                  </a:srgbClr>
                </a:solidFill>
                <a:latin typeface="Futura Bold"/>
                <a:ea typeface="Futura Bold"/>
                <a:cs typeface="Futura Bold"/>
                <a:sym typeface="Futura Bold"/>
              </a:rPr>
              <a:t>dft</a:t>
            </a:r>
          </a:p>
        </p:txBody>
      </p:sp>
      <p:sp>
        <p:nvSpPr>
          <p:cNvPr id="4" name="Freeform 4"/>
          <p:cNvSpPr/>
          <p:nvPr/>
        </p:nvSpPr>
        <p:spPr>
          <a:xfrm flipH="1" flipV="1">
            <a:off x="1094413" y="1028700"/>
            <a:ext cx="759822" cy="750151"/>
          </a:xfrm>
          <a:custGeom>
            <a:avLst/>
            <a:gdLst/>
            <a:ahLst/>
            <a:cxnLst/>
            <a:rect l="l" t="t" r="r" b="b"/>
            <a:pathLst>
              <a:path w="759822" h="750151">
                <a:moveTo>
                  <a:pt x="759821" y="750151"/>
                </a:moveTo>
                <a:lnTo>
                  <a:pt x="0" y="750151"/>
                </a:lnTo>
                <a:lnTo>
                  <a:pt x="0" y="0"/>
                </a:lnTo>
                <a:lnTo>
                  <a:pt x="759821" y="0"/>
                </a:lnTo>
                <a:lnTo>
                  <a:pt x="759821" y="75015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887790" y="8891519"/>
            <a:ext cx="371510" cy="366781"/>
          </a:xfrm>
          <a:custGeom>
            <a:avLst/>
            <a:gdLst/>
            <a:ahLst/>
            <a:cxnLst/>
            <a:rect l="l" t="t" r="r" b="b"/>
            <a:pathLst>
              <a:path w="371510" h="366781">
                <a:moveTo>
                  <a:pt x="0" y="0"/>
                </a:moveTo>
                <a:lnTo>
                  <a:pt x="371510" y="0"/>
                </a:lnTo>
                <a:lnTo>
                  <a:pt x="371510" y="366781"/>
                </a:lnTo>
                <a:lnTo>
                  <a:pt x="0" y="3667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1028700" y="4838589"/>
            <a:ext cx="11077682" cy="5106948"/>
          </a:xfrm>
          <a:custGeom>
            <a:avLst/>
            <a:gdLst/>
            <a:ahLst/>
            <a:cxnLst/>
            <a:rect l="l" t="t" r="r" b="b"/>
            <a:pathLst>
              <a:path w="11077682" h="5106948">
                <a:moveTo>
                  <a:pt x="0" y="0"/>
                </a:moveTo>
                <a:lnTo>
                  <a:pt x="11077682" y="0"/>
                </a:lnTo>
                <a:lnTo>
                  <a:pt x="11077682" y="5106948"/>
                </a:lnTo>
                <a:lnTo>
                  <a:pt x="0" y="5106948"/>
                </a:lnTo>
                <a:lnTo>
                  <a:pt x="0" y="0"/>
                </a:lnTo>
                <a:close/>
              </a:path>
            </a:pathLst>
          </a:custGeom>
          <a:blipFill>
            <a:blip r:embed="rId5"/>
            <a:stretch>
              <a:fillRect/>
            </a:stretch>
          </a:blipFill>
        </p:spPr>
      </p:sp>
      <p:sp>
        <p:nvSpPr>
          <p:cNvPr id="7" name="TextBox 7"/>
          <p:cNvSpPr txBox="1"/>
          <p:nvPr/>
        </p:nvSpPr>
        <p:spPr>
          <a:xfrm>
            <a:off x="1028700" y="4608214"/>
            <a:ext cx="9754151" cy="730443"/>
          </a:xfrm>
          <a:prstGeom prst="rect">
            <a:avLst/>
          </a:prstGeom>
        </p:spPr>
        <p:txBody>
          <a:bodyPr lIns="0" tIns="0" rIns="0" bIns="0" rtlCol="0" anchor="t">
            <a:spAutoFit/>
          </a:bodyPr>
          <a:lstStyle/>
          <a:p>
            <a:pPr algn="l">
              <a:lnSpc>
                <a:spcPts val="4932"/>
              </a:lnSpc>
            </a:pPr>
            <a:r>
              <a:rPr lang="en-US" sz="4653" b="1" spc="37">
                <a:solidFill>
                  <a:srgbClr val="7C7AAC"/>
                </a:solidFill>
                <a:latin typeface="Futura Bold"/>
                <a:ea typeface="Futura Bold"/>
                <a:cs typeface="Futura Bold"/>
                <a:sym typeface="Futura Bold"/>
              </a:rPr>
              <a:t>Converting Regular Flop to Scan Flop</a:t>
            </a:r>
          </a:p>
        </p:txBody>
      </p:sp>
      <p:sp>
        <p:nvSpPr>
          <p:cNvPr id="8" name="TextBox 8"/>
          <p:cNvSpPr txBox="1"/>
          <p:nvPr/>
        </p:nvSpPr>
        <p:spPr>
          <a:xfrm>
            <a:off x="1675257" y="1365676"/>
            <a:ext cx="11722720" cy="2893061"/>
          </a:xfrm>
          <a:prstGeom prst="rect">
            <a:avLst/>
          </a:prstGeom>
        </p:spPr>
        <p:txBody>
          <a:bodyPr lIns="0" tIns="0" rIns="0" bIns="0" rtlCol="0" anchor="t">
            <a:spAutoFit/>
          </a:bodyPr>
          <a:lstStyle/>
          <a:p>
            <a:pPr marL="518155" lvl="1" indent="-259078" algn="just">
              <a:lnSpc>
                <a:spcPts val="3359"/>
              </a:lnSpc>
              <a:buFont typeface="Arial"/>
              <a:buChar char="•"/>
            </a:pPr>
            <a:r>
              <a:rPr lang="en-US" sz="2399">
                <a:solidFill>
                  <a:srgbClr val="4D4D4D"/>
                </a:solidFill>
                <a:latin typeface="Montserrat"/>
                <a:ea typeface="Montserrat"/>
                <a:cs typeface="Montserrat"/>
                <a:sym typeface="Montserrat"/>
              </a:rPr>
              <a:t>All FFs replaced with Scan Flip-Flops</a:t>
            </a:r>
          </a:p>
          <a:p>
            <a:pPr marL="518155" lvl="1" indent="-259078" algn="just">
              <a:lnSpc>
                <a:spcPts val="3359"/>
              </a:lnSpc>
              <a:buFont typeface="Arial"/>
              <a:buChar char="•"/>
            </a:pPr>
            <a:r>
              <a:rPr lang="en-US" sz="2399">
                <a:solidFill>
                  <a:srgbClr val="4D4D4D"/>
                </a:solidFill>
                <a:latin typeface="Montserrat"/>
                <a:ea typeface="Montserrat"/>
                <a:cs typeface="Montserrat"/>
                <a:sym typeface="Montserrat"/>
              </a:rPr>
              <a:t>FFs connected to form scan chains</a:t>
            </a:r>
          </a:p>
          <a:p>
            <a:pPr marL="518155" lvl="1" indent="-259078" algn="just">
              <a:lnSpc>
                <a:spcPts val="3359"/>
              </a:lnSpc>
              <a:buFont typeface="Arial"/>
              <a:buChar char="•"/>
            </a:pPr>
            <a:r>
              <a:rPr lang="en-US" sz="2399">
                <a:solidFill>
                  <a:srgbClr val="4D4D4D"/>
                </a:solidFill>
                <a:latin typeface="Montserrat"/>
                <a:ea typeface="Montserrat"/>
                <a:cs typeface="Montserrat"/>
                <a:sym typeface="Montserrat"/>
              </a:rPr>
              <a:t>Operation modes:</a:t>
            </a:r>
          </a:p>
          <a:p>
            <a:pPr marL="1036310" lvl="2" indent="-345437" algn="just">
              <a:lnSpc>
                <a:spcPts val="3359"/>
              </a:lnSpc>
              <a:buFont typeface="Arial"/>
              <a:buChar char="⚬"/>
            </a:pPr>
            <a:r>
              <a:rPr lang="en-US" sz="2399">
                <a:solidFill>
                  <a:srgbClr val="4D4D4D"/>
                </a:solidFill>
                <a:latin typeface="Montserrat"/>
                <a:ea typeface="Montserrat"/>
                <a:cs typeface="Montserrat"/>
                <a:sym typeface="Montserrat"/>
              </a:rPr>
              <a:t>Scan Mode: Shift-in / shift-out test data</a:t>
            </a:r>
          </a:p>
          <a:p>
            <a:pPr marL="1036310" lvl="2" indent="-345437" algn="just">
              <a:lnSpc>
                <a:spcPts val="3359"/>
              </a:lnSpc>
              <a:buFont typeface="Arial"/>
              <a:buChar char="⚬"/>
            </a:pPr>
            <a:r>
              <a:rPr lang="en-US" sz="2399">
                <a:solidFill>
                  <a:srgbClr val="4D4D4D"/>
                </a:solidFill>
                <a:latin typeface="Montserrat"/>
                <a:ea typeface="Montserrat"/>
                <a:cs typeface="Montserrat"/>
                <a:sym typeface="Montserrat"/>
              </a:rPr>
              <a:t>Functional Mode: Normal logic operation</a:t>
            </a:r>
          </a:p>
          <a:p>
            <a:pPr marL="518155" lvl="1" indent="-259078" algn="just">
              <a:lnSpc>
                <a:spcPts val="3359"/>
              </a:lnSpc>
              <a:buFont typeface="Arial"/>
              <a:buChar char="•"/>
            </a:pPr>
            <a:r>
              <a:rPr lang="en-US" sz="2399">
                <a:solidFill>
                  <a:srgbClr val="4D4D4D"/>
                </a:solidFill>
                <a:latin typeface="Montserrat"/>
                <a:ea typeface="Montserrat"/>
                <a:cs typeface="Montserrat"/>
                <a:sym typeface="Montserrat"/>
              </a:rPr>
              <a:t>Enables control/observe of internal registers</a:t>
            </a:r>
          </a:p>
          <a:p>
            <a:pPr algn="just">
              <a:lnSpc>
                <a:spcPts val="3219"/>
              </a:lnSpc>
              <a:spcBef>
                <a:spcPct val="0"/>
              </a:spcBef>
            </a:pPr>
            <a:endParaRPr lang="en-US" sz="2399">
              <a:solidFill>
                <a:srgbClr val="4D4D4D"/>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28700" y="1054047"/>
            <a:ext cx="371510" cy="366781"/>
          </a:xfrm>
          <a:custGeom>
            <a:avLst/>
            <a:gdLst/>
            <a:ahLst/>
            <a:cxnLst/>
            <a:rect l="l" t="t" r="r" b="b"/>
            <a:pathLst>
              <a:path w="371510" h="366781">
                <a:moveTo>
                  <a:pt x="371510" y="366781"/>
                </a:moveTo>
                <a:lnTo>
                  <a:pt x="0" y="366781"/>
                </a:lnTo>
                <a:lnTo>
                  <a:pt x="0" y="0"/>
                </a:lnTo>
                <a:lnTo>
                  <a:pt x="371510" y="0"/>
                </a:lnTo>
                <a:lnTo>
                  <a:pt x="371510" y="36678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6499478" y="8508149"/>
            <a:ext cx="759822" cy="750151"/>
          </a:xfrm>
          <a:custGeom>
            <a:avLst/>
            <a:gdLst/>
            <a:ahLst/>
            <a:cxnLst/>
            <a:rect l="l" t="t" r="r" b="b"/>
            <a:pathLst>
              <a:path w="759822" h="750151">
                <a:moveTo>
                  <a:pt x="0" y="0"/>
                </a:moveTo>
                <a:lnTo>
                  <a:pt x="759822" y="0"/>
                </a:lnTo>
                <a:lnTo>
                  <a:pt x="759822" y="750151"/>
                </a:lnTo>
                <a:lnTo>
                  <a:pt x="0" y="7501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6413944" y="3367519"/>
            <a:ext cx="11301259" cy="5890781"/>
          </a:xfrm>
          <a:custGeom>
            <a:avLst/>
            <a:gdLst/>
            <a:ahLst/>
            <a:cxnLst/>
            <a:rect l="l" t="t" r="r" b="b"/>
            <a:pathLst>
              <a:path w="11301259" h="5890781">
                <a:moveTo>
                  <a:pt x="0" y="0"/>
                </a:moveTo>
                <a:lnTo>
                  <a:pt x="11301259" y="0"/>
                </a:lnTo>
                <a:lnTo>
                  <a:pt x="11301259" y="5890781"/>
                </a:lnTo>
                <a:lnTo>
                  <a:pt x="0" y="5890781"/>
                </a:lnTo>
                <a:lnTo>
                  <a:pt x="0" y="0"/>
                </a:lnTo>
                <a:close/>
              </a:path>
            </a:pathLst>
          </a:custGeom>
          <a:blipFill>
            <a:blip r:embed="rId5"/>
            <a:stretch>
              <a:fillRect/>
            </a:stretch>
          </a:blipFill>
        </p:spPr>
      </p:sp>
      <p:sp>
        <p:nvSpPr>
          <p:cNvPr id="6" name="TextBox 6"/>
          <p:cNvSpPr txBox="1"/>
          <p:nvPr/>
        </p:nvSpPr>
        <p:spPr>
          <a:xfrm>
            <a:off x="1400210" y="1706578"/>
            <a:ext cx="7306471" cy="3340660"/>
          </a:xfrm>
          <a:prstGeom prst="rect">
            <a:avLst/>
          </a:prstGeom>
        </p:spPr>
        <p:txBody>
          <a:bodyPr lIns="0" tIns="0" rIns="0" bIns="0" rtlCol="0" anchor="t">
            <a:spAutoFit/>
          </a:bodyPr>
          <a:lstStyle/>
          <a:p>
            <a:pPr algn="l">
              <a:lnSpc>
                <a:spcPts val="20707"/>
              </a:lnSpc>
            </a:pPr>
            <a:r>
              <a:rPr lang="en-US" sz="23801" b="1" spc="3808">
                <a:solidFill>
                  <a:srgbClr val="041226">
                    <a:alpha val="4706"/>
                  </a:srgbClr>
                </a:solidFill>
                <a:latin typeface="Futura Bold"/>
                <a:ea typeface="Futura Bold"/>
                <a:cs typeface="Futura Bold"/>
                <a:sym typeface="Futura Bold"/>
              </a:rPr>
              <a:t>DFT</a:t>
            </a:r>
          </a:p>
        </p:txBody>
      </p:sp>
      <p:sp>
        <p:nvSpPr>
          <p:cNvPr id="7" name="TextBox 7"/>
          <p:cNvSpPr txBox="1"/>
          <p:nvPr/>
        </p:nvSpPr>
        <p:spPr>
          <a:xfrm>
            <a:off x="1680910" y="1382728"/>
            <a:ext cx="15198479" cy="912351"/>
          </a:xfrm>
          <a:prstGeom prst="rect">
            <a:avLst/>
          </a:prstGeom>
        </p:spPr>
        <p:txBody>
          <a:bodyPr lIns="0" tIns="0" rIns="0" bIns="0" rtlCol="0" anchor="t">
            <a:spAutoFit/>
          </a:bodyPr>
          <a:lstStyle/>
          <a:p>
            <a:pPr algn="l">
              <a:lnSpc>
                <a:spcPts val="6124"/>
              </a:lnSpc>
            </a:pPr>
            <a:r>
              <a:rPr lang="en-US" sz="5777" b="1" spc="46">
                <a:solidFill>
                  <a:srgbClr val="7C7AAC"/>
                </a:solidFill>
                <a:latin typeface="Futura Bold"/>
                <a:ea typeface="Futura Bold"/>
                <a:cs typeface="Futura Bold"/>
                <a:sym typeface="Futura Bold"/>
              </a:rPr>
              <a:t>Stitching the Scan Flops to form Scan Chains</a:t>
            </a:r>
          </a:p>
        </p:txBody>
      </p:sp>
      <p:sp>
        <p:nvSpPr>
          <p:cNvPr id="8" name="TextBox 8"/>
          <p:cNvSpPr txBox="1"/>
          <p:nvPr/>
        </p:nvSpPr>
        <p:spPr>
          <a:xfrm>
            <a:off x="1214455" y="2256979"/>
            <a:ext cx="14193472" cy="2891155"/>
          </a:xfrm>
          <a:prstGeom prst="rect">
            <a:avLst/>
          </a:prstGeom>
        </p:spPr>
        <p:txBody>
          <a:bodyPr lIns="0" tIns="0" rIns="0" bIns="0" rtlCol="0" anchor="t">
            <a:spAutoFit/>
          </a:bodyPr>
          <a:lstStyle/>
          <a:p>
            <a:pPr marL="539745" lvl="1" indent="-269872" algn="just">
              <a:lnSpc>
                <a:spcPts val="3499"/>
              </a:lnSpc>
              <a:buFont typeface="Arial"/>
              <a:buChar char="•"/>
            </a:pPr>
            <a:r>
              <a:rPr lang="en-US" sz="2499">
                <a:solidFill>
                  <a:srgbClr val="4D4D4D"/>
                </a:solidFill>
                <a:latin typeface="Montserrat"/>
                <a:ea typeface="Montserrat"/>
                <a:cs typeface="Montserrat"/>
                <a:sym typeface="Montserrat"/>
              </a:rPr>
              <a:t>The scan flops are stitched to form scan chain. The number of scan chains depends upon various user inputs like –</a:t>
            </a:r>
          </a:p>
          <a:p>
            <a:pPr marL="539745" lvl="1" indent="-269872" algn="just">
              <a:lnSpc>
                <a:spcPts val="3499"/>
              </a:lnSpc>
              <a:buFont typeface="Arial"/>
              <a:buChar char="•"/>
            </a:pPr>
            <a:r>
              <a:rPr lang="en-US" sz="2499">
                <a:solidFill>
                  <a:srgbClr val="4D4D4D"/>
                </a:solidFill>
                <a:latin typeface="Montserrat"/>
                <a:ea typeface="Montserrat"/>
                <a:cs typeface="Montserrat"/>
                <a:sym typeface="Montserrat"/>
              </a:rPr>
              <a:t>   Length of scan chain</a:t>
            </a:r>
          </a:p>
          <a:p>
            <a:pPr marL="539745" lvl="1" indent="-269872" algn="just">
              <a:lnSpc>
                <a:spcPts val="3499"/>
              </a:lnSpc>
              <a:buFont typeface="Arial"/>
              <a:buChar char="•"/>
            </a:pPr>
            <a:r>
              <a:rPr lang="en-US" sz="2499">
                <a:solidFill>
                  <a:srgbClr val="4D4D4D"/>
                </a:solidFill>
                <a:latin typeface="Montserrat"/>
                <a:ea typeface="Montserrat"/>
                <a:cs typeface="Montserrat"/>
                <a:sym typeface="Montserrat"/>
              </a:rPr>
              <a:t>   Clock domain mixing</a:t>
            </a:r>
          </a:p>
          <a:p>
            <a:pPr marL="539745" lvl="1" indent="-269872" algn="just">
              <a:lnSpc>
                <a:spcPts val="3499"/>
              </a:lnSpc>
              <a:buFont typeface="Arial"/>
              <a:buChar char="•"/>
            </a:pPr>
            <a:r>
              <a:rPr lang="en-US" sz="2499">
                <a:solidFill>
                  <a:srgbClr val="4D4D4D"/>
                </a:solidFill>
                <a:latin typeface="Montserrat"/>
                <a:ea typeface="Montserrat"/>
                <a:cs typeface="Montserrat"/>
                <a:sym typeface="Montserrat"/>
              </a:rPr>
              <a:t>   Power domain mixing</a:t>
            </a:r>
          </a:p>
          <a:p>
            <a:pPr marL="539745" lvl="1" indent="-269872" algn="just">
              <a:lnSpc>
                <a:spcPts val="3499"/>
              </a:lnSpc>
              <a:spcBef>
                <a:spcPct val="0"/>
              </a:spcBef>
              <a:buFont typeface="Arial"/>
              <a:buChar char="•"/>
            </a:pPr>
            <a:r>
              <a:rPr lang="en-US" sz="2499">
                <a:solidFill>
                  <a:srgbClr val="4D4D4D"/>
                </a:solidFill>
                <a:latin typeface="Montserrat"/>
                <a:ea typeface="Montserrat"/>
                <a:cs typeface="Montserrat"/>
                <a:sym typeface="Montserrat"/>
              </a:rPr>
              <a:t>   Voltage domain mixing.</a:t>
            </a:r>
          </a:p>
          <a:p>
            <a:pPr algn="just">
              <a:lnSpc>
                <a:spcPts val="2239"/>
              </a:lnSpc>
              <a:spcBef>
                <a:spcPct val="0"/>
              </a:spcBef>
            </a:pPr>
            <a:r>
              <a:rPr lang="en-US" sz="1599">
                <a:solidFill>
                  <a:srgbClr val="4D4D4D"/>
                </a:solidFill>
                <a:latin typeface="Montserrat"/>
                <a:ea typeface="Montserrat"/>
                <a:cs typeface="Montserrat"/>
                <a:sym typeface="Montserrat"/>
              </a:rPr>
              <a:t>.</a:t>
            </a:r>
          </a:p>
        </p:txBody>
      </p:sp>
      <p:sp>
        <p:nvSpPr>
          <p:cNvPr id="9" name="TextBox 9"/>
          <p:cNvSpPr txBox="1"/>
          <p:nvPr/>
        </p:nvSpPr>
        <p:spPr>
          <a:xfrm>
            <a:off x="1919663" y="9489439"/>
            <a:ext cx="12783055" cy="797561"/>
          </a:xfrm>
          <a:prstGeom prst="rect">
            <a:avLst/>
          </a:prstGeom>
        </p:spPr>
        <p:txBody>
          <a:bodyPr lIns="0" tIns="0" rIns="0" bIns="0" rtlCol="0" anchor="t">
            <a:spAutoFit/>
          </a:bodyPr>
          <a:lstStyle/>
          <a:p>
            <a:pPr marL="518155" lvl="1" indent="-259078" algn="just">
              <a:lnSpc>
                <a:spcPts val="3359"/>
              </a:lnSpc>
              <a:buFont typeface="Arial"/>
              <a:buChar char="•"/>
            </a:pPr>
            <a:r>
              <a:rPr lang="en-US" sz="2399">
                <a:solidFill>
                  <a:srgbClr val="4D4D4D"/>
                </a:solidFill>
                <a:latin typeface="Montserrat"/>
                <a:ea typeface="Montserrat"/>
                <a:cs typeface="Montserrat"/>
                <a:sym typeface="Montserrat"/>
              </a:rPr>
              <a:t> A typical sequential circuit compatible for Scan and ATPG (after scan insertion)</a:t>
            </a:r>
          </a:p>
          <a:p>
            <a:pPr algn="just">
              <a:lnSpc>
                <a:spcPts val="3219"/>
              </a:lnSpc>
              <a:spcBef>
                <a:spcPct val="0"/>
              </a:spcBef>
            </a:pPr>
            <a:endParaRPr lang="en-US" sz="2399">
              <a:solidFill>
                <a:srgbClr val="4D4D4D"/>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rot="-5400000">
            <a:off x="12330436" y="3848733"/>
            <a:ext cx="9437764" cy="2477364"/>
          </a:xfrm>
          <a:prstGeom prst="rect">
            <a:avLst/>
          </a:prstGeom>
        </p:spPr>
        <p:txBody>
          <a:bodyPr lIns="0" tIns="0" rIns="0" bIns="0" rtlCol="0" anchor="t">
            <a:spAutoFit/>
          </a:bodyPr>
          <a:lstStyle/>
          <a:p>
            <a:pPr algn="l">
              <a:lnSpc>
                <a:spcPts val="15442"/>
              </a:lnSpc>
            </a:pPr>
            <a:r>
              <a:rPr lang="en-US" sz="17749" b="1" spc="2839">
                <a:solidFill>
                  <a:srgbClr val="041226">
                    <a:alpha val="4706"/>
                  </a:srgbClr>
                </a:solidFill>
                <a:latin typeface="Futura Bold"/>
                <a:ea typeface="Futura Bold"/>
                <a:cs typeface="Futura Bold"/>
                <a:sym typeface="Futura Bold"/>
              </a:rPr>
              <a:t>DFT</a:t>
            </a:r>
          </a:p>
        </p:txBody>
      </p:sp>
      <p:sp>
        <p:nvSpPr>
          <p:cNvPr id="4" name="Freeform 4"/>
          <p:cNvSpPr/>
          <p:nvPr/>
        </p:nvSpPr>
        <p:spPr>
          <a:xfrm flipH="1" flipV="1">
            <a:off x="1028700" y="1028700"/>
            <a:ext cx="759822" cy="750151"/>
          </a:xfrm>
          <a:custGeom>
            <a:avLst/>
            <a:gdLst/>
            <a:ahLst/>
            <a:cxnLst/>
            <a:rect l="l" t="t" r="r" b="b"/>
            <a:pathLst>
              <a:path w="759822" h="750151">
                <a:moveTo>
                  <a:pt x="759822" y="750151"/>
                </a:moveTo>
                <a:lnTo>
                  <a:pt x="0" y="750151"/>
                </a:lnTo>
                <a:lnTo>
                  <a:pt x="0" y="0"/>
                </a:lnTo>
                <a:lnTo>
                  <a:pt x="759822" y="0"/>
                </a:lnTo>
                <a:lnTo>
                  <a:pt x="759822" y="75015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887790" y="8891519"/>
            <a:ext cx="371510" cy="366781"/>
          </a:xfrm>
          <a:custGeom>
            <a:avLst/>
            <a:gdLst/>
            <a:ahLst/>
            <a:cxnLst/>
            <a:rect l="l" t="t" r="r" b="b"/>
            <a:pathLst>
              <a:path w="371510" h="366781">
                <a:moveTo>
                  <a:pt x="0" y="0"/>
                </a:moveTo>
                <a:lnTo>
                  <a:pt x="371510" y="0"/>
                </a:lnTo>
                <a:lnTo>
                  <a:pt x="371510" y="366781"/>
                </a:lnTo>
                <a:lnTo>
                  <a:pt x="0" y="3667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8066302" y="3917974"/>
            <a:ext cx="8666229" cy="5572084"/>
          </a:xfrm>
          <a:custGeom>
            <a:avLst/>
            <a:gdLst/>
            <a:ahLst/>
            <a:cxnLst/>
            <a:rect l="l" t="t" r="r" b="b"/>
            <a:pathLst>
              <a:path w="8666229" h="5572084">
                <a:moveTo>
                  <a:pt x="0" y="0"/>
                </a:moveTo>
                <a:lnTo>
                  <a:pt x="8666229" y="0"/>
                </a:lnTo>
                <a:lnTo>
                  <a:pt x="8666229" y="5572084"/>
                </a:lnTo>
                <a:lnTo>
                  <a:pt x="0" y="5572084"/>
                </a:lnTo>
                <a:lnTo>
                  <a:pt x="0" y="0"/>
                </a:lnTo>
                <a:close/>
              </a:path>
            </a:pathLst>
          </a:custGeom>
          <a:blipFill>
            <a:blip r:embed="rId5"/>
            <a:stretch>
              <a:fillRect/>
            </a:stretch>
          </a:blipFill>
        </p:spPr>
      </p:sp>
      <p:sp>
        <p:nvSpPr>
          <p:cNvPr id="7" name="TextBox 7"/>
          <p:cNvSpPr txBox="1"/>
          <p:nvPr/>
        </p:nvSpPr>
        <p:spPr>
          <a:xfrm>
            <a:off x="2056159" y="1357474"/>
            <a:ext cx="12501134" cy="804655"/>
          </a:xfrm>
          <a:prstGeom prst="rect">
            <a:avLst/>
          </a:prstGeom>
        </p:spPr>
        <p:txBody>
          <a:bodyPr lIns="0" tIns="0" rIns="0" bIns="0" rtlCol="0" anchor="t">
            <a:spAutoFit/>
          </a:bodyPr>
          <a:lstStyle/>
          <a:p>
            <a:pPr algn="l">
              <a:lnSpc>
                <a:spcPts val="5382"/>
              </a:lnSpc>
            </a:pPr>
            <a:r>
              <a:rPr lang="en-US" sz="5077" b="1" spc="40">
                <a:solidFill>
                  <a:srgbClr val="7C7AAC"/>
                </a:solidFill>
                <a:latin typeface="Futura Bold"/>
                <a:ea typeface="Futura Bold"/>
                <a:cs typeface="Futura Bold"/>
                <a:sym typeface="Futura Bold"/>
              </a:rPr>
              <a:t>ATPG (Automatic Test Pattern Generation)</a:t>
            </a:r>
          </a:p>
        </p:txBody>
      </p:sp>
      <p:sp>
        <p:nvSpPr>
          <p:cNvPr id="8" name="TextBox 8"/>
          <p:cNvSpPr txBox="1"/>
          <p:nvPr/>
        </p:nvSpPr>
        <p:spPr>
          <a:xfrm>
            <a:off x="2056159" y="2337990"/>
            <a:ext cx="10567191" cy="1884046"/>
          </a:xfrm>
          <a:prstGeom prst="rect">
            <a:avLst/>
          </a:prstGeom>
        </p:spPr>
        <p:txBody>
          <a:bodyPr lIns="0" tIns="0" rIns="0" bIns="0" rtlCol="0" anchor="t">
            <a:spAutoFit/>
          </a:bodyPr>
          <a:lstStyle/>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Tool generates test vectors automatically</a:t>
            </a:r>
          </a:p>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Targets stuck-at, transition, path delay faults</a:t>
            </a:r>
          </a:p>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Provides fault coverage report</a:t>
            </a:r>
          </a:p>
          <a:p>
            <a:pPr marL="582924" lvl="1" indent="-291462" algn="just">
              <a:lnSpc>
                <a:spcPts val="3779"/>
              </a:lnSpc>
              <a:spcBef>
                <a:spcPct val="0"/>
              </a:spcBef>
              <a:buFont typeface="Arial"/>
              <a:buChar char="•"/>
            </a:pPr>
            <a:r>
              <a:rPr lang="en-US" sz="2699">
                <a:solidFill>
                  <a:srgbClr val="4D4D4D"/>
                </a:solidFill>
                <a:latin typeface="Montserrat"/>
                <a:ea typeface="Montserrat"/>
                <a:cs typeface="Montserrat"/>
                <a:sym typeface="Montserrat"/>
              </a:rPr>
              <a:t>Patterns used by tester (ATE)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4976536" y="7478605"/>
            <a:ext cx="12651303" cy="2552815"/>
          </a:xfrm>
          <a:prstGeom prst="rect">
            <a:avLst/>
          </a:prstGeom>
        </p:spPr>
        <p:txBody>
          <a:bodyPr lIns="0" tIns="0" rIns="0" bIns="0" rtlCol="0" anchor="t">
            <a:spAutoFit/>
          </a:bodyPr>
          <a:lstStyle/>
          <a:p>
            <a:pPr algn="ctr">
              <a:lnSpc>
                <a:spcPts val="15930"/>
              </a:lnSpc>
            </a:pPr>
            <a:r>
              <a:rPr lang="en-US" sz="18310" b="1" spc="2929">
                <a:solidFill>
                  <a:srgbClr val="041226">
                    <a:alpha val="4706"/>
                  </a:srgbClr>
                </a:solidFill>
                <a:latin typeface="Futura Bold"/>
                <a:ea typeface="Futura Bold"/>
                <a:cs typeface="Futura Bold"/>
                <a:sym typeface="Futura Bold"/>
              </a:rPr>
              <a:t>DFT</a:t>
            </a:r>
          </a:p>
        </p:txBody>
      </p:sp>
      <p:sp>
        <p:nvSpPr>
          <p:cNvPr id="4" name="Freeform 4"/>
          <p:cNvSpPr/>
          <p:nvPr/>
        </p:nvSpPr>
        <p:spPr>
          <a:xfrm flipV="1">
            <a:off x="16499478" y="1028700"/>
            <a:ext cx="759822" cy="750151"/>
          </a:xfrm>
          <a:custGeom>
            <a:avLst/>
            <a:gdLst/>
            <a:ahLst/>
            <a:cxnLst/>
            <a:rect l="l" t="t" r="r" b="b"/>
            <a:pathLst>
              <a:path w="759822" h="750151">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1028700" y="8891519"/>
            <a:ext cx="371510" cy="366781"/>
          </a:xfrm>
          <a:custGeom>
            <a:avLst/>
            <a:gdLst/>
            <a:ahLst/>
            <a:cxnLst/>
            <a:rect l="l" t="t" r="r" b="b"/>
            <a:pathLst>
              <a:path w="371510" h="366781">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672910" y="981075"/>
            <a:ext cx="12697103" cy="1097759"/>
          </a:xfrm>
          <a:prstGeom prst="rect">
            <a:avLst/>
          </a:prstGeom>
        </p:spPr>
        <p:txBody>
          <a:bodyPr lIns="0" tIns="0" rIns="0" bIns="0" rtlCol="0" anchor="t">
            <a:spAutoFit/>
          </a:bodyPr>
          <a:lstStyle/>
          <a:p>
            <a:pPr algn="l">
              <a:lnSpc>
                <a:spcPts val="7681"/>
              </a:lnSpc>
            </a:pPr>
            <a:r>
              <a:rPr lang="en-US" sz="7246" b="1" spc="57">
                <a:solidFill>
                  <a:srgbClr val="7C7AAC"/>
                </a:solidFill>
                <a:latin typeface="Futura Bold"/>
                <a:ea typeface="Futura Bold"/>
                <a:cs typeface="Futura Bold"/>
                <a:sym typeface="Futura Bold"/>
              </a:rPr>
              <a:t>Logic Built In Self Test (LBIST)</a:t>
            </a:r>
          </a:p>
          <a:p>
            <a:pPr algn="l">
              <a:lnSpc>
                <a:spcPts val="79"/>
              </a:lnSpc>
            </a:pPr>
            <a:endParaRPr lang="en-US" sz="7246" b="1" spc="57">
              <a:solidFill>
                <a:srgbClr val="7C7AAC"/>
              </a:solidFill>
              <a:latin typeface="Futura Bold"/>
              <a:ea typeface="Futura Bold"/>
              <a:cs typeface="Futura Bold"/>
              <a:sym typeface="Futura Bold"/>
            </a:endParaRPr>
          </a:p>
        </p:txBody>
      </p:sp>
      <p:sp>
        <p:nvSpPr>
          <p:cNvPr id="7" name="TextBox 7"/>
          <p:cNvSpPr txBox="1"/>
          <p:nvPr/>
        </p:nvSpPr>
        <p:spPr>
          <a:xfrm>
            <a:off x="1214455" y="2368441"/>
            <a:ext cx="15586390" cy="1884046"/>
          </a:xfrm>
          <a:prstGeom prst="rect">
            <a:avLst/>
          </a:prstGeom>
        </p:spPr>
        <p:txBody>
          <a:bodyPr lIns="0" tIns="0" rIns="0" bIns="0" rtlCol="0" anchor="t">
            <a:spAutoFit/>
          </a:bodyPr>
          <a:lstStyle/>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LBIST is a form of built in self-test (BIST) in which the logic inside a chip can be tested on-chip itself without any expensive Automatic Test Equipment (ATE). A BIST engine is built inside the chip and requires only an access mechanism like the </a:t>
            </a:r>
            <a:r>
              <a:rPr lang="en-US" sz="2699">
                <a:solidFill>
                  <a:srgbClr val="4D4D4D"/>
                </a:solidFill>
                <a:latin typeface="Montserrat"/>
                <a:ea typeface="Montserrat"/>
                <a:cs typeface="Montserrat"/>
                <a:sym typeface="Montserrat"/>
                <a:hlinkClick r:id="rId5" tooltip="https://vlsitutorialscom.wordpress.com/jtag-test-access-port-and-tap-controller/"/>
              </a:rPr>
              <a:t>Test Access Port</a:t>
            </a:r>
            <a:r>
              <a:rPr lang="en-US" sz="2699">
                <a:solidFill>
                  <a:srgbClr val="4D4D4D"/>
                </a:solidFill>
                <a:latin typeface="Montserrat"/>
                <a:ea typeface="Montserrat"/>
                <a:cs typeface="Montserrat"/>
                <a:sym typeface="Montserrat"/>
              </a:rPr>
              <a:t> (TAP) to start.</a:t>
            </a:r>
          </a:p>
        </p:txBody>
      </p:sp>
      <p:sp>
        <p:nvSpPr>
          <p:cNvPr id="8" name="TextBox 8"/>
          <p:cNvSpPr txBox="1"/>
          <p:nvPr/>
        </p:nvSpPr>
        <p:spPr>
          <a:xfrm>
            <a:off x="872810" y="4699218"/>
            <a:ext cx="13863638" cy="444282"/>
          </a:xfrm>
          <a:prstGeom prst="rect">
            <a:avLst/>
          </a:prstGeom>
        </p:spPr>
        <p:txBody>
          <a:bodyPr lIns="0" tIns="0" rIns="0" bIns="0" rtlCol="0" anchor="t">
            <a:spAutoFit/>
          </a:bodyPr>
          <a:lstStyle/>
          <a:p>
            <a:pPr algn="ctr">
              <a:lnSpc>
                <a:spcPts val="3607"/>
              </a:lnSpc>
              <a:spcBef>
                <a:spcPct val="0"/>
              </a:spcBef>
            </a:pPr>
            <a:r>
              <a:rPr lang="en-US" sz="2796" b="1" spc="-55">
                <a:solidFill>
                  <a:srgbClr val="000000"/>
                </a:solidFill>
                <a:latin typeface="Montserrat Bold"/>
                <a:ea typeface="Montserrat Bold"/>
                <a:cs typeface="Montserrat Bold"/>
                <a:sym typeface="Montserrat Bold"/>
              </a:rPr>
              <a:t>The general architecture of an on-chip BIST consists of 3 major components </a:t>
            </a:r>
            <a:r>
              <a:rPr lang="en-US" sz="2796" spc="-55">
                <a:solidFill>
                  <a:srgbClr val="000000"/>
                </a:solidFill>
                <a:latin typeface="Montserrat"/>
                <a:ea typeface="Montserrat"/>
                <a:cs typeface="Montserrat"/>
                <a:sym typeface="Montserrat"/>
              </a:rPr>
              <a:t>–</a:t>
            </a:r>
          </a:p>
        </p:txBody>
      </p:sp>
      <p:sp>
        <p:nvSpPr>
          <p:cNvPr id="9" name="TextBox 9"/>
          <p:cNvSpPr txBox="1"/>
          <p:nvPr/>
        </p:nvSpPr>
        <p:spPr>
          <a:xfrm>
            <a:off x="1552879" y="5734050"/>
            <a:ext cx="15586390" cy="1407796"/>
          </a:xfrm>
          <a:prstGeom prst="rect">
            <a:avLst/>
          </a:prstGeom>
        </p:spPr>
        <p:txBody>
          <a:bodyPr lIns="0" tIns="0" rIns="0" bIns="0" rtlCol="0" anchor="t">
            <a:spAutoFit/>
          </a:bodyPr>
          <a:lstStyle/>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 1.  BIST controller</a:t>
            </a:r>
          </a:p>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  2.  TPG (Test Pattern Generator)</a:t>
            </a:r>
          </a:p>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  3.  RA (Response Analyzer)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698856" y="5839037"/>
            <a:ext cx="8445144" cy="3117568"/>
          </a:xfrm>
          <a:prstGeom prst="rect">
            <a:avLst/>
          </a:prstGeom>
        </p:spPr>
        <p:txBody>
          <a:bodyPr lIns="0" tIns="0" rIns="0" bIns="0" rtlCol="0" anchor="t">
            <a:spAutoFit/>
          </a:bodyPr>
          <a:lstStyle/>
          <a:p>
            <a:pPr algn="l">
              <a:lnSpc>
                <a:spcPts val="3220"/>
              </a:lnSpc>
            </a:pPr>
            <a:r>
              <a:rPr lang="en-US" sz="2496" b="1" spc="-49">
                <a:solidFill>
                  <a:srgbClr val="000000"/>
                </a:solidFill>
                <a:latin typeface="Montserrat Bold"/>
                <a:ea typeface="Montserrat Bold"/>
                <a:cs typeface="Montserrat Bold"/>
                <a:sym typeface="Montserrat Bold"/>
              </a:rPr>
              <a:t>RA (Response Analyzer) </a:t>
            </a:r>
          </a:p>
          <a:p>
            <a:pPr marL="539071" lvl="1" indent="-269535" algn="l">
              <a:lnSpc>
                <a:spcPts val="3220"/>
              </a:lnSpc>
              <a:buFont typeface="Arial"/>
              <a:buChar char="•"/>
            </a:pPr>
            <a:r>
              <a:rPr lang="en-US" sz="2496" spc="-49">
                <a:solidFill>
                  <a:srgbClr val="000000"/>
                </a:solidFill>
                <a:latin typeface="Montserrat"/>
                <a:ea typeface="Montserrat"/>
                <a:cs typeface="Montserrat"/>
                <a:sym typeface="Montserrat"/>
              </a:rPr>
              <a:t>Compresses and evaluates the circuit’s output responses, often using a MISR (Multiple Input Signature Register).</a:t>
            </a:r>
          </a:p>
          <a:p>
            <a:pPr marL="539071" lvl="1" indent="-269535" algn="l">
              <a:lnSpc>
                <a:spcPts val="3220"/>
              </a:lnSpc>
              <a:buFont typeface="Arial"/>
              <a:buChar char="•"/>
            </a:pPr>
            <a:r>
              <a:rPr lang="en-US" sz="2496" spc="-49">
                <a:solidFill>
                  <a:srgbClr val="000000"/>
                </a:solidFill>
                <a:latin typeface="Montserrat"/>
                <a:ea typeface="Montserrat"/>
                <a:cs typeface="Montserrat"/>
                <a:sym typeface="Montserrat"/>
              </a:rPr>
              <a:t>Compares the obtained signature with a golden reference to determine pass/fail status automatically.</a:t>
            </a:r>
          </a:p>
          <a:p>
            <a:pPr algn="l">
              <a:lnSpc>
                <a:spcPts val="2575"/>
              </a:lnSpc>
            </a:pPr>
            <a:endParaRPr lang="en-US" sz="2496" spc="-49">
              <a:solidFill>
                <a:srgbClr val="000000"/>
              </a:solidFill>
              <a:latin typeface="Montserrat"/>
              <a:ea typeface="Montserrat"/>
              <a:cs typeface="Montserrat"/>
              <a:sym typeface="Montserrat"/>
            </a:endParaRPr>
          </a:p>
        </p:txBody>
      </p:sp>
      <p:sp>
        <p:nvSpPr>
          <p:cNvPr id="4" name="TextBox 4"/>
          <p:cNvSpPr txBox="1"/>
          <p:nvPr/>
        </p:nvSpPr>
        <p:spPr>
          <a:xfrm>
            <a:off x="0" y="6679922"/>
            <a:ext cx="17636917" cy="3607078"/>
          </a:xfrm>
          <a:prstGeom prst="rect">
            <a:avLst/>
          </a:prstGeom>
        </p:spPr>
        <p:txBody>
          <a:bodyPr lIns="0" tIns="0" rIns="0" bIns="0" rtlCol="0" anchor="t">
            <a:spAutoFit/>
          </a:bodyPr>
          <a:lstStyle/>
          <a:p>
            <a:pPr algn="r">
              <a:lnSpc>
                <a:spcPts val="22422"/>
              </a:lnSpc>
            </a:pPr>
            <a:r>
              <a:rPr lang="en-US" sz="25773" b="1" spc="4123">
                <a:solidFill>
                  <a:srgbClr val="041226">
                    <a:alpha val="4706"/>
                  </a:srgbClr>
                </a:solidFill>
                <a:latin typeface="Futura Bold"/>
                <a:ea typeface="Futura Bold"/>
                <a:cs typeface="Futura Bold"/>
                <a:sym typeface="Futura Bold"/>
              </a:rPr>
              <a:t>DFT</a:t>
            </a:r>
          </a:p>
        </p:txBody>
      </p:sp>
      <p:sp>
        <p:nvSpPr>
          <p:cNvPr id="5" name="Freeform 5"/>
          <p:cNvSpPr/>
          <p:nvPr/>
        </p:nvSpPr>
        <p:spPr>
          <a:xfrm flipH="1">
            <a:off x="1028700" y="8489021"/>
            <a:ext cx="759822" cy="750151"/>
          </a:xfrm>
          <a:custGeom>
            <a:avLst/>
            <a:gdLst/>
            <a:ahLst/>
            <a:cxnLst/>
            <a:rect l="l" t="t" r="r" b="b"/>
            <a:pathLst>
              <a:path w="759822" h="750151">
                <a:moveTo>
                  <a:pt x="759822" y="0"/>
                </a:moveTo>
                <a:lnTo>
                  <a:pt x="0" y="0"/>
                </a:lnTo>
                <a:lnTo>
                  <a:pt x="0" y="750152"/>
                </a:lnTo>
                <a:lnTo>
                  <a:pt x="759822" y="750152"/>
                </a:lnTo>
                <a:lnTo>
                  <a:pt x="759822"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V="1">
            <a:off x="16887790" y="1028700"/>
            <a:ext cx="371510" cy="366781"/>
          </a:xfrm>
          <a:custGeom>
            <a:avLst/>
            <a:gdLst/>
            <a:ahLst/>
            <a:cxnLst/>
            <a:rect l="l" t="t" r="r" b="b"/>
            <a:pathLst>
              <a:path w="371510" h="366781">
                <a:moveTo>
                  <a:pt x="0" y="366781"/>
                </a:moveTo>
                <a:lnTo>
                  <a:pt x="371510" y="366781"/>
                </a:lnTo>
                <a:lnTo>
                  <a:pt x="371510" y="0"/>
                </a:lnTo>
                <a:lnTo>
                  <a:pt x="0" y="0"/>
                </a:lnTo>
                <a:lnTo>
                  <a:pt x="0" y="36678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8818458" y="4684333"/>
            <a:ext cx="8946005" cy="5446026"/>
          </a:xfrm>
          <a:custGeom>
            <a:avLst/>
            <a:gdLst/>
            <a:ahLst/>
            <a:cxnLst/>
            <a:rect l="l" t="t" r="r" b="b"/>
            <a:pathLst>
              <a:path w="8946005" h="5446026">
                <a:moveTo>
                  <a:pt x="0" y="0"/>
                </a:moveTo>
                <a:lnTo>
                  <a:pt x="8946006" y="0"/>
                </a:lnTo>
                <a:lnTo>
                  <a:pt x="8946006" y="5446026"/>
                </a:lnTo>
                <a:lnTo>
                  <a:pt x="0" y="5446026"/>
                </a:lnTo>
                <a:lnTo>
                  <a:pt x="0" y="0"/>
                </a:lnTo>
                <a:close/>
              </a:path>
            </a:pathLst>
          </a:custGeom>
          <a:blipFill>
            <a:blip r:embed="rId5"/>
            <a:stretch>
              <a:fillRect/>
            </a:stretch>
          </a:blipFill>
        </p:spPr>
      </p:sp>
      <p:sp>
        <p:nvSpPr>
          <p:cNvPr id="8" name="TextBox 8"/>
          <p:cNvSpPr txBox="1"/>
          <p:nvPr/>
        </p:nvSpPr>
        <p:spPr>
          <a:xfrm>
            <a:off x="910469" y="562694"/>
            <a:ext cx="11403259" cy="2427768"/>
          </a:xfrm>
          <a:prstGeom prst="rect">
            <a:avLst/>
          </a:prstGeom>
        </p:spPr>
        <p:txBody>
          <a:bodyPr lIns="0" tIns="0" rIns="0" bIns="0" rtlCol="0" anchor="t">
            <a:spAutoFit/>
          </a:bodyPr>
          <a:lstStyle/>
          <a:p>
            <a:pPr algn="l">
              <a:lnSpc>
                <a:spcPts val="3478"/>
              </a:lnSpc>
            </a:pPr>
            <a:r>
              <a:rPr lang="en-US" sz="2696" spc="-53">
                <a:solidFill>
                  <a:srgbClr val="000000"/>
                </a:solidFill>
                <a:latin typeface="Montserrat"/>
                <a:ea typeface="Montserrat"/>
                <a:cs typeface="Montserrat"/>
                <a:sym typeface="Montserrat"/>
              </a:rPr>
              <a:t>1. </a:t>
            </a:r>
            <a:r>
              <a:rPr lang="en-US" sz="2696" b="1" spc="-53">
                <a:solidFill>
                  <a:srgbClr val="000000"/>
                </a:solidFill>
                <a:latin typeface="Montserrat Bold"/>
                <a:ea typeface="Montserrat Bold"/>
                <a:cs typeface="Montserrat Bold"/>
                <a:sym typeface="Montserrat Bold"/>
              </a:rPr>
              <a:t>BIST Controller</a:t>
            </a:r>
            <a:r>
              <a:rPr lang="en-US" sz="2696" spc="-53">
                <a:solidFill>
                  <a:srgbClr val="000000"/>
                </a:solidFill>
                <a:latin typeface="Montserrat"/>
                <a:ea typeface="Montserrat"/>
                <a:cs typeface="Montserrat"/>
                <a:sym typeface="Montserrat"/>
              </a:rPr>
              <a:t> </a:t>
            </a:r>
          </a:p>
          <a:p>
            <a:pPr marL="539073" lvl="1" indent="-269536" algn="l">
              <a:lnSpc>
                <a:spcPts val="3220"/>
              </a:lnSpc>
              <a:buFont typeface="Arial"/>
              <a:buChar char="•"/>
            </a:pPr>
            <a:r>
              <a:rPr lang="en-US" sz="2496" spc="-49">
                <a:solidFill>
                  <a:srgbClr val="000000"/>
                </a:solidFill>
                <a:latin typeface="Montserrat"/>
                <a:ea typeface="Montserrat"/>
                <a:cs typeface="Montserrat"/>
                <a:sym typeface="Montserrat"/>
              </a:rPr>
              <a:t>Coordinates the entire Built-In Self-Test operation by controlling test mode, enabling TPG, and managing response capture.</a:t>
            </a:r>
          </a:p>
          <a:p>
            <a:pPr marL="539073" lvl="1" indent="-269536" algn="l">
              <a:lnSpc>
                <a:spcPts val="3220"/>
              </a:lnSpc>
              <a:buFont typeface="Arial"/>
              <a:buChar char="•"/>
            </a:pPr>
            <a:r>
              <a:rPr lang="en-US" sz="2496" spc="-49">
                <a:solidFill>
                  <a:srgbClr val="000000"/>
                </a:solidFill>
                <a:latin typeface="Montserrat"/>
                <a:ea typeface="Montserrat"/>
                <a:cs typeface="Montserrat"/>
                <a:sym typeface="Montserrat"/>
              </a:rPr>
              <a:t>Generates the control signals for test sequencing (start, stop, shift, capture) and interfaces with memory or logic under test.</a:t>
            </a:r>
          </a:p>
          <a:p>
            <a:pPr algn="l">
              <a:lnSpc>
                <a:spcPts val="3220"/>
              </a:lnSpc>
            </a:pPr>
            <a:endParaRPr lang="en-US" sz="2496" spc="-49">
              <a:solidFill>
                <a:srgbClr val="000000"/>
              </a:solidFill>
              <a:latin typeface="Montserrat"/>
              <a:ea typeface="Montserrat"/>
              <a:cs typeface="Montserrat"/>
              <a:sym typeface="Montserrat"/>
            </a:endParaRPr>
          </a:p>
        </p:txBody>
      </p:sp>
      <p:sp>
        <p:nvSpPr>
          <p:cNvPr id="9" name="TextBox 9"/>
          <p:cNvSpPr txBox="1"/>
          <p:nvPr/>
        </p:nvSpPr>
        <p:spPr>
          <a:xfrm>
            <a:off x="698856" y="3219626"/>
            <a:ext cx="11262193" cy="2390811"/>
          </a:xfrm>
          <a:prstGeom prst="rect">
            <a:avLst/>
          </a:prstGeom>
        </p:spPr>
        <p:txBody>
          <a:bodyPr lIns="0" tIns="0" rIns="0" bIns="0" rtlCol="0" anchor="t">
            <a:spAutoFit/>
          </a:bodyPr>
          <a:lstStyle/>
          <a:p>
            <a:pPr algn="l">
              <a:lnSpc>
                <a:spcPts val="3220"/>
              </a:lnSpc>
            </a:pPr>
            <a:r>
              <a:rPr lang="en-US" sz="2496" spc="-49">
                <a:solidFill>
                  <a:srgbClr val="000000"/>
                </a:solidFill>
                <a:latin typeface="Montserrat"/>
                <a:ea typeface="Montserrat"/>
                <a:cs typeface="Montserrat"/>
                <a:sym typeface="Montserrat"/>
              </a:rPr>
              <a:t>2.</a:t>
            </a:r>
            <a:r>
              <a:rPr lang="en-US" sz="2496" b="1" spc="-49">
                <a:solidFill>
                  <a:srgbClr val="000000"/>
                </a:solidFill>
                <a:latin typeface="Montserrat Bold"/>
                <a:ea typeface="Montserrat Bold"/>
                <a:cs typeface="Montserrat Bold"/>
                <a:sym typeface="Montserrat Bold"/>
              </a:rPr>
              <a:t> TPG (Test Pattern Generator)</a:t>
            </a:r>
            <a:r>
              <a:rPr lang="en-US" sz="2496" spc="-49">
                <a:solidFill>
                  <a:srgbClr val="000000"/>
                </a:solidFill>
                <a:latin typeface="Montserrat"/>
                <a:ea typeface="Montserrat"/>
                <a:cs typeface="Montserrat"/>
                <a:sym typeface="Montserrat"/>
              </a:rPr>
              <a:t> </a:t>
            </a:r>
          </a:p>
          <a:p>
            <a:pPr marL="539071" lvl="1" indent="-269535" algn="l">
              <a:lnSpc>
                <a:spcPts val="3220"/>
              </a:lnSpc>
              <a:buFont typeface="Arial"/>
              <a:buChar char="•"/>
            </a:pPr>
            <a:r>
              <a:rPr lang="en-US" sz="2496" spc="-49">
                <a:solidFill>
                  <a:srgbClr val="000000"/>
                </a:solidFill>
                <a:latin typeface="Montserrat"/>
                <a:ea typeface="Montserrat"/>
                <a:cs typeface="Montserrat"/>
                <a:sym typeface="Montserrat"/>
              </a:rPr>
              <a:t>Produces deterministic or pseudo-random test vectors using LFSRs, counters, or ROM-based patterns.</a:t>
            </a:r>
          </a:p>
          <a:p>
            <a:pPr marL="539071" lvl="1" indent="-269535" algn="l">
              <a:lnSpc>
                <a:spcPts val="3220"/>
              </a:lnSpc>
              <a:buFont typeface="Arial"/>
              <a:buChar char="•"/>
            </a:pPr>
            <a:r>
              <a:rPr lang="en-US" sz="2496" spc="-49">
                <a:solidFill>
                  <a:srgbClr val="000000"/>
                </a:solidFill>
                <a:latin typeface="Montserrat"/>
                <a:ea typeface="Montserrat"/>
                <a:cs typeface="Montserrat"/>
                <a:sym typeface="Montserrat"/>
              </a:rPr>
              <a:t>Ensures high fault coverage by applying diverse patterns to stimulate the CUT (Circuit Under Test).</a:t>
            </a:r>
          </a:p>
          <a:p>
            <a:pPr algn="l">
              <a:lnSpc>
                <a:spcPts val="3220"/>
              </a:lnSpc>
            </a:pPr>
            <a:endParaRPr lang="en-US" sz="2496" spc="-49">
              <a:solidFill>
                <a:srgbClr val="000000"/>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592</Words>
  <Application>Microsoft Office PowerPoint</Application>
  <PresentationFormat>Custom</PresentationFormat>
  <Paragraphs>75</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Futura Bold</vt:lpstr>
      <vt:lpstr>Montserrat Bold</vt:lpstr>
      <vt:lpstr>Montserrat</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and White Clean Geometric Startup Pitch Deck Presentation</dc:title>
  <cp:lastModifiedBy>Giresh Boddu</cp:lastModifiedBy>
  <cp:revision>1</cp:revision>
  <dcterms:created xsi:type="dcterms:W3CDTF">2006-08-16T00:00:00Z</dcterms:created>
  <dcterms:modified xsi:type="dcterms:W3CDTF">2025-11-23T03:23:42Z</dcterms:modified>
  <dc:identifier>DAG5YmSgPP0</dc:identifier>
</cp:coreProperties>
</file>