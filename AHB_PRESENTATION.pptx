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2D2D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48322" y="4106715"/>
            <a:ext cx="10991397" cy="16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43"/>
              </a:lnSpc>
              <a:spcBef>
                <a:spcPct val="0"/>
              </a:spcBef>
            </a:pPr>
            <a:r>
              <a:rPr lang="en-US" sz="953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AHB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3648322" y="5611372"/>
            <a:ext cx="9687995" cy="205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763158" y="38735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40845" y="5664854"/>
            <a:ext cx="6583633" cy="86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BODDU GIRESH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CHIPWEAVE TECHNILOGIES PVT LTD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2D2D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20" y="1494821"/>
            <a:ext cx="8115280" cy="73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AHB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028720" y="218681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819156" y="4590890"/>
            <a:ext cx="11301259" cy="4379238"/>
          </a:xfrm>
          <a:custGeom>
            <a:avLst/>
            <a:gdLst/>
            <a:ahLst/>
            <a:cxnLst/>
            <a:rect r="r" b="b" t="t" l="l"/>
            <a:pathLst>
              <a:path h="4379238" w="11301259">
                <a:moveTo>
                  <a:pt x="0" y="0"/>
                </a:moveTo>
                <a:lnTo>
                  <a:pt x="11301259" y="0"/>
                </a:lnTo>
                <a:lnTo>
                  <a:pt x="11301259" y="4379238"/>
                </a:lnTo>
                <a:lnTo>
                  <a:pt x="0" y="437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1094" y="2421902"/>
            <a:ext cx="13820806" cy="79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500" indent="-242750" lvl="1">
              <a:lnSpc>
                <a:spcPts val="3148"/>
              </a:lnSpc>
              <a:buFont typeface="Arial"/>
              <a:buChar char="•"/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AHB(Advanced High Performance Bus) it is a AMBA family ,designed to support High performance, high bandwidth communication between different components in soc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1094" y="3403010"/>
            <a:ext cx="8843437" cy="41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089" indent="-253545" lvl="1">
              <a:lnSpc>
                <a:spcPts val="3288"/>
              </a:lnSpc>
              <a:buFont typeface="Arial"/>
              <a:buChar char="•"/>
            </a:pPr>
            <a:r>
              <a:rPr lang="en-US" sz="23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is a multi master multi slave protoocl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2D2D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20" y="1494821"/>
            <a:ext cx="8115280" cy="73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ARBITRATION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028720" y="218681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640867" y="3860210"/>
            <a:ext cx="11301259" cy="6003794"/>
          </a:xfrm>
          <a:custGeom>
            <a:avLst/>
            <a:gdLst/>
            <a:ahLst/>
            <a:cxnLst/>
            <a:rect r="r" b="b" t="t" l="l"/>
            <a:pathLst>
              <a:path h="6003794" w="11301259">
                <a:moveTo>
                  <a:pt x="0" y="0"/>
                </a:moveTo>
                <a:lnTo>
                  <a:pt x="11301259" y="0"/>
                </a:lnTo>
                <a:lnTo>
                  <a:pt x="11301259" y="6003793"/>
                </a:lnTo>
                <a:lnTo>
                  <a:pt x="0" y="6003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1094" y="2421902"/>
            <a:ext cx="13820806" cy="118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500" indent="-242750" lvl="1">
              <a:lnSpc>
                <a:spcPts val="3148"/>
              </a:lnSpc>
              <a:buFont typeface="Arial"/>
              <a:buChar char="•"/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Arbiter will decide which master can access the bus</a:t>
            </a:r>
          </a:p>
          <a:p>
            <a:pPr algn="l" marL="485500" indent="-242750" lvl="1">
              <a:lnSpc>
                <a:spcPts val="3148"/>
              </a:lnSpc>
              <a:buFont typeface="Arial"/>
              <a:buChar char="•"/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master will send request to arbiter by using (Hbusreq)</a:t>
            </a:r>
          </a:p>
          <a:p>
            <a:pPr algn="l" marL="485500" indent="-242750" lvl="1">
              <a:lnSpc>
                <a:spcPts val="3148"/>
              </a:lnSpc>
              <a:buFont typeface="Arial"/>
              <a:buChar char="•"/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arbiter will give premission 1 master at atime by using (Hgrant)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20" y="1513871"/>
            <a:ext cx="64179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COMPANY HISTORY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9792" y="2233059"/>
            <a:ext cx="5761990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9729" y="3860110"/>
            <a:ext cx="1117631" cy="991290"/>
          </a:xfrm>
          <a:custGeom>
            <a:avLst/>
            <a:gdLst/>
            <a:ahLst/>
            <a:cxnLst/>
            <a:rect r="r" b="b" t="t" l="l"/>
            <a:pathLst>
              <a:path h="991290" w="1117631">
                <a:moveTo>
                  <a:pt x="0" y="0"/>
                </a:moveTo>
                <a:lnTo>
                  <a:pt x="1117631" y="0"/>
                </a:lnTo>
                <a:lnTo>
                  <a:pt x="1117631" y="991290"/>
                </a:lnTo>
                <a:lnTo>
                  <a:pt x="0" y="99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127875"/>
            <a:ext cx="1117674" cy="827079"/>
          </a:xfrm>
          <a:custGeom>
            <a:avLst/>
            <a:gdLst/>
            <a:ahLst/>
            <a:cxnLst/>
            <a:rect r="r" b="b" t="t" l="l"/>
            <a:pathLst>
              <a:path h="827079" w="1117674">
                <a:moveTo>
                  <a:pt x="0" y="0"/>
                </a:moveTo>
                <a:lnTo>
                  <a:pt x="1117674" y="0"/>
                </a:lnTo>
                <a:lnTo>
                  <a:pt x="1117674" y="827079"/>
                </a:lnTo>
                <a:lnTo>
                  <a:pt x="0" y="827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96558" y="1449570"/>
            <a:ext cx="12360042" cy="8837430"/>
          </a:xfrm>
          <a:custGeom>
            <a:avLst/>
            <a:gdLst/>
            <a:ahLst/>
            <a:cxnLst/>
            <a:rect r="r" b="b" t="t" l="l"/>
            <a:pathLst>
              <a:path h="8837430" w="12360042">
                <a:moveTo>
                  <a:pt x="0" y="0"/>
                </a:moveTo>
                <a:lnTo>
                  <a:pt x="12360042" y="0"/>
                </a:lnTo>
                <a:lnTo>
                  <a:pt x="12360042" y="8837430"/>
                </a:lnTo>
                <a:lnTo>
                  <a:pt x="0" y="8837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20" y="933450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1299" y="842009"/>
            <a:ext cx="8115280" cy="73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SIGNAL LIST OF AHB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6711" y="4436610"/>
            <a:ext cx="10965936" cy="4084733"/>
          </a:xfrm>
          <a:custGeom>
            <a:avLst/>
            <a:gdLst/>
            <a:ahLst/>
            <a:cxnLst/>
            <a:rect r="r" b="b" t="t" l="l"/>
            <a:pathLst>
              <a:path h="4084733" w="10965936">
                <a:moveTo>
                  <a:pt x="0" y="0"/>
                </a:moveTo>
                <a:lnTo>
                  <a:pt x="10965936" y="0"/>
                </a:lnTo>
                <a:lnTo>
                  <a:pt x="10965936" y="4084732"/>
                </a:lnTo>
                <a:lnTo>
                  <a:pt x="0" y="4084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7676" y="290462"/>
            <a:ext cx="10873019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TYPES OF TRANSFER HTRANS[1:0]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7892" y="1127038"/>
            <a:ext cx="14990961" cy="244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1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HTRANS[1:0]                                 Na</a:t>
            </a:r>
            <a:r>
              <a:rPr lang="en-US" sz="21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                                   Meaning</a:t>
            </a:r>
          </a:p>
          <a:p>
            <a:pPr algn="l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00                                             IDLE                                   No transfer</a:t>
            </a:r>
          </a:p>
          <a:p>
            <a:pPr algn="l">
              <a:lnSpc>
                <a:spcPts val="4616"/>
              </a:lnSpc>
            </a:pPr>
            <a:r>
              <a:rPr lang="en-US" sz="2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                                              BUSY                             Pause in a burst</a:t>
            </a:r>
          </a:p>
          <a:p>
            <a:pPr algn="l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                                           NONSEQ                              First transfer</a:t>
            </a:r>
          </a:p>
          <a:p>
            <a:pPr algn="l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11                                                SEQ                         Remaining burst transfers</a:t>
            </a:r>
          </a:p>
          <a:p>
            <a:pPr algn="l">
              <a:lnSpc>
                <a:spcPts val="29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5059" y="290462"/>
            <a:ext cx="8882565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</a:t>
            </a: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SFER SIZE  HSIZE[2:0]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9771" y="6556694"/>
            <a:ext cx="1049030" cy="1066481"/>
          </a:xfrm>
          <a:custGeom>
            <a:avLst/>
            <a:gdLst/>
            <a:ahLst/>
            <a:cxnLst/>
            <a:rect r="r" b="b" t="t" l="l"/>
            <a:pathLst>
              <a:path h="1066481" w="1049030">
                <a:moveTo>
                  <a:pt x="0" y="0"/>
                </a:moveTo>
                <a:lnTo>
                  <a:pt x="1049030" y="0"/>
                </a:lnTo>
                <a:lnTo>
                  <a:pt x="1049030" y="1066481"/>
                </a:lnTo>
                <a:lnTo>
                  <a:pt x="0" y="1066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86163" y="6556694"/>
            <a:ext cx="742206" cy="1002981"/>
          </a:xfrm>
          <a:custGeom>
            <a:avLst/>
            <a:gdLst/>
            <a:ahLst/>
            <a:cxnLst/>
            <a:rect r="r" b="b" t="t" l="l"/>
            <a:pathLst>
              <a:path h="1002981" w="742206">
                <a:moveTo>
                  <a:pt x="0" y="0"/>
                </a:moveTo>
                <a:lnTo>
                  <a:pt x="742206" y="0"/>
                </a:lnTo>
                <a:lnTo>
                  <a:pt x="742206" y="1002981"/>
                </a:lnTo>
                <a:lnTo>
                  <a:pt x="0" y="1002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3356" y="965730"/>
            <a:ext cx="11027820" cy="6595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210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HSIZE[2]    HSIZE[1]        HSIZE[0]           S</a:t>
            </a:r>
            <a:r>
              <a:rPr lang="en-US" sz="210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ize(bits)                 Description</a:t>
            </a:r>
          </a:p>
          <a:p>
            <a:pPr algn="just">
              <a:lnSpc>
                <a:spcPts val="5265"/>
              </a:lnSpc>
            </a:pPr>
            <a:r>
              <a:rPr lang="en-US" sz="210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</a:t>
            </a: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                  0                   0                        8                                Byte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0                 0                   1                         16                           Halfword 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0                 1                    0                       32                               Word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0                 1                    1                        64                          Doubleword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                  0                  0                       128                          Quad word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                  0                   1                       256                            Octa word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                  1                    0                      512                               Reserved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                  1                    1                       1024                             Reserved</a:t>
            </a:r>
          </a:p>
          <a:p>
            <a:pPr algn="just">
              <a:lnSpc>
                <a:spcPts val="5265"/>
              </a:lnSpc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20075"/>
            <a:ext cx="4512585" cy="85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  <a:spcBef>
                <a:spcPct val="0"/>
              </a:spcBef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86163" y="8220075"/>
            <a:ext cx="4512585" cy="85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  <a:spcBef>
                <a:spcPct val="0"/>
              </a:spcBef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2671" y="1794502"/>
            <a:ext cx="11358053" cy="3625559"/>
          </a:xfrm>
          <a:custGeom>
            <a:avLst/>
            <a:gdLst/>
            <a:ahLst/>
            <a:cxnLst/>
            <a:rect r="r" b="b" t="t" l="l"/>
            <a:pathLst>
              <a:path h="3625559" w="11358053">
                <a:moveTo>
                  <a:pt x="0" y="0"/>
                </a:moveTo>
                <a:lnTo>
                  <a:pt x="11358053" y="0"/>
                </a:lnTo>
                <a:lnTo>
                  <a:pt x="11358053" y="3625558"/>
                </a:lnTo>
                <a:lnTo>
                  <a:pt x="0" y="362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8" t="0" r="-558" b="-10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2671" y="5592478"/>
            <a:ext cx="10376079" cy="3529410"/>
          </a:xfrm>
          <a:custGeom>
            <a:avLst/>
            <a:gdLst/>
            <a:ahLst/>
            <a:cxnLst/>
            <a:rect r="r" b="b" t="t" l="l"/>
            <a:pathLst>
              <a:path h="3529410" w="10376079">
                <a:moveTo>
                  <a:pt x="0" y="0"/>
                </a:moveTo>
                <a:lnTo>
                  <a:pt x="10376079" y="0"/>
                </a:lnTo>
                <a:lnTo>
                  <a:pt x="10376079" y="3529410"/>
                </a:lnTo>
                <a:lnTo>
                  <a:pt x="0" y="3529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3661" y="669619"/>
            <a:ext cx="1076770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AHB BASIC READ/WRITE TRANSFER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828" y="1354956"/>
            <a:ext cx="8814758" cy="2504664"/>
          </a:xfrm>
          <a:custGeom>
            <a:avLst/>
            <a:gdLst/>
            <a:ahLst/>
            <a:cxnLst/>
            <a:rect r="r" b="b" t="t" l="l"/>
            <a:pathLst>
              <a:path h="2504664" w="8814758">
                <a:moveTo>
                  <a:pt x="0" y="0"/>
                </a:moveTo>
                <a:lnTo>
                  <a:pt x="8814758" y="0"/>
                </a:lnTo>
                <a:lnTo>
                  <a:pt x="8814758" y="2504665"/>
                </a:lnTo>
                <a:lnTo>
                  <a:pt x="0" y="2504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37586" y="1028700"/>
            <a:ext cx="8530986" cy="2788976"/>
          </a:xfrm>
          <a:custGeom>
            <a:avLst/>
            <a:gdLst/>
            <a:ahLst/>
            <a:cxnLst/>
            <a:rect r="r" b="b" t="t" l="l"/>
            <a:pathLst>
              <a:path h="2788976" w="8530986">
                <a:moveTo>
                  <a:pt x="0" y="0"/>
                </a:moveTo>
                <a:lnTo>
                  <a:pt x="8530986" y="0"/>
                </a:lnTo>
                <a:lnTo>
                  <a:pt x="8530986" y="2788976"/>
                </a:lnTo>
                <a:lnTo>
                  <a:pt x="0" y="27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5492" y="5143500"/>
            <a:ext cx="11081019" cy="3178981"/>
          </a:xfrm>
          <a:custGeom>
            <a:avLst/>
            <a:gdLst/>
            <a:ahLst/>
            <a:cxnLst/>
            <a:rect r="r" b="b" t="t" l="l"/>
            <a:pathLst>
              <a:path h="3178981" w="11081019">
                <a:moveTo>
                  <a:pt x="0" y="0"/>
                </a:moveTo>
                <a:lnTo>
                  <a:pt x="11081019" y="0"/>
                </a:lnTo>
                <a:lnTo>
                  <a:pt x="11081019" y="3178981"/>
                </a:lnTo>
                <a:lnTo>
                  <a:pt x="0" y="3178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492" y="616719"/>
            <a:ext cx="8592621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AHB WITH WAIT TRANSFER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2828" y="4176544"/>
            <a:ext cx="8454710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MULTIPLE DATA TRANSFER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77128" y="1918075"/>
            <a:ext cx="10858005" cy="3746578"/>
          </a:xfrm>
          <a:custGeom>
            <a:avLst/>
            <a:gdLst/>
            <a:ahLst/>
            <a:cxnLst/>
            <a:rect r="r" b="b" t="t" l="l"/>
            <a:pathLst>
              <a:path h="3746578" w="10858005">
                <a:moveTo>
                  <a:pt x="0" y="0"/>
                </a:moveTo>
                <a:lnTo>
                  <a:pt x="10858006" y="0"/>
                </a:lnTo>
                <a:lnTo>
                  <a:pt x="10858006" y="3746577"/>
                </a:lnTo>
                <a:lnTo>
                  <a:pt x="0" y="3746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30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2305" y="5664652"/>
            <a:ext cx="10979652" cy="4426270"/>
          </a:xfrm>
          <a:custGeom>
            <a:avLst/>
            <a:gdLst/>
            <a:ahLst/>
            <a:cxnLst/>
            <a:rect r="r" b="b" t="t" l="l"/>
            <a:pathLst>
              <a:path h="4426270" w="10979652">
                <a:moveTo>
                  <a:pt x="0" y="0"/>
                </a:moveTo>
                <a:lnTo>
                  <a:pt x="10979652" y="0"/>
                </a:lnTo>
                <a:lnTo>
                  <a:pt x="10979652" y="4426270"/>
                </a:lnTo>
                <a:lnTo>
                  <a:pt x="0" y="4426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424" y="616719"/>
            <a:ext cx="9998707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BURST OPERATION HBURST[2:0]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1279" y="1354142"/>
            <a:ext cx="10663826" cy="210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341" indent="-238171" lvl="1">
              <a:lnSpc>
                <a:spcPts val="4236"/>
              </a:lnSpc>
              <a:buFont typeface="Arial"/>
              <a:buChar char="•"/>
            </a:pPr>
            <a:r>
              <a:rPr lang="en-US" sz="2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Burst means send multiple data beats(packets) in a single transfer </a:t>
            </a:r>
          </a:p>
          <a:p>
            <a:pPr algn="l" marL="476341" indent="-238171" lvl="1">
              <a:lnSpc>
                <a:spcPts val="4236"/>
              </a:lnSpc>
              <a:buFont typeface="Arial"/>
              <a:buChar char="•"/>
            </a:pPr>
            <a:r>
              <a:rPr lang="en-US" b="true" sz="220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Burst are two types</a:t>
            </a:r>
          </a:p>
          <a:p>
            <a:pPr algn="l" marL="476341" indent="-238171" lvl="1">
              <a:lnSpc>
                <a:spcPts val="4236"/>
              </a:lnSpc>
              <a:buAutoNum type="arabicPeriod" startAt="1"/>
            </a:pPr>
            <a:r>
              <a:rPr lang="en-US" sz="2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 burst</a:t>
            </a:r>
          </a:p>
          <a:p>
            <a:pPr algn="l" marL="476341" indent="-238171" lvl="1">
              <a:lnSpc>
                <a:spcPts val="4236"/>
              </a:lnSpc>
              <a:buAutoNum type="arabicPeriod" startAt="1"/>
            </a:pPr>
            <a:r>
              <a:rPr lang="en-US" sz="2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wrapping burst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9780" y="942975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HBURST[2:0]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188" y="1637034"/>
            <a:ext cx="13456827" cy="606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1"/>
              </a:lnSpc>
            </a:pPr>
            <a:r>
              <a:rPr lang="en-US" sz="22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HBURST                                                                Typ</a:t>
            </a:r>
            <a:r>
              <a:rPr lang="en-US" sz="22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                                                Description</a:t>
            </a:r>
          </a:p>
          <a:p>
            <a:pPr algn="l">
              <a:lnSpc>
                <a:spcPts val="4871"/>
              </a:lnSpc>
            </a:pPr>
            <a:r>
              <a:rPr lang="en-US" sz="19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000                                                                       SINGLE                                          Single transfer (no burst)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001                                                                         INCR                                        Incrementing burst, undefined length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010                                                                      WRAP4                                                4-beat wrapping burst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011                                                                       INCR4                                               4-beat incrementing burst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100                                                                      WRAP8                                                 8-beat wrapping burst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101                                                                      INCR8                                                8-beat incrementing burst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110                                                                     WRAP16                                                   16-beat wrapping burst</a:t>
            </a:r>
          </a:p>
          <a:p>
            <a:pPr algn="l">
              <a:lnSpc>
                <a:spcPts val="4871"/>
              </a:lnSpc>
            </a:pPr>
            <a:r>
              <a:rPr lang="en-US" sz="1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111                                                                      INCR16                                                 16-beat incrementing burst</a:t>
            </a:r>
          </a:p>
          <a:p>
            <a:pPr algn="l">
              <a:lnSpc>
                <a:spcPts val="31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67881" y="2441912"/>
            <a:ext cx="862961" cy="8629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36901" y="2542403"/>
            <a:ext cx="9200512" cy="82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</a:p>
          <a:p>
            <a:pPr algn="l">
              <a:lnSpc>
                <a:spcPts val="3288"/>
              </a:lnSpc>
              <a:spcBef>
                <a:spcPct val="0"/>
              </a:spcBef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HIZE = 3'b010        HBRUST = 3'b011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92281" y="4373085"/>
            <a:ext cx="862961" cy="8629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67881" y="7477773"/>
            <a:ext cx="862961" cy="8629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123762" y="3368571"/>
            <a:ext cx="0" cy="10045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6056207" y="3304873"/>
            <a:ext cx="0" cy="10045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2735438" y="4390972"/>
            <a:ext cx="9200512" cy="41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  <a:spcBef>
                <a:spcPct val="0"/>
              </a:spcBef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 Byte                                 INCR4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939351" y="4632606"/>
            <a:ext cx="26418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7335694" y="4981248"/>
            <a:ext cx="9655327" cy="4993048"/>
          </a:xfrm>
          <a:custGeom>
            <a:avLst/>
            <a:gdLst/>
            <a:ahLst/>
            <a:cxnLst/>
            <a:rect r="r" b="b" t="t" l="l"/>
            <a:pathLst>
              <a:path h="4993048" w="9655327">
                <a:moveTo>
                  <a:pt x="0" y="0"/>
                </a:moveTo>
                <a:lnTo>
                  <a:pt x="9655326" y="0"/>
                </a:lnTo>
                <a:lnTo>
                  <a:pt x="9655326" y="4993049"/>
                </a:lnTo>
                <a:lnTo>
                  <a:pt x="0" y="499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7649" y="837596"/>
            <a:ext cx="65449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INCREMENT BURST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6901" y="1901036"/>
            <a:ext cx="10499048" cy="40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address keep increasing foreach new data transfer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45049" y="2327612"/>
            <a:ext cx="3721766" cy="121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45049" y="4759940"/>
            <a:ext cx="3721766" cy="121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45049" y="7194281"/>
            <a:ext cx="3721766" cy="121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2950" y="4390972"/>
            <a:ext cx="9200512" cy="41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  <a:spcBef>
                <a:spcPct val="0"/>
              </a:spcBef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 beats(packets) in a burst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313" y="5525291"/>
            <a:ext cx="9200512" cy="269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2"/>
              </a:lnSpc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0x38  - 1beat</a:t>
            </a:r>
          </a:p>
          <a:p>
            <a:pPr algn="l">
              <a:lnSpc>
                <a:spcPts val="5402"/>
              </a:lnSpc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0x3C  -  2beat</a:t>
            </a:r>
          </a:p>
          <a:p>
            <a:pPr algn="l">
              <a:lnSpc>
                <a:spcPts val="5402"/>
              </a:lnSpc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0x40 -  3beat</a:t>
            </a:r>
          </a:p>
          <a:p>
            <a:pPr algn="l">
              <a:lnSpc>
                <a:spcPts val="5402"/>
              </a:lnSpc>
            </a:pPr>
            <a:r>
              <a:rPr lang="en-US" sz="23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0x44  - 4beat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50748" y="4044508"/>
            <a:ext cx="10822563" cy="5221846"/>
          </a:xfrm>
          <a:custGeom>
            <a:avLst/>
            <a:gdLst/>
            <a:ahLst/>
            <a:cxnLst/>
            <a:rect r="r" b="b" t="t" l="l"/>
            <a:pathLst>
              <a:path h="5221846" w="10822563">
                <a:moveTo>
                  <a:pt x="0" y="0"/>
                </a:moveTo>
                <a:lnTo>
                  <a:pt x="10822563" y="0"/>
                </a:lnTo>
                <a:lnTo>
                  <a:pt x="10822563" y="5221846"/>
                </a:lnTo>
                <a:lnTo>
                  <a:pt x="0" y="5221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950524" y="459172"/>
            <a:ext cx="7278998" cy="81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WRAPPING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7028" y="1465334"/>
            <a:ext cx="11512070" cy="41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  <a:spcBef>
                <a:spcPct val="0"/>
              </a:spcBef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address increases , but it reaches limit go back to start address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9959" y="2399033"/>
            <a:ext cx="11512070" cy="164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Wrap boundary</a:t>
            </a:r>
          </a:p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boundary = HSIZE X HBURST</a:t>
            </a:r>
          </a:p>
          <a:p>
            <a:pPr algn="just">
              <a:lnSpc>
                <a:spcPts val="3279"/>
              </a:lnSpc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      example    HSIZE = 1 BYTE  HBURST = WRAP4</a:t>
            </a:r>
          </a:p>
          <a:p>
            <a:pPr algn="just">
              <a:lnSpc>
                <a:spcPts val="3279"/>
              </a:lnSpc>
              <a:spcBef>
                <a:spcPct val="0"/>
              </a:spcBef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  boundary = 1 x 4 =&gt; 4bytes</a:t>
            </a:r>
            <a:r>
              <a:rPr lang="en-US" b="true" sz="23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176" y="4558858"/>
            <a:ext cx="11512070" cy="123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</a:p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HISZE = 4 byte        HBURST = WRAP4</a:t>
            </a:r>
          </a:p>
          <a:p>
            <a:pPr algn="just">
              <a:lnSpc>
                <a:spcPts val="3279"/>
              </a:lnSpc>
              <a:spcBef>
                <a:spcPct val="0"/>
              </a:spcBef>
            </a:pPr>
            <a:r>
              <a:rPr lang="en-US" b="true" sz="23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wrap boundary = 4 x 4 =&gt; 16byte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371" y="6497087"/>
            <a:ext cx="11512070" cy="246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Now your address</a:t>
            </a:r>
          </a:p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0x30 → 0x34 → 0x38 → 0x3C</a:t>
            </a:r>
          </a:p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but your address not start 0x00</a:t>
            </a:r>
          </a:p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it will start 0x38</a:t>
            </a:r>
          </a:p>
          <a:p>
            <a:pPr algn="just">
              <a:lnSpc>
                <a:spcPts val="3279"/>
              </a:lnSpc>
            </a:pPr>
            <a:r>
              <a:rPr lang="en-US" sz="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0x38 → 0x3C → 0x30 → 0x34</a:t>
            </a:r>
          </a:p>
          <a:p>
            <a:pPr algn="just">
              <a:lnSpc>
                <a:spcPts val="3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7272" y="2738825"/>
            <a:ext cx="10699722" cy="3615335"/>
          </a:xfrm>
          <a:custGeom>
            <a:avLst/>
            <a:gdLst/>
            <a:ahLst/>
            <a:cxnLst/>
            <a:rect r="r" b="b" t="t" l="l"/>
            <a:pathLst>
              <a:path h="3615335" w="10699722">
                <a:moveTo>
                  <a:pt x="0" y="0"/>
                </a:moveTo>
                <a:lnTo>
                  <a:pt x="10699721" y="0"/>
                </a:lnTo>
                <a:lnTo>
                  <a:pt x="10699721" y="3615335"/>
                </a:lnTo>
                <a:lnTo>
                  <a:pt x="0" y="3615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43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833" y="616719"/>
            <a:ext cx="12175186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SLAVE RESPONSE SIGNALING HRESP[1:0]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0877" y="1566193"/>
            <a:ext cx="12795627" cy="80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  <a:spcBef>
                <a:spcPct val="0"/>
              </a:spcBef>
            </a:pPr>
            <a:r>
              <a:rPr lang="en-US" sz="22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HRESP indicate the transfer in AHB response given by slave to master transfer is successful or not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0877" y="6797042"/>
            <a:ext cx="12191865" cy="203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HRESP                        Response                        Description</a:t>
            </a:r>
          </a:p>
          <a:p>
            <a:pPr algn="l">
              <a:lnSpc>
                <a:spcPts val="3148"/>
              </a:lnSpc>
            </a:pPr>
            <a:r>
              <a:rPr lang="en-US" sz="22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00                         OKAY                   Transfer completed successfully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01                        ERROR                              Transfer failed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10                         RETRY                          Master should retry later</a:t>
            </a:r>
          </a:p>
          <a:p>
            <a:pPr algn="l">
              <a:lnSpc>
                <a:spcPts val="4205"/>
              </a:lnSpc>
            </a:pPr>
            <a:r>
              <a:rPr lang="en-US" sz="22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11                           SPLIT                        Transfer split; master blocked until re‑granted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36465" y="579962"/>
            <a:ext cx="6022926" cy="81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6202" y="1474411"/>
            <a:ext cx="12339058" cy="442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5"/>
              </a:lnSpc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discuss the below topics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 of AHB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AHB signals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AHB arbitration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AHB types of transfers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transfer size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basic write/read transfers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transfers</a:t>
            </a:r>
          </a:p>
          <a:p>
            <a:pPr algn="just" marL="542085" indent="-271042" lvl="1">
              <a:lnSpc>
                <a:spcPts val="3515"/>
              </a:lnSpc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burst operations</a:t>
            </a:r>
          </a:p>
          <a:p>
            <a:pPr algn="just" marL="542085" indent="-271042" lvl="1">
              <a:lnSpc>
                <a:spcPts val="3716"/>
              </a:lnSpc>
              <a:buFont typeface="Arial"/>
              <a:buChar char="•"/>
            </a:pPr>
            <a:r>
              <a:rPr lang="en-US" sz="2510" spc="-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response signaling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3500"/>
            <a:ext cx="18288000" cy="5143500"/>
            <a:chOff x="0" y="0"/>
            <a:chExt cx="4816593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62919" y="4134919"/>
            <a:ext cx="10143658" cy="13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AutoShape 6" id="6"/>
          <p:cNvSpPr/>
          <p:nvPr/>
        </p:nvSpPr>
        <p:spPr>
          <a:xfrm>
            <a:off x="5674651" y="549102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DAG7RtDpWy4</dc:identifier>
  <dcterms:modified xsi:type="dcterms:W3CDTF">2011-08-01T06:04:30Z</dcterms:modified>
  <cp:revision>1</cp:revision>
  <dc:title>Purple &amp;  white business profile presentation</dc:title>
</cp:coreProperties>
</file>