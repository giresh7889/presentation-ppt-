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Poppins" charset="1" panose="00000500000000000000"/>
      <p:regular r:id="rId22"/>
    </p:embeddedFont>
    <p:embeddedFont>
      <p:font typeface="Roboto" charset="1" panose="02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28092" y="4673169"/>
            <a:ext cx="12431816" cy="845412"/>
          </a:xfrm>
          <a:prstGeom prst="rect">
            <a:avLst/>
          </a:prstGeom>
        </p:spPr>
        <p:txBody>
          <a:bodyPr anchor="t" rtlCol="false" tIns="0" lIns="0" bIns="0" rIns="0">
            <a:spAutoFit/>
          </a:bodyPr>
          <a:lstStyle/>
          <a:p>
            <a:pPr algn="ctr">
              <a:lnSpc>
                <a:spcPts val="6952"/>
              </a:lnSpc>
            </a:pPr>
            <a:r>
              <a:rPr lang="en-US" b="true" sz="4966">
                <a:solidFill>
                  <a:srgbClr val="000000"/>
                </a:solidFill>
                <a:latin typeface="League Spartan"/>
                <a:ea typeface="League Spartan"/>
                <a:cs typeface="League Spartan"/>
                <a:sym typeface="League Spartan"/>
              </a:rPr>
              <a:t>CXS( CREDITED EXTENSIBLE STREAM)</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880587" y="5800188"/>
            <a:ext cx="8526827"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Boddu Giresh</a:t>
            </a:r>
          </a:p>
          <a:p>
            <a:pPr algn="ctr">
              <a:lnSpc>
                <a:spcPts val="3107"/>
              </a:lnSpc>
              <a:spcBef>
                <a:spcPct val="0"/>
              </a:spcBef>
            </a:pPr>
            <a:r>
              <a:rPr lang="en-US" sz="2219">
                <a:solidFill>
                  <a:srgbClr val="303642"/>
                </a:solidFill>
                <a:latin typeface="Poppins"/>
                <a:ea typeface="Poppins"/>
                <a:cs typeface="Poppins"/>
                <a:sym typeface="Poppins"/>
              </a:rPr>
              <a:t>CHIPWEAVE TECHNOLOGIES PVT LTD</a:t>
            </a:r>
          </a:p>
        </p:txBody>
      </p:sp>
      <p:grpSp>
        <p:nvGrpSpPr>
          <p:cNvPr name="Group 8" id="8"/>
          <p:cNvGrpSpPr/>
          <p:nvPr/>
        </p:nvGrpSpPr>
        <p:grpSpPr>
          <a:xfrm rot="0">
            <a:off x="16467343" y="4057750"/>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5446818" y="8630505"/>
            <a:ext cx="897167" cy="2183545"/>
            <a:chOff x="0" y="0"/>
            <a:chExt cx="236291" cy="575090"/>
          </a:xfrm>
        </p:grpSpPr>
        <p:sp>
          <p:nvSpPr>
            <p:cNvPr name="Freeform 4" id="4"/>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5" id="5"/>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750617"/>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ABOUT THE CXS STREAMING INTERFACE PROTOCOL</a:t>
            </a:r>
          </a:p>
        </p:txBody>
      </p:sp>
      <p:sp>
        <p:nvSpPr>
          <p:cNvPr name="TextBox 7" id="7"/>
          <p:cNvSpPr txBox="true"/>
          <p:nvPr/>
        </p:nvSpPr>
        <p:spPr>
          <a:xfrm rot="0">
            <a:off x="1028700" y="2287889"/>
            <a:ext cx="15475233" cy="148905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CXS is a high-speed, l</a:t>
            </a:r>
            <a:r>
              <a:rPr lang="en-US" sz="2125">
                <a:solidFill>
                  <a:srgbClr val="303642"/>
                </a:solidFill>
                <a:latin typeface="Poppins"/>
                <a:ea typeface="Poppins"/>
                <a:cs typeface="Poppins"/>
                <a:sym typeface="Poppins"/>
              </a:rPr>
              <a:t>ow-latency, streaming interface protocol mainly used for die-to-die communication, NoC connectivity, and chiplet architectures. It is designed to move large amounts of data efficiently between blocks, IPs, or chiplets, similar in nature to AMBA CHI streaming, AXI-Stream, or PIPE interfaces.</a:t>
            </a:r>
          </a:p>
          <a:p>
            <a:pPr algn="l">
              <a:lnSpc>
                <a:spcPts val="2976"/>
              </a:lnSpc>
            </a:pPr>
          </a:p>
        </p:txBody>
      </p:sp>
      <p:sp>
        <p:nvSpPr>
          <p:cNvPr name="TextBox 8" id="8"/>
          <p:cNvSpPr txBox="true"/>
          <p:nvPr/>
        </p:nvSpPr>
        <p:spPr>
          <a:xfrm rot="0">
            <a:off x="709411" y="5426930"/>
            <a:ext cx="9541073" cy="260347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303642"/>
                </a:solidFill>
                <a:latin typeface="Poppins"/>
                <a:ea typeface="Poppins"/>
                <a:cs typeface="Poppins"/>
                <a:sym typeface="Poppins"/>
              </a:rPr>
              <a:t>High bandwidth</a:t>
            </a:r>
            <a:r>
              <a:rPr lang="en-US" sz="2125">
                <a:solidFill>
                  <a:srgbClr val="303642"/>
                </a:solidFill>
                <a:latin typeface="Poppins"/>
                <a:ea typeface="Poppins"/>
                <a:cs typeface="Poppins"/>
                <a:sym typeface="Poppins"/>
              </a:rPr>
              <a:t> with scalable data width (32 to 1024 bits)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Low latency, minimal overhead</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packetized and raw streaming data</a:t>
            </a:r>
          </a:p>
          <a:p>
            <a:pPr algn="l" marL="458997" indent="-229499" lvl="1">
              <a:lnSpc>
                <a:spcPts val="2976"/>
              </a:lnSpc>
              <a:buFont typeface="Arial"/>
              <a:buChar char="•"/>
            </a:pPr>
            <a:r>
              <a:rPr lang="en-US" sz="2125">
                <a:solidFill>
                  <a:srgbClr val="303642"/>
                </a:solidFill>
                <a:latin typeface="Poppins"/>
                <a:ea typeface="Poppins"/>
                <a:cs typeface="Poppins"/>
                <a:sym typeface="Poppins"/>
              </a:rPr>
              <a:t>Supports flow control, backpressure, credits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Designed for multi-die / chiplet interconnects</a:t>
            </a:r>
          </a:p>
          <a:p>
            <a:pPr algn="l" marL="458997" indent="-229499" lvl="1">
              <a:lnSpc>
                <a:spcPts val="2976"/>
              </a:lnSpc>
              <a:buFont typeface="Arial"/>
              <a:buChar char="•"/>
            </a:pPr>
            <a:r>
              <a:rPr lang="en-US" sz="2125">
                <a:solidFill>
                  <a:srgbClr val="303642"/>
                </a:solidFill>
                <a:latin typeface="Poppins"/>
                <a:ea typeface="Poppins"/>
                <a:cs typeface="Poppins"/>
                <a:sym typeface="Poppins"/>
              </a:rPr>
              <a:t>Works with high-speed PHY (like BoW, UCIe, proprietary interfaces)</a:t>
            </a:r>
          </a:p>
          <a:p>
            <a:pPr algn="l">
              <a:lnSpc>
                <a:spcPts val="2976"/>
              </a:lnSpc>
              <a:spcBef>
                <a:spcPct val="0"/>
              </a:spcBef>
            </a:pPr>
          </a:p>
        </p:txBody>
      </p:sp>
      <p:sp>
        <p:nvSpPr>
          <p:cNvPr name="TextBox 9" id="9"/>
          <p:cNvSpPr txBox="true"/>
          <p:nvPr/>
        </p:nvSpPr>
        <p:spPr>
          <a:xfrm rot="0">
            <a:off x="709411" y="4009615"/>
            <a:ext cx="16000084" cy="738290"/>
          </a:xfrm>
          <a:prstGeom prst="rect">
            <a:avLst/>
          </a:prstGeom>
        </p:spPr>
        <p:txBody>
          <a:bodyPr anchor="t" rtlCol="false" tIns="0" lIns="0" bIns="0" rIns="0">
            <a:spAutoFit/>
          </a:bodyPr>
          <a:lstStyle/>
          <a:p>
            <a:pPr algn="l">
              <a:lnSpc>
                <a:spcPts val="6031"/>
              </a:lnSpc>
            </a:pPr>
            <a:r>
              <a:rPr lang="en-US" sz="4308">
                <a:solidFill>
                  <a:srgbClr val="303642"/>
                </a:solidFill>
                <a:latin typeface="League Spartan"/>
                <a:ea typeface="League Spartan"/>
                <a:cs typeface="League Spartan"/>
                <a:sym typeface="League Spartan"/>
              </a:rPr>
              <a:t>MAIN GOALS OF CXS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70541" y="2006345"/>
            <a:ext cx="1601933" cy="6466659"/>
            <a:chOff x="0" y="0"/>
            <a:chExt cx="421908" cy="1703153"/>
          </a:xfrm>
        </p:grpSpPr>
        <p:sp>
          <p:nvSpPr>
            <p:cNvPr name="Freeform 4" id="4"/>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5" id="5"/>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4429125" y="1886599"/>
          <a:ext cx="9429750" cy="8172450"/>
        </p:xfrm>
        <a:graphic>
          <a:graphicData uri="http://schemas.openxmlformats.org/presentationml/2006/ole">
            <p:oleObj imgW="11315700" imgH="10058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1023322" y="1091794"/>
            <a:ext cx="14139846" cy="794805"/>
          </a:xfrm>
          <a:prstGeom prst="rect">
            <a:avLst/>
          </a:prstGeom>
        </p:spPr>
        <p:txBody>
          <a:bodyPr anchor="t" rtlCol="false" tIns="0" lIns="0" bIns="0" rIns="0">
            <a:spAutoFit/>
          </a:bodyPr>
          <a:lstStyle/>
          <a:p>
            <a:pPr algn="r">
              <a:lnSpc>
                <a:spcPts val="6591"/>
              </a:lnSpc>
            </a:pPr>
            <a:r>
              <a:rPr lang="en-US" b="true" sz="4708">
                <a:solidFill>
                  <a:srgbClr val="303642"/>
                </a:solidFill>
                <a:latin typeface="League Spartan"/>
                <a:ea typeface="League Spartan"/>
                <a:cs typeface="League Spartan"/>
                <a:sym typeface="League Spartan"/>
              </a:rPr>
              <a:t>MANDATORY AND OPTION</a:t>
            </a:r>
            <a:r>
              <a:rPr lang="en-US" b="true" sz="4708">
                <a:solidFill>
                  <a:srgbClr val="303642"/>
                </a:solidFill>
                <a:latin typeface="League Spartan"/>
                <a:ea typeface="League Spartan"/>
                <a:cs typeface="League Spartan"/>
                <a:sym typeface="League Spartan"/>
              </a:rPr>
              <a:t>AL CXS SIGNALS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35773" y="495897"/>
            <a:ext cx="15127457" cy="960831"/>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CXS INTERFACE CHECKING SIGNALS</a:t>
            </a:r>
          </a:p>
        </p:txBody>
      </p:sp>
      <p:sp>
        <p:nvSpPr>
          <p:cNvPr name="TextBox 4" id="4"/>
          <p:cNvSpPr txBox="true"/>
          <p:nvPr/>
        </p:nvSpPr>
        <p:spPr>
          <a:xfrm rot="0">
            <a:off x="587913" y="1678351"/>
            <a:ext cx="11103605" cy="1181868"/>
          </a:xfrm>
          <a:prstGeom prst="rect">
            <a:avLst/>
          </a:prstGeom>
        </p:spPr>
        <p:txBody>
          <a:bodyPr anchor="t" rtlCol="false" tIns="0" lIns="0" bIns="0" rIns="0">
            <a:spAutoFit/>
          </a:bodyPr>
          <a:lstStyle/>
          <a:p>
            <a:pPr algn="ctr" marL="479248" indent="-239624" lvl="1">
              <a:lnSpc>
                <a:spcPts val="3107"/>
              </a:lnSpc>
              <a:buFont typeface="Arial"/>
              <a:buChar char="•"/>
            </a:pPr>
            <a:r>
              <a:rPr lang="en-US" sz="2219">
                <a:solidFill>
                  <a:srgbClr val="303642"/>
                </a:solidFill>
                <a:latin typeface="Poppins"/>
                <a:ea typeface="Poppins"/>
                <a:cs typeface="Poppins"/>
                <a:sym typeface="Poppins"/>
              </a:rPr>
              <a:t> If the CXSCHECKTYPE property is set to Odd_Byte_Parity, the interface has        additional signals, which can be used to improve the integrity of the interface</a:t>
            </a:r>
          </a:p>
        </p:txBody>
      </p:sp>
      <p:sp>
        <p:nvSpPr>
          <p:cNvPr name="TextBox 5" id="5"/>
          <p:cNvSpPr txBox="true"/>
          <p:nvPr/>
        </p:nvSpPr>
        <p:spPr>
          <a:xfrm rot="0">
            <a:off x="0" y="3079294"/>
            <a:ext cx="16789209" cy="1572393"/>
          </a:xfrm>
          <a:prstGeom prst="rect">
            <a:avLst/>
          </a:prstGeom>
        </p:spPr>
        <p:txBody>
          <a:bodyPr anchor="t" rtlCol="false" tIns="0" lIns="0" bIns="0" rIns="0">
            <a:spAutoFit/>
          </a:bodyPr>
          <a:lstStyle/>
          <a:p>
            <a:pPr algn="ctr" marL="479248" indent="-239624" lvl="1">
              <a:lnSpc>
                <a:spcPts val="3107"/>
              </a:lnSpc>
              <a:buFont typeface="Arial"/>
              <a:buChar char="•"/>
            </a:pPr>
            <a:r>
              <a:rPr lang="en-US" sz="2219">
                <a:solidFill>
                  <a:srgbClr val="303642"/>
                </a:solidFill>
                <a:latin typeface="Poppins"/>
                <a:ea typeface="Poppins"/>
                <a:cs typeface="Poppins"/>
                <a:sym typeface="Poppins"/>
              </a:rPr>
              <a:t> Odd_Byte_Parity describes an error detection scheme where check bits are added such that the total count of 1s across the signal and check bits is an odd number. In this scheme, signals wider than 8 bits have one bit added per byte. If the signal width is not divisible by 8, then the most significant parity bit covers less than 8 bits. For example, when CXSCNTL is 27 bits wide, CXSCNTLCHK[3] covers CXSCNTL[26:24].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7416165" y="429700"/>
            <a:ext cx="5246370" cy="5246370"/>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04AAD"/>
            </a:solidFill>
          </p:spPr>
        </p:sp>
        <p:sp>
          <p:nvSpPr>
            <p:cNvPr name="Freeform 8" id="8"/>
            <p:cNvSpPr/>
            <p:nvPr/>
          </p:nvSpPr>
          <p:spPr>
            <a:xfrm flipH="false" flipV="false" rot="0">
              <a:off x="391160" y="364490"/>
              <a:ext cx="5619750" cy="5621020"/>
            </a:xfrm>
            <a:custGeom>
              <a:avLst/>
              <a:gdLst/>
              <a:ahLst/>
              <a:cxnLst/>
              <a:rect r="r" b="b" t="t" l="l"/>
              <a:pathLst>
                <a:path h="5621020" w="561975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3"/>
              <a:stretch>
                <a:fillRect l="-44808" t="0" r="-44808" b="0"/>
              </a:stretch>
            </a:blipFill>
          </p:spPr>
        </p:sp>
      </p:grpSp>
      <p:grpSp>
        <p:nvGrpSpPr>
          <p:cNvPr name="Group 9" id="9"/>
          <p:cNvGrpSpPr>
            <a:grpSpLocks noChangeAspect="true"/>
          </p:cNvGrpSpPr>
          <p:nvPr/>
        </p:nvGrpSpPr>
        <p:grpSpPr>
          <a:xfrm rot="0">
            <a:off x="12776835" y="4610930"/>
            <a:ext cx="5246370" cy="5246370"/>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6350000" y="3175000"/>
                  </a:moveTo>
                  <a:cubicBezTo>
                    <a:pt x="6350000" y="1421130"/>
                    <a:pt x="4928870" y="0"/>
                    <a:pt x="3175000" y="0"/>
                  </a:cubicBezTo>
                  <a:lnTo>
                    <a:pt x="0" y="0"/>
                  </a:lnTo>
                  <a:lnTo>
                    <a:pt x="0" y="3175000"/>
                  </a:lnTo>
                  <a:cubicBezTo>
                    <a:pt x="0" y="4928870"/>
                    <a:pt x="1421130" y="6350000"/>
                    <a:pt x="3175000" y="6350000"/>
                  </a:cubicBezTo>
                  <a:cubicBezTo>
                    <a:pt x="4928870" y="6350000"/>
                    <a:pt x="6350000" y="4928870"/>
                    <a:pt x="6350000" y="3175000"/>
                  </a:cubicBezTo>
                  <a:close/>
                </a:path>
              </a:pathLst>
            </a:custGeom>
            <a:solidFill>
              <a:srgbClr val="000000"/>
            </a:solidFill>
          </p:spPr>
        </p:sp>
        <p:sp>
          <p:nvSpPr>
            <p:cNvPr name="Freeform 11" id="11"/>
            <p:cNvSpPr/>
            <p:nvPr/>
          </p:nvSpPr>
          <p:spPr>
            <a:xfrm flipH="false" flipV="false" rot="0">
              <a:off x="325223" y="364462"/>
              <a:ext cx="5646214" cy="5621077"/>
            </a:xfrm>
            <a:custGeom>
              <a:avLst/>
              <a:gdLst/>
              <a:ahLst/>
              <a:cxnLst/>
              <a:rect r="r" b="b" t="t" l="l"/>
              <a:pathLst>
                <a:path h="5621077" w="5646214">
                  <a:moveTo>
                    <a:pt x="2823107" y="28"/>
                  </a:moveTo>
                  <a:cubicBezTo>
                    <a:pt x="1816014" y="-4476"/>
                    <a:pt x="883489" y="530217"/>
                    <a:pt x="378638" y="1401642"/>
                  </a:cubicBezTo>
                  <a:cubicBezTo>
                    <a:pt x="-126213" y="2273067"/>
                    <a:pt x="-126213" y="3348009"/>
                    <a:pt x="378638" y="4219434"/>
                  </a:cubicBezTo>
                  <a:cubicBezTo>
                    <a:pt x="883489" y="5090859"/>
                    <a:pt x="1816014" y="5625552"/>
                    <a:pt x="2823107" y="5621048"/>
                  </a:cubicBezTo>
                  <a:cubicBezTo>
                    <a:pt x="3830200" y="5625552"/>
                    <a:pt x="4762725" y="5090859"/>
                    <a:pt x="5267576" y="4219434"/>
                  </a:cubicBezTo>
                  <a:cubicBezTo>
                    <a:pt x="5772427" y="3348009"/>
                    <a:pt x="5772427" y="2273067"/>
                    <a:pt x="5267576" y="1401642"/>
                  </a:cubicBezTo>
                  <a:cubicBezTo>
                    <a:pt x="4762725" y="530217"/>
                    <a:pt x="3830200" y="-4476"/>
                    <a:pt x="2823107" y="28"/>
                  </a:cubicBezTo>
                  <a:close/>
                </a:path>
              </a:pathLst>
            </a:custGeom>
            <a:blipFill>
              <a:blip r:embed="rId4"/>
              <a:stretch>
                <a:fillRect l="-24665" t="0" r="-24665" b="0"/>
              </a:stretch>
            </a:blipFill>
          </p:spPr>
        </p:sp>
      </p:grpSp>
      <p:sp>
        <p:nvSpPr>
          <p:cNvPr name="TextBox 12" id="12"/>
          <p:cNvSpPr txBox="true"/>
          <p:nvPr/>
        </p:nvSpPr>
        <p:spPr>
          <a:xfrm rot="0">
            <a:off x="1028700" y="1681184"/>
            <a:ext cx="4243380"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VALUES</a:t>
            </a:r>
          </a:p>
        </p:txBody>
      </p:sp>
      <p:sp>
        <p:nvSpPr>
          <p:cNvPr name="TextBox 13" id="13"/>
          <p:cNvSpPr txBox="true"/>
          <p:nvPr/>
        </p:nvSpPr>
        <p:spPr>
          <a:xfrm rot="0">
            <a:off x="1028700" y="914400"/>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COMPANY</a:t>
            </a:r>
          </a:p>
        </p:txBody>
      </p:sp>
      <p:sp>
        <p:nvSpPr>
          <p:cNvPr name="TextBox 14" id="14"/>
          <p:cNvSpPr txBox="true"/>
          <p:nvPr/>
        </p:nvSpPr>
        <p:spPr>
          <a:xfrm rot="0">
            <a:off x="1028700" y="36711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5" id="15"/>
          <p:cNvSpPr txBox="true"/>
          <p:nvPr/>
        </p:nvSpPr>
        <p:spPr>
          <a:xfrm rot="0">
            <a:off x="1028700" y="56650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8245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5064580" y="1774507"/>
            <a:ext cx="5013951" cy="6737985"/>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0" t="0" r="-102370" b="0"/>
              </a:stretch>
            </a:blipFill>
          </p:spPr>
        </p:sp>
        <p:sp>
          <p:nvSpPr>
            <p:cNvPr name="Freeform 8" id="8"/>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grpSp>
        <p:nvGrpSpPr>
          <p:cNvPr name="Group 9" id="9"/>
          <p:cNvGrpSpPr>
            <a:grpSpLocks noChangeAspect="true"/>
          </p:cNvGrpSpPr>
          <p:nvPr/>
        </p:nvGrpSpPr>
        <p:grpSpPr>
          <a:xfrm rot="0">
            <a:off x="1171575" y="1793380"/>
            <a:ext cx="3073669" cy="3174485"/>
            <a:chOff x="0" y="0"/>
            <a:chExt cx="6350000" cy="6558280"/>
          </a:xfrm>
        </p:grpSpPr>
        <p:sp>
          <p:nvSpPr>
            <p:cNvPr name="Freeform 10" id="10"/>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4"/>
              <a:stretch>
                <a:fillRect l="-27495" t="0" r="-27495" b="0"/>
              </a:stretch>
            </a:blipFill>
          </p:spPr>
        </p:sp>
        <p:sp>
          <p:nvSpPr>
            <p:cNvPr name="Freeform 11" id="11"/>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004AAD"/>
            </a:solidFill>
          </p:spPr>
        </p:sp>
      </p:grpSp>
      <p:sp>
        <p:nvSpPr>
          <p:cNvPr name="TextBox 12" id="12"/>
          <p:cNvSpPr txBox="true"/>
          <p:nvPr/>
        </p:nvSpPr>
        <p:spPr>
          <a:xfrm rot="0">
            <a:off x="11982450" y="1681184"/>
            <a:ext cx="4243380"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HISTORY</a:t>
            </a:r>
          </a:p>
        </p:txBody>
      </p:sp>
      <p:sp>
        <p:nvSpPr>
          <p:cNvPr name="TextBox 13" id="13"/>
          <p:cNvSpPr txBox="true"/>
          <p:nvPr/>
        </p:nvSpPr>
        <p:spPr>
          <a:xfrm rot="0">
            <a:off x="11982450" y="914400"/>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COMPANY</a:t>
            </a:r>
          </a:p>
        </p:txBody>
      </p:sp>
      <p:sp>
        <p:nvSpPr>
          <p:cNvPr name="TextBox 14" id="14"/>
          <p:cNvSpPr txBox="true"/>
          <p:nvPr/>
        </p:nvSpPr>
        <p:spPr>
          <a:xfrm rot="0">
            <a:off x="11982450" y="36711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5" id="15"/>
          <p:cNvSpPr txBox="true"/>
          <p:nvPr/>
        </p:nvSpPr>
        <p:spPr>
          <a:xfrm rot="0">
            <a:off x="11982450" y="56650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grpSp>
        <p:nvGrpSpPr>
          <p:cNvPr name="Group 16" id="16"/>
          <p:cNvGrpSpPr>
            <a:grpSpLocks noChangeAspect="true"/>
          </p:cNvGrpSpPr>
          <p:nvPr/>
        </p:nvGrpSpPr>
        <p:grpSpPr>
          <a:xfrm rot="0">
            <a:off x="1171575" y="5319135"/>
            <a:ext cx="3073669" cy="3174485"/>
            <a:chOff x="0" y="0"/>
            <a:chExt cx="6350000" cy="6558280"/>
          </a:xfrm>
        </p:grpSpPr>
        <p:sp>
          <p:nvSpPr>
            <p:cNvPr name="Freeform 17" id="17"/>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5"/>
              <a:stretch>
                <a:fillRect l="-27519" t="0" r="-27519" b="0"/>
              </a:stretch>
            </a:blipFill>
          </p:spPr>
        </p:sp>
        <p:sp>
          <p:nvSpPr>
            <p:cNvPr name="Freeform 18" id="18"/>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004AAD"/>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8044798" y="1093787"/>
            <a:ext cx="3935158" cy="3753414"/>
            <a:chOff x="0" y="0"/>
            <a:chExt cx="6324600" cy="6032500"/>
          </a:xfrm>
        </p:grpSpPr>
        <p:sp>
          <p:nvSpPr>
            <p:cNvPr name="Freeform 7" id="7"/>
            <p:cNvSpPr/>
            <p:nvPr/>
          </p:nvSpPr>
          <p:spPr>
            <a:xfrm flipH="false" flipV="false" rot="0">
              <a:off x="127000" y="127000"/>
              <a:ext cx="6070600" cy="5778500"/>
            </a:xfrm>
            <a:custGeom>
              <a:avLst/>
              <a:gdLst/>
              <a:ahLst/>
              <a:cxnLst/>
              <a:rect r="r" b="b" t="t" l="l"/>
              <a:pathLst>
                <a:path h="5778500" w="6070600">
                  <a:moveTo>
                    <a:pt x="0" y="0"/>
                  </a:moveTo>
                  <a:lnTo>
                    <a:pt x="6070600" y="0"/>
                  </a:lnTo>
                  <a:lnTo>
                    <a:pt x="6070600" y="5778500"/>
                  </a:lnTo>
                  <a:lnTo>
                    <a:pt x="0" y="5778500"/>
                  </a:lnTo>
                  <a:close/>
                </a:path>
              </a:pathLst>
            </a:custGeom>
            <a:blipFill>
              <a:blip r:embed="rId3"/>
              <a:stretch>
                <a:fillRect l="-21391" t="0" r="-21391" b="0"/>
              </a:stretch>
            </a:blipFill>
          </p:spPr>
        </p:sp>
        <p:sp>
          <p:nvSpPr>
            <p:cNvPr name="Freeform 8" id="8"/>
            <p:cNvSpPr/>
            <p:nvPr/>
          </p:nvSpPr>
          <p:spPr>
            <a:xfrm flipH="false" flipV="false" rot="0">
              <a:off x="0" y="0"/>
              <a:ext cx="6324600" cy="6032500"/>
            </a:xfrm>
            <a:custGeom>
              <a:avLst/>
              <a:gdLst/>
              <a:ahLst/>
              <a:cxnLst/>
              <a:rect r="r" b="b" t="t" l="l"/>
              <a:pathLst>
                <a:path h="6032500" w="6324600">
                  <a:moveTo>
                    <a:pt x="6324600" y="6032500"/>
                  </a:moveTo>
                  <a:lnTo>
                    <a:pt x="0" y="6032500"/>
                  </a:lnTo>
                  <a:lnTo>
                    <a:pt x="0" y="0"/>
                  </a:lnTo>
                  <a:lnTo>
                    <a:pt x="6324600" y="0"/>
                  </a:lnTo>
                  <a:lnTo>
                    <a:pt x="6324600" y="6032500"/>
                  </a:lnTo>
                  <a:close/>
                  <a:moveTo>
                    <a:pt x="127000" y="5905500"/>
                  </a:moveTo>
                  <a:lnTo>
                    <a:pt x="6197600" y="5905500"/>
                  </a:lnTo>
                  <a:lnTo>
                    <a:pt x="6197600" y="127000"/>
                  </a:lnTo>
                  <a:lnTo>
                    <a:pt x="127000" y="127000"/>
                  </a:lnTo>
                  <a:lnTo>
                    <a:pt x="127000" y="5905500"/>
                  </a:lnTo>
                  <a:close/>
                </a:path>
              </a:pathLst>
            </a:custGeom>
            <a:solidFill>
              <a:srgbClr val="004AAD"/>
            </a:solidFill>
          </p:spPr>
        </p:sp>
      </p:grpSp>
      <p:sp>
        <p:nvSpPr>
          <p:cNvPr name="TextBox 9" id="9"/>
          <p:cNvSpPr txBox="true"/>
          <p:nvPr/>
        </p:nvSpPr>
        <p:spPr>
          <a:xfrm rot="0">
            <a:off x="1028700" y="1726528"/>
            <a:ext cx="4243380"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PROJECT</a:t>
            </a:r>
          </a:p>
        </p:txBody>
      </p:sp>
      <p:sp>
        <p:nvSpPr>
          <p:cNvPr name="TextBox 10" id="10"/>
          <p:cNvSpPr txBox="true"/>
          <p:nvPr/>
        </p:nvSpPr>
        <p:spPr>
          <a:xfrm rot="0">
            <a:off x="1028700" y="914400"/>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OUR FUTURE</a:t>
            </a:r>
          </a:p>
        </p:txBody>
      </p:sp>
      <p:sp>
        <p:nvSpPr>
          <p:cNvPr name="TextBox 11" id="11"/>
          <p:cNvSpPr txBox="true"/>
          <p:nvPr/>
        </p:nvSpPr>
        <p:spPr>
          <a:xfrm rot="0">
            <a:off x="1028700" y="36711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2" id="12"/>
          <p:cNvSpPr txBox="true"/>
          <p:nvPr/>
        </p:nvSpPr>
        <p:spPr>
          <a:xfrm rot="0">
            <a:off x="1028700" y="56650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3" id="13"/>
          <p:cNvSpPr txBox="true"/>
          <p:nvPr/>
        </p:nvSpPr>
        <p:spPr>
          <a:xfrm rot="0">
            <a:off x="12299298" y="1801140"/>
            <a:ext cx="4960002" cy="2388573"/>
          </a:xfrm>
          <a:prstGeom prst="rect">
            <a:avLst/>
          </a:prstGeom>
        </p:spPr>
        <p:txBody>
          <a:bodyPr anchor="t" rtlCol="false" tIns="0" lIns="0" bIns="0" rIns="0">
            <a:spAutoFit/>
          </a:bodyPr>
          <a:lstStyle/>
          <a:p>
            <a:pPr algn="l">
              <a:lnSpc>
                <a:spcPts val="3796"/>
              </a:lnSpc>
              <a:spcBef>
                <a:spcPct val="0"/>
              </a:spcBef>
            </a:pPr>
            <a:r>
              <a:rPr lang="en-US" sz="2711">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4" id="14"/>
          <p:cNvSpPr txBox="true"/>
          <p:nvPr/>
        </p:nvSpPr>
        <p:spPr>
          <a:xfrm rot="0">
            <a:off x="8044798" y="6241329"/>
            <a:ext cx="4823444" cy="2388573"/>
          </a:xfrm>
          <a:prstGeom prst="rect">
            <a:avLst/>
          </a:prstGeom>
        </p:spPr>
        <p:txBody>
          <a:bodyPr anchor="t" rtlCol="false" tIns="0" lIns="0" bIns="0" rIns="0">
            <a:spAutoFit/>
          </a:bodyPr>
          <a:lstStyle/>
          <a:p>
            <a:pPr algn="l">
              <a:lnSpc>
                <a:spcPts val="3796"/>
              </a:lnSpc>
              <a:spcBef>
                <a:spcPct val="0"/>
              </a:spcBef>
            </a:pPr>
            <a:r>
              <a:rPr lang="en-US" sz="2711">
                <a:solidFill>
                  <a:srgbClr val="000000"/>
                </a:solidFill>
                <a:latin typeface="Poppins"/>
                <a:ea typeface="Poppins"/>
                <a:cs typeface="Poppins"/>
                <a:sym typeface="Poppins"/>
              </a:rPr>
              <a:t>Lorem ipsum dolor sit amet, consectetur adipiscing elit, sed do eiusmod tempor incididunt ut labore et dolore .</a:t>
            </a:r>
          </a:p>
        </p:txBody>
      </p:sp>
      <p:grpSp>
        <p:nvGrpSpPr>
          <p:cNvPr name="Group 15" id="15"/>
          <p:cNvGrpSpPr>
            <a:grpSpLocks noChangeAspect="true"/>
          </p:cNvGrpSpPr>
          <p:nvPr/>
        </p:nvGrpSpPr>
        <p:grpSpPr>
          <a:xfrm rot="0">
            <a:off x="13355892" y="5439799"/>
            <a:ext cx="3935158" cy="3753414"/>
            <a:chOff x="0" y="0"/>
            <a:chExt cx="6324600" cy="6032500"/>
          </a:xfrm>
        </p:grpSpPr>
        <p:sp>
          <p:nvSpPr>
            <p:cNvPr name="Freeform 16" id="16"/>
            <p:cNvSpPr/>
            <p:nvPr/>
          </p:nvSpPr>
          <p:spPr>
            <a:xfrm flipH="false" flipV="false" rot="0">
              <a:off x="127000" y="127000"/>
              <a:ext cx="6070600" cy="5778500"/>
            </a:xfrm>
            <a:custGeom>
              <a:avLst/>
              <a:gdLst/>
              <a:ahLst/>
              <a:cxnLst/>
              <a:rect r="r" b="b" t="t" l="l"/>
              <a:pathLst>
                <a:path h="5778500" w="6070600">
                  <a:moveTo>
                    <a:pt x="0" y="0"/>
                  </a:moveTo>
                  <a:lnTo>
                    <a:pt x="6070600" y="0"/>
                  </a:lnTo>
                  <a:lnTo>
                    <a:pt x="6070600" y="5778500"/>
                  </a:lnTo>
                  <a:lnTo>
                    <a:pt x="0" y="5778500"/>
                  </a:lnTo>
                  <a:close/>
                </a:path>
              </a:pathLst>
            </a:custGeom>
            <a:blipFill>
              <a:blip r:embed="rId4"/>
              <a:stretch>
                <a:fillRect l="-21391" t="0" r="-21391" b="0"/>
              </a:stretch>
            </a:blipFill>
          </p:spPr>
        </p:sp>
        <p:sp>
          <p:nvSpPr>
            <p:cNvPr name="Freeform 17" id="17"/>
            <p:cNvSpPr/>
            <p:nvPr/>
          </p:nvSpPr>
          <p:spPr>
            <a:xfrm flipH="false" flipV="false" rot="0">
              <a:off x="0" y="0"/>
              <a:ext cx="6324600" cy="6032500"/>
            </a:xfrm>
            <a:custGeom>
              <a:avLst/>
              <a:gdLst/>
              <a:ahLst/>
              <a:cxnLst/>
              <a:rect r="r" b="b" t="t" l="l"/>
              <a:pathLst>
                <a:path h="6032500" w="6324600">
                  <a:moveTo>
                    <a:pt x="6324600" y="6032500"/>
                  </a:moveTo>
                  <a:lnTo>
                    <a:pt x="0" y="6032500"/>
                  </a:lnTo>
                  <a:lnTo>
                    <a:pt x="0" y="0"/>
                  </a:lnTo>
                  <a:lnTo>
                    <a:pt x="6324600" y="0"/>
                  </a:lnTo>
                  <a:lnTo>
                    <a:pt x="6324600" y="6032500"/>
                  </a:lnTo>
                  <a:close/>
                  <a:moveTo>
                    <a:pt x="127000" y="5905500"/>
                  </a:moveTo>
                  <a:lnTo>
                    <a:pt x="6197600" y="5905500"/>
                  </a:lnTo>
                  <a:lnTo>
                    <a:pt x="6197600" y="127000"/>
                  </a:lnTo>
                  <a:lnTo>
                    <a:pt x="127000" y="127000"/>
                  </a:lnTo>
                  <a:lnTo>
                    <a:pt x="127000" y="5905500"/>
                  </a:lnTo>
                  <a:close/>
                </a:path>
              </a:pathLst>
            </a:custGeom>
            <a:solidFill>
              <a:srgbClr val="004AAD"/>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67950" y="806450"/>
            <a:ext cx="6294884" cy="8674100"/>
            <a:chOff x="0" y="0"/>
            <a:chExt cx="1657912" cy="2284537"/>
          </a:xfrm>
        </p:grpSpPr>
        <p:sp>
          <p:nvSpPr>
            <p:cNvPr name="Freeform 7" id="7"/>
            <p:cNvSpPr/>
            <p:nvPr/>
          </p:nvSpPr>
          <p:spPr>
            <a:xfrm flipH="false" flipV="false" rot="0">
              <a:off x="0" y="0"/>
              <a:ext cx="1657912" cy="2284537"/>
            </a:xfrm>
            <a:custGeom>
              <a:avLst/>
              <a:gdLst/>
              <a:ahLst/>
              <a:cxnLst/>
              <a:rect r="r" b="b" t="t" l="l"/>
              <a:pathLst>
                <a:path h="2284537" w="1657912">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name="TextBox 8" id="8"/>
            <p:cNvSpPr txBox="true"/>
            <p:nvPr/>
          </p:nvSpPr>
          <p:spPr>
            <a:xfrm>
              <a:off x="0" y="-47625"/>
              <a:ext cx="1657912" cy="233216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1726528"/>
            <a:ext cx="4243380"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MISSION</a:t>
            </a:r>
          </a:p>
        </p:txBody>
      </p:sp>
      <p:sp>
        <p:nvSpPr>
          <p:cNvPr name="TextBox 10" id="10"/>
          <p:cNvSpPr txBox="true"/>
          <p:nvPr/>
        </p:nvSpPr>
        <p:spPr>
          <a:xfrm rot="0">
            <a:off x="1028700" y="914400"/>
            <a:ext cx="5634574"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OUR COMPANY</a:t>
            </a:r>
          </a:p>
        </p:txBody>
      </p:sp>
      <p:sp>
        <p:nvSpPr>
          <p:cNvPr name="TextBox 11" id="11"/>
          <p:cNvSpPr txBox="true"/>
          <p:nvPr/>
        </p:nvSpPr>
        <p:spPr>
          <a:xfrm rot="0">
            <a:off x="1028700" y="36711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2" id="12"/>
          <p:cNvSpPr txBox="true"/>
          <p:nvPr/>
        </p:nvSpPr>
        <p:spPr>
          <a:xfrm rot="0">
            <a:off x="1028700" y="56650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grpSp>
        <p:nvGrpSpPr>
          <p:cNvPr name="Group 13" id="13"/>
          <p:cNvGrpSpPr/>
          <p:nvPr/>
        </p:nvGrpSpPr>
        <p:grpSpPr>
          <a:xfrm rot="0">
            <a:off x="8862583" y="1606753"/>
            <a:ext cx="1868266" cy="18682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862583" y="4210291"/>
            <a:ext cx="1868266" cy="18682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8862583" y="6811982"/>
            <a:ext cx="1868266" cy="18682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8977298" y="190147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name="TextBox 23" id="23"/>
          <p:cNvSpPr txBox="true"/>
          <p:nvPr/>
        </p:nvSpPr>
        <p:spPr>
          <a:xfrm rot="0">
            <a:off x="8977298" y="4495485"/>
            <a:ext cx="1638836" cy="1335977"/>
          </a:xfrm>
          <a:prstGeom prst="rect">
            <a:avLst/>
          </a:prstGeom>
        </p:spPr>
        <p:txBody>
          <a:bodyPr anchor="t" rtlCol="false" tIns="0" lIns="0" bIns="0" rIns="0">
            <a:spAutoFit/>
          </a:bodyPr>
          <a:lstStyle/>
          <a:p>
            <a:pPr algn="ctr">
              <a:lnSpc>
                <a:spcPts val="11002"/>
              </a:lnSpc>
            </a:pPr>
            <a:r>
              <a:rPr lang="en-US" b="true" sz="7859">
                <a:solidFill>
                  <a:srgbClr val="000000"/>
                </a:solidFill>
                <a:latin typeface="League Spartan"/>
                <a:ea typeface="League Spartan"/>
                <a:cs typeface="League Spartan"/>
                <a:sym typeface="League Spartan"/>
              </a:rPr>
              <a:t>2</a:t>
            </a:r>
          </a:p>
        </p:txBody>
      </p:sp>
      <p:sp>
        <p:nvSpPr>
          <p:cNvPr name="TextBox 24" id="24"/>
          <p:cNvSpPr txBox="true"/>
          <p:nvPr/>
        </p:nvSpPr>
        <p:spPr>
          <a:xfrm rot="0">
            <a:off x="8977298" y="709773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3</a:t>
            </a:r>
          </a:p>
        </p:txBody>
      </p:sp>
      <p:sp>
        <p:nvSpPr>
          <p:cNvPr name="TextBox 25" id="25"/>
          <p:cNvSpPr txBox="true"/>
          <p:nvPr/>
        </p:nvSpPr>
        <p:spPr>
          <a:xfrm rot="0">
            <a:off x="11309261" y="2134861"/>
            <a:ext cx="4856091" cy="961540"/>
          </a:xfrm>
          <a:prstGeom prst="rect">
            <a:avLst/>
          </a:prstGeom>
        </p:spPr>
        <p:txBody>
          <a:bodyPr anchor="t" rtlCol="false" tIns="0" lIns="0" bIns="0" rIns="0">
            <a:spAutoFit/>
          </a:bodyPr>
          <a:lstStyle/>
          <a:p>
            <a:pPr algn="l">
              <a:lnSpc>
                <a:spcPts val="2565"/>
              </a:lnSpc>
              <a:spcBef>
                <a:spcPct val="0"/>
              </a:spcBef>
            </a:pPr>
            <a:r>
              <a:rPr lang="en-US" sz="1832">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26" id="26"/>
          <p:cNvSpPr txBox="true"/>
          <p:nvPr/>
        </p:nvSpPr>
        <p:spPr>
          <a:xfrm rot="0">
            <a:off x="11309261" y="4638917"/>
            <a:ext cx="4856091" cy="961540"/>
          </a:xfrm>
          <a:prstGeom prst="rect">
            <a:avLst/>
          </a:prstGeom>
        </p:spPr>
        <p:txBody>
          <a:bodyPr anchor="t" rtlCol="false" tIns="0" lIns="0" bIns="0" rIns="0">
            <a:spAutoFit/>
          </a:bodyPr>
          <a:lstStyle/>
          <a:p>
            <a:pPr algn="l">
              <a:lnSpc>
                <a:spcPts val="2565"/>
              </a:lnSpc>
              <a:spcBef>
                <a:spcPct val="0"/>
              </a:spcBef>
            </a:pPr>
            <a:r>
              <a:rPr lang="en-US" sz="1832">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27" id="27"/>
          <p:cNvSpPr txBox="true"/>
          <p:nvPr/>
        </p:nvSpPr>
        <p:spPr>
          <a:xfrm rot="0">
            <a:off x="11309261" y="7241532"/>
            <a:ext cx="4856091" cy="961540"/>
          </a:xfrm>
          <a:prstGeom prst="rect">
            <a:avLst/>
          </a:prstGeom>
        </p:spPr>
        <p:txBody>
          <a:bodyPr anchor="t" rtlCol="false" tIns="0" lIns="0" bIns="0" rIns="0">
            <a:spAutoFit/>
          </a:bodyPr>
          <a:lstStyle/>
          <a:p>
            <a:pPr algn="l">
              <a:lnSpc>
                <a:spcPts val="2565"/>
              </a:lnSpc>
              <a:spcBef>
                <a:spcPct val="0"/>
              </a:spcBef>
            </a:pPr>
            <a:r>
              <a:rPr lang="en-US" sz="1832">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24726"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1624726" y="1726528"/>
            <a:ext cx="4243380"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VISION</a:t>
            </a:r>
          </a:p>
        </p:txBody>
      </p:sp>
      <p:sp>
        <p:nvSpPr>
          <p:cNvPr name="TextBox 7" id="7"/>
          <p:cNvSpPr txBox="true"/>
          <p:nvPr/>
        </p:nvSpPr>
        <p:spPr>
          <a:xfrm rot="0">
            <a:off x="11624726" y="914400"/>
            <a:ext cx="5634574"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OUR COMPANY</a:t>
            </a:r>
          </a:p>
        </p:txBody>
      </p:sp>
      <p:sp>
        <p:nvSpPr>
          <p:cNvPr name="TextBox 8" id="8"/>
          <p:cNvSpPr txBox="true"/>
          <p:nvPr/>
        </p:nvSpPr>
        <p:spPr>
          <a:xfrm rot="0">
            <a:off x="11624726" y="36711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9" id="9"/>
          <p:cNvSpPr txBox="true"/>
          <p:nvPr/>
        </p:nvSpPr>
        <p:spPr>
          <a:xfrm rot="0">
            <a:off x="11624726" y="56650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grpSp>
        <p:nvGrpSpPr>
          <p:cNvPr name="Group 10" id="10"/>
          <p:cNvGrpSpPr/>
          <p:nvPr/>
        </p:nvGrpSpPr>
        <p:grpSpPr>
          <a:xfrm rot="0">
            <a:off x="806450" y="806450"/>
            <a:ext cx="6990015" cy="8674100"/>
            <a:chOff x="0" y="0"/>
            <a:chExt cx="1840992" cy="2284537"/>
          </a:xfrm>
        </p:grpSpPr>
        <p:sp>
          <p:nvSpPr>
            <p:cNvPr name="Freeform 11" id="11"/>
            <p:cNvSpPr/>
            <p:nvPr/>
          </p:nvSpPr>
          <p:spPr>
            <a:xfrm flipH="false" flipV="false" rot="0">
              <a:off x="0" y="0"/>
              <a:ext cx="1840992" cy="2284537"/>
            </a:xfrm>
            <a:custGeom>
              <a:avLst/>
              <a:gdLst/>
              <a:ahLst/>
              <a:cxnLst/>
              <a:rect r="r" b="b" t="t" l="l"/>
              <a:pathLst>
                <a:path h="2284537" w="1840992">
                  <a:moveTo>
                    <a:pt x="56486" y="0"/>
                  </a:moveTo>
                  <a:lnTo>
                    <a:pt x="1784506" y="0"/>
                  </a:lnTo>
                  <a:cubicBezTo>
                    <a:pt x="1799487" y="0"/>
                    <a:pt x="1813854" y="5951"/>
                    <a:pt x="1824447" y="16544"/>
                  </a:cubicBezTo>
                  <a:cubicBezTo>
                    <a:pt x="1835041" y="27138"/>
                    <a:pt x="1840992" y="41505"/>
                    <a:pt x="1840992" y="56486"/>
                  </a:cubicBezTo>
                  <a:lnTo>
                    <a:pt x="1840992" y="2228051"/>
                  </a:lnTo>
                  <a:cubicBezTo>
                    <a:pt x="1840992" y="2243032"/>
                    <a:pt x="1835041" y="2257399"/>
                    <a:pt x="1824447" y="2267992"/>
                  </a:cubicBezTo>
                  <a:cubicBezTo>
                    <a:pt x="1813854" y="2278586"/>
                    <a:pt x="1799487" y="2284537"/>
                    <a:pt x="1784506" y="2284537"/>
                  </a:cubicBezTo>
                  <a:lnTo>
                    <a:pt x="56486" y="2284537"/>
                  </a:lnTo>
                  <a:cubicBezTo>
                    <a:pt x="41505" y="2284537"/>
                    <a:pt x="27138" y="2278586"/>
                    <a:pt x="16544" y="2267992"/>
                  </a:cubicBezTo>
                  <a:cubicBezTo>
                    <a:pt x="5951" y="2257399"/>
                    <a:pt x="0" y="2243032"/>
                    <a:pt x="0" y="2228051"/>
                  </a:cubicBezTo>
                  <a:lnTo>
                    <a:pt x="0" y="56486"/>
                  </a:lnTo>
                  <a:cubicBezTo>
                    <a:pt x="0" y="41505"/>
                    <a:pt x="5951" y="27138"/>
                    <a:pt x="16544" y="16544"/>
                  </a:cubicBezTo>
                  <a:cubicBezTo>
                    <a:pt x="27138" y="5951"/>
                    <a:pt x="41505" y="0"/>
                    <a:pt x="56486" y="0"/>
                  </a:cubicBezTo>
                  <a:close/>
                </a:path>
              </a:pathLst>
            </a:custGeom>
            <a:solidFill>
              <a:srgbClr val="004AAD"/>
            </a:solidFill>
          </p:spPr>
        </p:sp>
        <p:sp>
          <p:nvSpPr>
            <p:cNvPr name="TextBox 12" id="12"/>
            <p:cNvSpPr txBox="true"/>
            <p:nvPr/>
          </p:nvSpPr>
          <p:spPr>
            <a:xfrm>
              <a:off x="0" y="-47625"/>
              <a:ext cx="1840992" cy="2332162"/>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078172" y="2129313"/>
            <a:ext cx="4856091" cy="972636"/>
          </a:xfrm>
          <a:prstGeom prst="rect">
            <a:avLst/>
          </a:prstGeom>
        </p:spPr>
        <p:txBody>
          <a:bodyPr anchor="t" rtlCol="false" tIns="0" lIns="0" bIns="0" rIns="0">
            <a:spAutoFit/>
          </a:bodyPr>
          <a:lstStyle/>
          <a:p>
            <a:pPr algn="r">
              <a:lnSpc>
                <a:spcPts val="2565"/>
              </a:lnSpc>
              <a:spcBef>
                <a:spcPct val="0"/>
              </a:spcBef>
            </a:pPr>
            <a:r>
              <a:rPr lang="en-US" sz="1832">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4" id="14"/>
          <p:cNvSpPr txBox="true"/>
          <p:nvPr/>
        </p:nvSpPr>
        <p:spPr>
          <a:xfrm rot="0">
            <a:off x="1078172" y="4633369"/>
            <a:ext cx="4856091" cy="972636"/>
          </a:xfrm>
          <a:prstGeom prst="rect">
            <a:avLst/>
          </a:prstGeom>
        </p:spPr>
        <p:txBody>
          <a:bodyPr anchor="t" rtlCol="false" tIns="0" lIns="0" bIns="0" rIns="0">
            <a:spAutoFit/>
          </a:bodyPr>
          <a:lstStyle/>
          <a:p>
            <a:pPr algn="r">
              <a:lnSpc>
                <a:spcPts val="2565"/>
              </a:lnSpc>
              <a:spcBef>
                <a:spcPct val="0"/>
              </a:spcBef>
            </a:pPr>
            <a:r>
              <a:rPr lang="en-US" sz="1832">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5" id="15"/>
          <p:cNvSpPr txBox="true"/>
          <p:nvPr/>
        </p:nvSpPr>
        <p:spPr>
          <a:xfrm rot="0">
            <a:off x="1078172" y="7336782"/>
            <a:ext cx="4856091" cy="972636"/>
          </a:xfrm>
          <a:prstGeom prst="rect">
            <a:avLst/>
          </a:prstGeom>
        </p:spPr>
        <p:txBody>
          <a:bodyPr anchor="t" rtlCol="false" tIns="0" lIns="0" bIns="0" rIns="0">
            <a:spAutoFit/>
          </a:bodyPr>
          <a:lstStyle/>
          <a:p>
            <a:pPr algn="r">
              <a:lnSpc>
                <a:spcPts val="2565"/>
              </a:lnSpc>
              <a:spcBef>
                <a:spcPct val="0"/>
              </a:spcBef>
            </a:pPr>
            <a:r>
              <a:rPr lang="en-US" sz="1832">
                <a:solidFill>
                  <a:srgbClr val="303642"/>
                </a:solidFill>
                <a:latin typeface="Poppins"/>
                <a:ea typeface="Poppins"/>
                <a:cs typeface="Poppins"/>
                <a:sym typeface="Poppins"/>
              </a:rPr>
              <a:t>Lorem ipsum dolor sit amet, consectetur adipiscing elit, sed do eiusmod tempor incididunt ut labore et dolore </a:t>
            </a:r>
          </a:p>
        </p:txBody>
      </p:sp>
      <p:grpSp>
        <p:nvGrpSpPr>
          <p:cNvPr name="Group 16" id="16"/>
          <p:cNvGrpSpPr/>
          <p:nvPr/>
        </p:nvGrpSpPr>
        <p:grpSpPr>
          <a:xfrm rot="0">
            <a:off x="6862333" y="1606753"/>
            <a:ext cx="1868266" cy="18682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6862333" y="4210291"/>
            <a:ext cx="1868266" cy="18682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6862333" y="6811982"/>
            <a:ext cx="1868266" cy="186826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6977048" y="190147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name="TextBox 26" id="26"/>
          <p:cNvSpPr txBox="true"/>
          <p:nvPr/>
        </p:nvSpPr>
        <p:spPr>
          <a:xfrm rot="0">
            <a:off x="6977048" y="4495485"/>
            <a:ext cx="1638836" cy="1335977"/>
          </a:xfrm>
          <a:prstGeom prst="rect">
            <a:avLst/>
          </a:prstGeom>
        </p:spPr>
        <p:txBody>
          <a:bodyPr anchor="t" rtlCol="false" tIns="0" lIns="0" bIns="0" rIns="0">
            <a:spAutoFit/>
          </a:bodyPr>
          <a:lstStyle/>
          <a:p>
            <a:pPr algn="ctr">
              <a:lnSpc>
                <a:spcPts val="11002"/>
              </a:lnSpc>
            </a:pPr>
            <a:r>
              <a:rPr lang="en-US" b="true" sz="7859">
                <a:solidFill>
                  <a:srgbClr val="000000"/>
                </a:solidFill>
                <a:latin typeface="League Spartan"/>
                <a:ea typeface="League Spartan"/>
                <a:cs typeface="League Spartan"/>
                <a:sym typeface="League Spartan"/>
              </a:rPr>
              <a:t>2</a:t>
            </a:r>
          </a:p>
        </p:txBody>
      </p:sp>
      <p:sp>
        <p:nvSpPr>
          <p:cNvPr name="TextBox 27" id="27"/>
          <p:cNvSpPr txBox="true"/>
          <p:nvPr/>
        </p:nvSpPr>
        <p:spPr>
          <a:xfrm rot="0">
            <a:off x="6977048" y="709773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413750" y="1110371"/>
            <a:ext cx="3340100" cy="3784600"/>
            <a:chOff x="0" y="0"/>
            <a:chExt cx="879697" cy="996767"/>
          </a:xfrm>
        </p:grpSpPr>
        <p:sp>
          <p:nvSpPr>
            <p:cNvPr name="Freeform 7" id="7"/>
            <p:cNvSpPr/>
            <p:nvPr/>
          </p:nvSpPr>
          <p:spPr>
            <a:xfrm flipH="false" flipV="false" rot="0">
              <a:off x="0" y="0"/>
              <a:ext cx="879697" cy="996767"/>
            </a:xfrm>
            <a:custGeom>
              <a:avLst/>
              <a:gdLst/>
              <a:ahLst/>
              <a:cxnLst/>
              <a:rect r="r" b="b" t="t" l="l"/>
              <a:pathLst>
                <a:path h="996767" w="879697">
                  <a:moveTo>
                    <a:pt x="118211" y="0"/>
                  </a:moveTo>
                  <a:lnTo>
                    <a:pt x="761486" y="0"/>
                  </a:lnTo>
                  <a:cubicBezTo>
                    <a:pt x="826772" y="0"/>
                    <a:pt x="879697" y="52925"/>
                    <a:pt x="879697" y="118211"/>
                  </a:cubicBezTo>
                  <a:lnTo>
                    <a:pt x="879697" y="878556"/>
                  </a:lnTo>
                  <a:cubicBezTo>
                    <a:pt x="879697" y="909907"/>
                    <a:pt x="867243" y="939975"/>
                    <a:pt x="845074" y="962144"/>
                  </a:cubicBezTo>
                  <a:cubicBezTo>
                    <a:pt x="822905" y="984313"/>
                    <a:pt x="792837" y="996767"/>
                    <a:pt x="761486" y="996767"/>
                  </a:cubicBezTo>
                  <a:lnTo>
                    <a:pt x="118211" y="996767"/>
                  </a:lnTo>
                  <a:cubicBezTo>
                    <a:pt x="86860" y="996767"/>
                    <a:pt x="56792" y="984313"/>
                    <a:pt x="34623" y="962144"/>
                  </a:cubicBezTo>
                  <a:cubicBezTo>
                    <a:pt x="12454" y="939975"/>
                    <a:pt x="0" y="909907"/>
                    <a:pt x="0" y="878556"/>
                  </a:cubicBezTo>
                  <a:lnTo>
                    <a:pt x="0" y="118211"/>
                  </a:lnTo>
                  <a:cubicBezTo>
                    <a:pt x="0" y="86860"/>
                    <a:pt x="12454" y="56792"/>
                    <a:pt x="34623" y="34623"/>
                  </a:cubicBezTo>
                  <a:cubicBezTo>
                    <a:pt x="56792" y="12454"/>
                    <a:pt x="86860" y="0"/>
                    <a:pt x="118211" y="0"/>
                  </a:cubicBezTo>
                  <a:close/>
                </a:path>
              </a:pathLst>
            </a:custGeom>
            <a:solidFill>
              <a:srgbClr val="004AAD"/>
            </a:solidFill>
          </p:spPr>
        </p:sp>
        <p:sp>
          <p:nvSpPr>
            <p:cNvPr name="TextBox 8" id="8"/>
            <p:cNvSpPr txBox="true"/>
            <p:nvPr/>
          </p:nvSpPr>
          <p:spPr>
            <a:xfrm>
              <a:off x="0" y="-47625"/>
              <a:ext cx="879697" cy="104439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1726528"/>
            <a:ext cx="5898349"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PERFORMANCE</a:t>
            </a:r>
          </a:p>
        </p:txBody>
      </p:sp>
      <p:sp>
        <p:nvSpPr>
          <p:cNvPr name="TextBox 10" id="10"/>
          <p:cNvSpPr txBox="true"/>
          <p:nvPr/>
        </p:nvSpPr>
        <p:spPr>
          <a:xfrm rot="0">
            <a:off x="1028700" y="914400"/>
            <a:ext cx="5634574"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OUR COMPANY</a:t>
            </a:r>
          </a:p>
        </p:txBody>
      </p:sp>
      <p:sp>
        <p:nvSpPr>
          <p:cNvPr name="TextBox 11" id="11"/>
          <p:cNvSpPr txBox="true"/>
          <p:nvPr/>
        </p:nvSpPr>
        <p:spPr>
          <a:xfrm rot="0">
            <a:off x="1028700" y="36711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2" id="12"/>
          <p:cNvSpPr txBox="true"/>
          <p:nvPr/>
        </p:nvSpPr>
        <p:spPr>
          <a:xfrm rot="0">
            <a:off x="1028700" y="5665079"/>
            <a:ext cx="56345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grpSp>
        <p:nvGrpSpPr>
          <p:cNvPr name="Group 13" id="13"/>
          <p:cNvGrpSpPr/>
          <p:nvPr/>
        </p:nvGrpSpPr>
        <p:grpSpPr>
          <a:xfrm rot="0">
            <a:off x="8413750" y="5473700"/>
            <a:ext cx="3340100" cy="3784600"/>
            <a:chOff x="0" y="0"/>
            <a:chExt cx="879697" cy="996767"/>
          </a:xfrm>
        </p:grpSpPr>
        <p:sp>
          <p:nvSpPr>
            <p:cNvPr name="Freeform 14" id="14"/>
            <p:cNvSpPr/>
            <p:nvPr/>
          </p:nvSpPr>
          <p:spPr>
            <a:xfrm flipH="false" flipV="false" rot="0">
              <a:off x="0" y="0"/>
              <a:ext cx="879697" cy="996767"/>
            </a:xfrm>
            <a:custGeom>
              <a:avLst/>
              <a:gdLst/>
              <a:ahLst/>
              <a:cxnLst/>
              <a:rect r="r" b="b" t="t" l="l"/>
              <a:pathLst>
                <a:path h="996767" w="879697">
                  <a:moveTo>
                    <a:pt x="118211" y="0"/>
                  </a:moveTo>
                  <a:lnTo>
                    <a:pt x="761486" y="0"/>
                  </a:lnTo>
                  <a:cubicBezTo>
                    <a:pt x="826772" y="0"/>
                    <a:pt x="879697" y="52925"/>
                    <a:pt x="879697" y="118211"/>
                  </a:cubicBezTo>
                  <a:lnTo>
                    <a:pt x="879697" y="878556"/>
                  </a:lnTo>
                  <a:cubicBezTo>
                    <a:pt x="879697" y="909907"/>
                    <a:pt x="867243" y="939975"/>
                    <a:pt x="845074" y="962144"/>
                  </a:cubicBezTo>
                  <a:cubicBezTo>
                    <a:pt x="822905" y="984313"/>
                    <a:pt x="792837" y="996767"/>
                    <a:pt x="761486" y="996767"/>
                  </a:cubicBezTo>
                  <a:lnTo>
                    <a:pt x="118211" y="996767"/>
                  </a:lnTo>
                  <a:cubicBezTo>
                    <a:pt x="86860" y="996767"/>
                    <a:pt x="56792" y="984313"/>
                    <a:pt x="34623" y="962144"/>
                  </a:cubicBezTo>
                  <a:cubicBezTo>
                    <a:pt x="12454" y="939975"/>
                    <a:pt x="0" y="909907"/>
                    <a:pt x="0" y="878556"/>
                  </a:cubicBezTo>
                  <a:lnTo>
                    <a:pt x="0" y="118211"/>
                  </a:lnTo>
                  <a:cubicBezTo>
                    <a:pt x="0" y="86860"/>
                    <a:pt x="12454" y="56792"/>
                    <a:pt x="34623" y="34623"/>
                  </a:cubicBezTo>
                  <a:cubicBezTo>
                    <a:pt x="56792" y="12454"/>
                    <a:pt x="86860" y="0"/>
                    <a:pt x="118211" y="0"/>
                  </a:cubicBezTo>
                  <a:close/>
                </a:path>
              </a:pathLst>
            </a:custGeom>
            <a:solidFill>
              <a:srgbClr val="004AAD"/>
            </a:solidFill>
          </p:spPr>
        </p:sp>
        <p:sp>
          <p:nvSpPr>
            <p:cNvPr name="TextBox 15" id="15"/>
            <p:cNvSpPr txBox="true"/>
            <p:nvPr/>
          </p:nvSpPr>
          <p:spPr>
            <a:xfrm>
              <a:off x="0" y="-47625"/>
              <a:ext cx="879697" cy="1044392"/>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7957840" y="1950106"/>
            <a:ext cx="4251920" cy="2289386"/>
          </a:xfrm>
          <a:prstGeom prst="rect">
            <a:avLst/>
          </a:prstGeom>
        </p:spPr>
        <p:txBody>
          <a:bodyPr anchor="t" rtlCol="false" tIns="0" lIns="0" bIns="0" rIns="0">
            <a:spAutoFit/>
          </a:bodyPr>
          <a:lstStyle/>
          <a:p>
            <a:pPr algn="ctr">
              <a:lnSpc>
                <a:spcPts val="6113"/>
              </a:lnSpc>
            </a:pPr>
            <a:r>
              <a:rPr lang="en-US" sz="4366">
                <a:solidFill>
                  <a:srgbClr val="303642"/>
                </a:solidFill>
                <a:latin typeface="League Spartan"/>
                <a:ea typeface="League Spartan"/>
                <a:cs typeface="League Spartan"/>
                <a:sym typeface="League Spartan"/>
              </a:rPr>
              <a:t>299K</a:t>
            </a:r>
          </a:p>
          <a:p>
            <a:pPr algn="ctr">
              <a:lnSpc>
                <a:spcPts val="6113"/>
              </a:lnSpc>
            </a:pPr>
            <a:r>
              <a:rPr lang="en-US" sz="4366">
                <a:solidFill>
                  <a:srgbClr val="303642"/>
                </a:solidFill>
                <a:latin typeface="League Spartan"/>
                <a:ea typeface="League Spartan"/>
                <a:cs typeface="League Spartan"/>
                <a:sym typeface="League Spartan"/>
              </a:rPr>
              <a:t>IN </a:t>
            </a:r>
          </a:p>
          <a:p>
            <a:pPr algn="ctr">
              <a:lnSpc>
                <a:spcPts val="6113"/>
              </a:lnSpc>
            </a:pPr>
            <a:r>
              <a:rPr lang="en-US" sz="4366">
                <a:solidFill>
                  <a:srgbClr val="303642"/>
                </a:solidFill>
                <a:latin typeface="League Spartan"/>
                <a:ea typeface="League Spartan"/>
                <a:cs typeface="League Spartan"/>
                <a:sym typeface="League Spartan"/>
              </a:rPr>
              <a:t>2022</a:t>
            </a:r>
          </a:p>
        </p:txBody>
      </p:sp>
      <p:sp>
        <p:nvSpPr>
          <p:cNvPr name="TextBox 17" id="17"/>
          <p:cNvSpPr txBox="true"/>
          <p:nvPr/>
        </p:nvSpPr>
        <p:spPr>
          <a:xfrm rot="0">
            <a:off x="7957840" y="6178445"/>
            <a:ext cx="4251920" cy="2289386"/>
          </a:xfrm>
          <a:prstGeom prst="rect">
            <a:avLst/>
          </a:prstGeom>
        </p:spPr>
        <p:txBody>
          <a:bodyPr anchor="t" rtlCol="false" tIns="0" lIns="0" bIns="0" rIns="0">
            <a:spAutoFit/>
          </a:bodyPr>
          <a:lstStyle/>
          <a:p>
            <a:pPr algn="ctr">
              <a:lnSpc>
                <a:spcPts val="6113"/>
              </a:lnSpc>
            </a:pPr>
            <a:r>
              <a:rPr lang="en-US" sz="4366">
                <a:solidFill>
                  <a:srgbClr val="303642"/>
                </a:solidFill>
                <a:latin typeface="League Spartan"/>
                <a:ea typeface="League Spartan"/>
                <a:cs typeface="League Spartan"/>
                <a:sym typeface="League Spartan"/>
              </a:rPr>
              <a:t>112K</a:t>
            </a:r>
          </a:p>
          <a:p>
            <a:pPr algn="ctr">
              <a:lnSpc>
                <a:spcPts val="6113"/>
              </a:lnSpc>
            </a:pPr>
            <a:r>
              <a:rPr lang="en-US" sz="4366">
                <a:solidFill>
                  <a:srgbClr val="303642"/>
                </a:solidFill>
                <a:latin typeface="League Spartan"/>
                <a:ea typeface="League Spartan"/>
                <a:cs typeface="League Spartan"/>
                <a:sym typeface="League Spartan"/>
              </a:rPr>
              <a:t>IN </a:t>
            </a:r>
          </a:p>
          <a:p>
            <a:pPr algn="ctr">
              <a:lnSpc>
                <a:spcPts val="6113"/>
              </a:lnSpc>
            </a:pPr>
            <a:r>
              <a:rPr lang="en-US" sz="4366">
                <a:solidFill>
                  <a:srgbClr val="303642"/>
                </a:solidFill>
                <a:latin typeface="League Spartan"/>
                <a:ea typeface="League Spartan"/>
                <a:cs typeface="League Spartan"/>
                <a:sym typeface="League Spartan"/>
              </a:rPr>
              <a:t>2022</a:t>
            </a:r>
          </a:p>
        </p:txBody>
      </p:sp>
      <p:sp>
        <p:nvSpPr>
          <p:cNvPr name="TextBox 18" id="18"/>
          <p:cNvSpPr txBox="true"/>
          <p:nvPr/>
        </p:nvSpPr>
        <p:spPr>
          <a:xfrm rot="0">
            <a:off x="12419310" y="2229571"/>
            <a:ext cx="4650324" cy="148905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19" id="19"/>
          <p:cNvSpPr txBox="true"/>
          <p:nvPr/>
        </p:nvSpPr>
        <p:spPr>
          <a:xfrm rot="0">
            <a:off x="12419310" y="6592900"/>
            <a:ext cx="4650324" cy="1489050"/>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2336296" y="4065560"/>
            <a:ext cx="2960881" cy="2960544"/>
            <a:chOff x="0" y="0"/>
            <a:chExt cx="6350013" cy="6349289"/>
          </a:xfrm>
        </p:grpSpPr>
        <p:sp>
          <p:nvSpPr>
            <p:cNvPr name="Freeform 4" id="4"/>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3"/>
              <a:stretch>
                <a:fillRect l="0" t="-5" r="0" b="-5"/>
              </a:stretch>
            </a:blipFill>
          </p:spPr>
        </p:sp>
      </p:grpSp>
      <p:sp>
        <p:nvSpPr>
          <p:cNvPr name="TextBox 5" id="5"/>
          <p:cNvSpPr txBox="true"/>
          <p:nvPr/>
        </p:nvSpPr>
        <p:spPr>
          <a:xfrm rot="0">
            <a:off x="5676618" y="1791504"/>
            <a:ext cx="6756386" cy="967259"/>
          </a:xfrm>
          <a:prstGeom prst="rect">
            <a:avLst/>
          </a:prstGeom>
        </p:spPr>
        <p:txBody>
          <a:bodyPr anchor="t" rtlCol="false" tIns="0" lIns="0" bIns="0" rIns="0">
            <a:spAutoFit/>
          </a:bodyPr>
          <a:lstStyle/>
          <a:p>
            <a:pPr algn="ctr">
              <a:lnSpc>
                <a:spcPts val="7940"/>
              </a:lnSpc>
            </a:pPr>
            <a:r>
              <a:rPr lang="en-US" b="true" sz="5672">
                <a:solidFill>
                  <a:srgbClr val="000000"/>
                </a:solidFill>
                <a:latin typeface="League Spartan"/>
                <a:ea typeface="League Spartan"/>
                <a:cs typeface="League Spartan"/>
                <a:sym typeface="League Spartan"/>
              </a:rPr>
              <a:t>TEAM MEMBERS</a:t>
            </a:r>
          </a:p>
        </p:txBody>
      </p:sp>
      <p:sp>
        <p:nvSpPr>
          <p:cNvPr name="TextBox 6" id="6"/>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MEET OUR</a:t>
            </a:r>
          </a:p>
        </p:txBody>
      </p:sp>
      <p:sp>
        <p:nvSpPr>
          <p:cNvPr name="TextBox 7" id="7"/>
          <p:cNvSpPr txBox="true"/>
          <p:nvPr/>
        </p:nvSpPr>
        <p:spPr>
          <a:xfrm rot="0">
            <a:off x="4981898" y="2711137"/>
            <a:ext cx="8145827" cy="79144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grpSp>
        <p:nvGrpSpPr>
          <p:cNvPr name="Group 8" id="8"/>
          <p:cNvGrpSpPr>
            <a:grpSpLocks noChangeAspect="true"/>
          </p:cNvGrpSpPr>
          <p:nvPr/>
        </p:nvGrpSpPr>
        <p:grpSpPr>
          <a:xfrm rot="0">
            <a:off x="7575089" y="4065560"/>
            <a:ext cx="2960881" cy="2960544"/>
            <a:chOff x="0" y="0"/>
            <a:chExt cx="6350013" cy="6349289"/>
          </a:xfrm>
        </p:grpSpPr>
        <p:sp>
          <p:nvSpPr>
            <p:cNvPr name="Freeform 9" id="9"/>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4"/>
              <a:stretch>
                <a:fillRect l="0" t="0" r="0" b="-11"/>
              </a:stretch>
            </a:blipFill>
          </p:spPr>
        </p:sp>
      </p:grpSp>
      <p:grpSp>
        <p:nvGrpSpPr>
          <p:cNvPr name="Group 10" id="10"/>
          <p:cNvGrpSpPr>
            <a:grpSpLocks noChangeAspect="true"/>
          </p:cNvGrpSpPr>
          <p:nvPr/>
        </p:nvGrpSpPr>
        <p:grpSpPr>
          <a:xfrm rot="0">
            <a:off x="12812445" y="4065560"/>
            <a:ext cx="2960881" cy="2960544"/>
            <a:chOff x="0" y="0"/>
            <a:chExt cx="6350013" cy="6349289"/>
          </a:xfrm>
        </p:grpSpPr>
        <p:sp>
          <p:nvSpPr>
            <p:cNvPr name="Freeform 11" id="11"/>
            <p:cNvSpPr/>
            <p:nvPr/>
          </p:nvSpPr>
          <p:spPr>
            <a:xfrm flipH="false" flipV="false" rot="0">
              <a:off x="-2" y="-1"/>
              <a:ext cx="6350000" cy="6349290"/>
            </a:xfrm>
            <a:custGeom>
              <a:avLst/>
              <a:gdLst/>
              <a:ahLst/>
              <a:cxnLst/>
              <a:rect r="r" b="b" t="t" l="l"/>
              <a:pathLst>
                <a:path h="6349290" w="6350000">
                  <a:moveTo>
                    <a:pt x="5589297" y="1006730"/>
                  </a:moveTo>
                  <a:cubicBezTo>
                    <a:pt x="5465116" y="791694"/>
                    <a:pt x="5239933" y="671386"/>
                    <a:pt x="5008285" y="671221"/>
                  </a:cubicBezTo>
                  <a:lnTo>
                    <a:pt x="5008323" y="671183"/>
                  </a:lnTo>
                  <a:cubicBezTo>
                    <a:pt x="4776675" y="670980"/>
                    <a:pt x="4551453" y="550686"/>
                    <a:pt x="4427311" y="335675"/>
                  </a:cubicBezTo>
                  <a:cubicBezTo>
                    <a:pt x="4242069" y="14784"/>
                    <a:pt x="3831782" y="-95135"/>
                    <a:pt x="3510892" y="90146"/>
                  </a:cubicBezTo>
                  <a:lnTo>
                    <a:pt x="3510841" y="90184"/>
                  </a:lnTo>
                  <a:lnTo>
                    <a:pt x="3510841" y="89980"/>
                  </a:lnTo>
                  <a:cubicBezTo>
                    <a:pt x="3311540" y="204801"/>
                    <a:pt x="3058606" y="213894"/>
                    <a:pt x="2844523" y="92495"/>
                  </a:cubicBezTo>
                  <a:cubicBezTo>
                    <a:pt x="2741495" y="31767"/>
                    <a:pt x="2624048" y="-177"/>
                    <a:pt x="2504455" y="1"/>
                  </a:cubicBezTo>
                  <a:cubicBezTo>
                    <a:pt x="2256157" y="1"/>
                    <a:pt x="2039393" y="134913"/>
                    <a:pt x="1923366" y="335433"/>
                  </a:cubicBezTo>
                  <a:lnTo>
                    <a:pt x="1923366" y="335395"/>
                  </a:lnTo>
                  <a:cubicBezTo>
                    <a:pt x="1807377" y="535877"/>
                    <a:pt x="1590563" y="670790"/>
                    <a:pt x="1342303" y="670790"/>
                  </a:cubicBezTo>
                  <a:cubicBezTo>
                    <a:pt x="971781" y="670790"/>
                    <a:pt x="671438" y="971132"/>
                    <a:pt x="671438" y="1341654"/>
                  </a:cubicBezTo>
                  <a:lnTo>
                    <a:pt x="671438" y="1341731"/>
                  </a:lnTo>
                  <a:lnTo>
                    <a:pt x="671235" y="1341654"/>
                  </a:lnTo>
                  <a:cubicBezTo>
                    <a:pt x="671032" y="1571537"/>
                    <a:pt x="552554" y="1795019"/>
                    <a:pt x="340654" y="1919771"/>
                  </a:cubicBezTo>
                  <a:cubicBezTo>
                    <a:pt x="236398" y="1978609"/>
                    <a:pt x="149886" y="2064406"/>
                    <a:pt x="90185" y="2168170"/>
                  </a:cubicBezTo>
                  <a:cubicBezTo>
                    <a:pt x="-33971" y="2383232"/>
                    <a:pt x="-25525" y="2638388"/>
                    <a:pt x="90147" y="2839111"/>
                  </a:cubicBezTo>
                  <a:lnTo>
                    <a:pt x="90109" y="2839111"/>
                  </a:lnTo>
                  <a:cubicBezTo>
                    <a:pt x="205691" y="3039797"/>
                    <a:pt x="214137" y="3294978"/>
                    <a:pt x="89982" y="3510014"/>
                  </a:cubicBezTo>
                  <a:cubicBezTo>
                    <a:pt x="-95248" y="3830867"/>
                    <a:pt x="14658" y="4241153"/>
                    <a:pt x="335549" y="4426434"/>
                  </a:cubicBezTo>
                  <a:lnTo>
                    <a:pt x="335587" y="4426472"/>
                  </a:lnTo>
                  <a:lnTo>
                    <a:pt x="335460" y="4426560"/>
                  </a:lnTo>
                  <a:cubicBezTo>
                    <a:pt x="535980" y="4542499"/>
                    <a:pt x="670829" y="4759313"/>
                    <a:pt x="670829" y="5007611"/>
                  </a:cubicBezTo>
                  <a:cubicBezTo>
                    <a:pt x="670829" y="5378133"/>
                    <a:pt x="971171" y="5678476"/>
                    <a:pt x="1341681" y="5678476"/>
                  </a:cubicBezTo>
                  <a:cubicBezTo>
                    <a:pt x="1589991" y="5678476"/>
                    <a:pt x="1806717" y="5813362"/>
                    <a:pt x="1922782" y="6013883"/>
                  </a:cubicBezTo>
                  <a:cubicBezTo>
                    <a:pt x="2038771" y="6214314"/>
                    <a:pt x="2255573" y="6349290"/>
                    <a:pt x="2503845" y="6349290"/>
                  </a:cubicBezTo>
                  <a:cubicBezTo>
                    <a:pt x="2623437" y="6349444"/>
                    <a:pt x="2740879" y="6317498"/>
                    <a:pt x="2843913" y="6256783"/>
                  </a:cubicBezTo>
                  <a:cubicBezTo>
                    <a:pt x="3057946" y="6135409"/>
                    <a:pt x="3310943" y="6144502"/>
                    <a:pt x="3510231" y="6259361"/>
                  </a:cubicBezTo>
                  <a:lnTo>
                    <a:pt x="3510231" y="6259120"/>
                  </a:lnTo>
                  <a:lnTo>
                    <a:pt x="3510269" y="6259196"/>
                  </a:lnTo>
                  <a:cubicBezTo>
                    <a:pt x="3831160" y="6444438"/>
                    <a:pt x="4241446" y="6334482"/>
                    <a:pt x="4426739" y="6013629"/>
                  </a:cubicBezTo>
                  <a:cubicBezTo>
                    <a:pt x="4550882" y="5798631"/>
                    <a:pt x="4776066" y="5678311"/>
                    <a:pt x="5007713" y="5678146"/>
                  </a:cubicBezTo>
                  <a:lnTo>
                    <a:pt x="5007663" y="5678057"/>
                  </a:lnTo>
                  <a:cubicBezTo>
                    <a:pt x="5239310" y="5677892"/>
                    <a:pt x="5464532" y="5557572"/>
                    <a:pt x="5588637" y="5342574"/>
                  </a:cubicBezTo>
                  <a:cubicBezTo>
                    <a:pt x="5649762" y="5236720"/>
                    <a:pt x="5678769" y="5121099"/>
                    <a:pt x="5678642" y="5007078"/>
                  </a:cubicBezTo>
                  <a:lnTo>
                    <a:pt x="5678731" y="5007155"/>
                  </a:lnTo>
                  <a:cubicBezTo>
                    <a:pt x="5678934" y="4783711"/>
                    <a:pt x="5790897" y="4566223"/>
                    <a:pt x="5991811" y="4439693"/>
                  </a:cubicBezTo>
                  <a:cubicBezTo>
                    <a:pt x="6100116" y="4382746"/>
                    <a:pt x="6194109" y="4295485"/>
                    <a:pt x="6259781" y="4181731"/>
                  </a:cubicBezTo>
                  <a:cubicBezTo>
                    <a:pt x="6383974" y="3966618"/>
                    <a:pt x="6375529" y="3711437"/>
                    <a:pt x="6259870" y="3510751"/>
                  </a:cubicBezTo>
                  <a:lnTo>
                    <a:pt x="6259908" y="3510751"/>
                  </a:lnTo>
                  <a:cubicBezTo>
                    <a:pt x="6144287" y="3310066"/>
                    <a:pt x="6135829" y="3054885"/>
                    <a:pt x="6259997" y="2839836"/>
                  </a:cubicBezTo>
                  <a:cubicBezTo>
                    <a:pt x="6445277" y="2518945"/>
                    <a:pt x="6335320" y="2108697"/>
                    <a:pt x="6014429" y="1923417"/>
                  </a:cubicBezTo>
                  <a:lnTo>
                    <a:pt x="6014379" y="1923366"/>
                  </a:lnTo>
                  <a:lnTo>
                    <a:pt x="6014506" y="1923328"/>
                  </a:lnTo>
                  <a:cubicBezTo>
                    <a:pt x="5815599" y="1808240"/>
                    <a:pt x="5681309" y="1593953"/>
                    <a:pt x="5679188" y="1348132"/>
                  </a:cubicBezTo>
                  <a:cubicBezTo>
                    <a:pt x="5680356" y="1232130"/>
                    <a:pt x="5651438" y="1114401"/>
                    <a:pt x="5589297" y="1006730"/>
                  </a:cubicBezTo>
                </a:path>
              </a:pathLst>
            </a:custGeom>
            <a:blipFill>
              <a:blip r:embed="rId5"/>
              <a:stretch>
                <a:fillRect l="0" t="0" r="0" b="-11"/>
              </a:stretch>
            </a:blipFill>
          </p:spPr>
        </p:sp>
      </p:grpSp>
      <p:sp>
        <p:nvSpPr>
          <p:cNvPr name="TextBox 12" id="12"/>
          <p:cNvSpPr txBox="true"/>
          <p:nvPr/>
        </p:nvSpPr>
        <p:spPr>
          <a:xfrm rot="0">
            <a:off x="1871310" y="7521404"/>
            <a:ext cx="4247608" cy="1572602"/>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3" id="13"/>
          <p:cNvSpPr txBox="true"/>
          <p:nvPr/>
        </p:nvSpPr>
        <p:spPr>
          <a:xfrm rot="0">
            <a:off x="6931726" y="7521404"/>
            <a:ext cx="4247608" cy="1572602"/>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4" id="14"/>
          <p:cNvSpPr txBox="true"/>
          <p:nvPr/>
        </p:nvSpPr>
        <p:spPr>
          <a:xfrm rot="0">
            <a:off x="12169082" y="7521404"/>
            <a:ext cx="4247608" cy="1572602"/>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3173913"/>
            <a:ext cx="6021380" cy="912915"/>
          </a:xfrm>
          <a:prstGeom prst="rect">
            <a:avLst/>
          </a:prstGeom>
        </p:spPr>
        <p:txBody>
          <a:bodyPr anchor="t" rtlCol="false" tIns="0" lIns="0" bIns="0" rIns="0">
            <a:spAutoFit/>
          </a:bodyPr>
          <a:lstStyle/>
          <a:p>
            <a:pPr algn="l">
              <a:lnSpc>
                <a:spcPts val="7431"/>
              </a:lnSpc>
            </a:pPr>
            <a:r>
              <a:rPr lang="en-US" b="true" sz="5308">
                <a:solidFill>
                  <a:srgbClr val="000000"/>
                </a:solidFill>
                <a:latin typeface="League Spartan"/>
                <a:ea typeface="League Spartan"/>
                <a:cs typeface="League Spartan"/>
                <a:sym typeface="League Spartan"/>
              </a:rPr>
              <a:t>FLOW CHART</a:t>
            </a:r>
          </a:p>
        </p:txBody>
      </p:sp>
      <p:sp>
        <p:nvSpPr>
          <p:cNvPr name="TextBox 4" id="4"/>
          <p:cNvSpPr txBox="true"/>
          <p:nvPr/>
        </p:nvSpPr>
        <p:spPr>
          <a:xfrm rot="0">
            <a:off x="1028700" y="2361785"/>
            <a:ext cx="4842085" cy="897853"/>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OUR YEARLY</a:t>
            </a:r>
          </a:p>
        </p:txBody>
      </p:sp>
      <p:sp>
        <p:nvSpPr>
          <p:cNvPr name="TextBox 5" id="5"/>
          <p:cNvSpPr txBox="true"/>
          <p:nvPr/>
        </p:nvSpPr>
        <p:spPr>
          <a:xfrm rot="0">
            <a:off x="1028700" y="4832814"/>
            <a:ext cx="55710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sp>
        <p:nvSpPr>
          <p:cNvPr name="TextBox 6" id="6"/>
          <p:cNvSpPr txBox="true"/>
          <p:nvPr/>
        </p:nvSpPr>
        <p:spPr>
          <a:xfrm rot="0">
            <a:off x="1028700" y="6693340"/>
            <a:ext cx="55710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pic>
        <p:nvPicPr>
          <p:cNvPr name="Picture 7" id="7"/>
          <p:cNvPicPr>
            <a:picLocks noChangeAspect="true"/>
          </p:cNvPicPr>
          <p:nvPr/>
        </p:nvPicPr>
        <p:blipFill>
          <a:blip r:embed="rId3"/>
          <a:stretch>
            <a:fillRect/>
          </a:stretch>
        </p:blipFill>
        <p:spPr>
          <a:xfrm rot="0">
            <a:off x="6883300" y="-166973"/>
            <a:ext cx="11319272" cy="10620946"/>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4004499"/>
            <a:ext cx="6021380" cy="912915"/>
          </a:xfrm>
          <a:prstGeom prst="rect">
            <a:avLst/>
          </a:prstGeom>
        </p:spPr>
        <p:txBody>
          <a:bodyPr anchor="t" rtlCol="false" tIns="0" lIns="0" bIns="0" rIns="0">
            <a:spAutoFit/>
          </a:bodyPr>
          <a:lstStyle/>
          <a:p>
            <a:pPr algn="l">
              <a:lnSpc>
                <a:spcPts val="7431"/>
              </a:lnSpc>
            </a:pPr>
            <a:r>
              <a:rPr lang="en-US" sz="5308">
                <a:solidFill>
                  <a:srgbClr val="000000"/>
                </a:solidFill>
                <a:latin typeface="League Spartan"/>
                <a:ea typeface="League Spartan"/>
                <a:cs typeface="League Spartan"/>
                <a:sym typeface="League Spartan"/>
              </a:rPr>
              <a:t>DETAILS 2</a:t>
            </a:r>
          </a:p>
        </p:txBody>
      </p:sp>
      <p:sp>
        <p:nvSpPr>
          <p:cNvPr name="TextBox 4" id="4"/>
          <p:cNvSpPr txBox="true"/>
          <p:nvPr/>
        </p:nvSpPr>
        <p:spPr>
          <a:xfrm rot="0">
            <a:off x="1028700" y="5060151"/>
            <a:ext cx="5571074" cy="1117575"/>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Lorem ipsum dolor sit amet, consectetur adipiscing elit, sed do eiusmod tempor incididunt ut labore et dolore </a:t>
            </a:r>
          </a:p>
        </p:txBody>
      </p:sp>
      <p:pic>
        <p:nvPicPr>
          <p:cNvPr name="Picture 5" id="5"/>
          <p:cNvPicPr>
            <a:picLocks noChangeAspect="true"/>
          </p:cNvPicPr>
          <p:nvPr/>
        </p:nvPicPr>
        <p:blipFill>
          <a:blip r:embed="rId3"/>
          <a:stretch>
            <a:fillRect/>
          </a:stretch>
        </p:blipFill>
        <p:spPr>
          <a:xfrm rot="0">
            <a:off x="6774256" y="-386163"/>
            <a:ext cx="11199056" cy="11059325"/>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638682" y="1791504"/>
            <a:ext cx="9010636" cy="967259"/>
          </a:xfrm>
          <a:prstGeom prst="rect">
            <a:avLst/>
          </a:prstGeom>
        </p:spPr>
        <p:txBody>
          <a:bodyPr anchor="t" rtlCol="false" tIns="0" lIns="0" bIns="0" rIns="0">
            <a:spAutoFit/>
          </a:bodyPr>
          <a:lstStyle/>
          <a:p>
            <a:pPr algn="ctr">
              <a:lnSpc>
                <a:spcPts val="7940"/>
              </a:lnSpc>
            </a:pPr>
            <a:r>
              <a:rPr lang="en-US" sz="5672">
                <a:solidFill>
                  <a:srgbClr val="000000"/>
                </a:solidFill>
                <a:latin typeface="League Spartan"/>
                <a:ea typeface="League Spartan"/>
                <a:cs typeface="League Spartan"/>
                <a:sym typeface="League Spartan"/>
              </a:rPr>
              <a:t>PLANNING</a:t>
            </a:r>
          </a:p>
        </p:txBody>
      </p:sp>
      <p:sp>
        <p:nvSpPr>
          <p:cNvPr name="TextBox 4" id="4"/>
          <p:cNvSpPr txBox="true"/>
          <p:nvPr/>
        </p:nvSpPr>
        <p:spPr>
          <a:xfrm rot="0">
            <a:off x="6118918" y="1116794"/>
            <a:ext cx="5871786" cy="624298"/>
          </a:xfrm>
          <a:prstGeom prst="rect">
            <a:avLst/>
          </a:prstGeom>
        </p:spPr>
        <p:txBody>
          <a:bodyPr anchor="t" rtlCol="false" tIns="0" lIns="0" bIns="0" rIns="0">
            <a:spAutoFit/>
          </a:bodyPr>
          <a:lstStyle/>
          <a:p>
            <a:pPr algn="ctr">
              <a:lnSpc>
                <a:spcPts val="5094"/>
              </a:lnSpc>
            </a:pPr>
            <a:r>
              <a:rPr lang="en-US" sz="3639">
                <a:solidFill>
                  <a:srgbClr val="303642"/>
                </a:solidFill>
                <a:latin typeface="Roboto"/>
                <a:ea typeface="Roboto"/>
                <a:cs typeface="Roboto"/>
                <a:sym typeface="Roboto"/>
              </a:rPr>
              <a:t>OUR NEW</a:t>
            </a:r>
          </a:p>
        </p:txBody>
      </p:sp>
      <p:sp>
        <p:nvSpPr>
          <p:cNvPr name="TextBox 5" id="5"/>
          <p:cNvSpPr txBox="true"/>
          <p:nvPr/>
        </p:nvSpPr>
        <p:spPr>
          <a:xfrm rot="0">
            <a:off x="4981898" y="2692087"/>
            <a:ext cx="8145827" cy="791448"/>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Lorem ipsum dolor sit amet, consectetur adipiscing elit, sed do eiusmod tempor incididunt ut labore et dolore </a:t>
            </a:r>
          </a:p>
        </p:txBody>
      </p:sp>
      <p:pic>
        <p:nvPicPr>
          <p:cNvPr name="Picture 6" id="6"/>
          <p:cNvPicPr>
            <a:picLocks noChangeAspect="true"/>
          </p:cNvPicPr>
          <p:nvPr/>
        </p:nvPicPr>
        <p:blipFill>
          <a:blip r:embed="rId3"/>
          <a:stretch>
            <a:fillRect/>
          </a:stretch>
        </p:blipFill>
        <p:spPr>
          <a:xfrm rot="0">
            <a:off x="1634350" y="4251065"/>
            <a:ext cx="2628900" cy="2628900"/>
          </a:xfrm>
          <a:prstGeom prst="rect">
            <a:avLst/>
          </a:prstGeom>
        </p:spPr>
      </p:pic>
      <p:pic>
        <p:nvPicPr>
          <p:cNvPr name="Picture 7" id="7"/>
          <p:cNvPicPr>
            <a:picLocks noChangeAspect="true"/>
          </p:cNvPicPr>
          <p:nvPr/>
        </p:nvPicPr>
        <p:blipFill>
          <a:blip r:embed="rId4"/>
          <a:stretch>
            <a:fillRect/>
          </a:stretch>
        </p:blipFill>
        <p:spPr>
          <a:xfrm rot="0">
            <a:off x="1634350" y="7635615"/>
            <a:ext cx="2628900" cy="1533525"/>
          </a:xfrm>
          <a:prstGeom prst="rect">
            <a:avLst/>
          </a:prstGeom>
        </p:spPr>
      </p:pic>
      <p:pic>
        <p:nvPicPr>
          <p:cNvPr name="Picture 8" id="8"/>
          <p:cNvPicPr>
            <a:picLocks noChangeAspect="true"/>
          </p:cNvPicPr>
          <p:nvPr/>
        </p:nvPicPr>
        <p:blipFill>
          <a:blip r:embed="rId5"/>
          <a:stretch>
            <a:fillRect/>
          </a:stretch>
        </p:blipFill>
        <p:spPr>
          <a:xfrm rot="0">
            <a:off x="11187954" y="4463976"/>
            <a:ext cx="5528993" cy="5255074"/>
          </a:xfrm>
          <a:prstGeom prst="rect">
            <a:avLst/>
          </a:prstGeom>
        </p:spPr>
      </p:pic>
      <p:sp>
        <p:nvSpPr>
          <p:cNvPr name="TextBox 9" id="9"/>
          <p:cNvSpPr txBox="true"/>
          <p:nvPr/>
        </p:nvSpPr>
        <p:spPr>
          <a:xfrm rot="0">
            <a:off x="4736325" y="4894226"/>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
        <p:nvSpPr>
          <p:cNvPr name="TextBox 10" id="10"/>
          <p:cNvSpPr txBox="true"/>
          <p:nvPr/>
        </p:nvSpPr>
        <p:spPr>
          <a:xfrm rot="0">
            <a:off x="4736325" y="7807065"/>
            <a:ext cx="4117804" cy="1294953"/>
          </a:xfrm>
          <a:prstGeom prst="rect">
            <a:avLst/>
          </a:prstGeom>
        </p:spPr>
        <p:txBody>
          <a:bodyPr anchor="t" rtlCol="false" tIns="0" lIns="0" bIns="0" rIns="0">
            <a:spAutoFit/>
          </a:bodyPr>
          <a:lstStyle/>
          <a:p>
            <a:pPr algn="l">
              <a:lnSpc>
                <a:spcPts val="2574"/>
              </a:lnSpc>
              <a:spcBef>
                <a:spcPct val="0"/>
              </a:spcBef>
            </a:pPr>
            <a:r>
              <a:rPr lang="en-US" sz="1838">
                <a:solidFill>
                  <a:srgbClr val="303642"/>
                </a:solidFill>
                <a:latin typeface="Poppins"/>
                <a:ea typeface="Poppins"/>
                <a:cs typeface="Poppins"/>
                <a:sym typeface="Poppins"/>
              </a:rPr>
              <a:t>Lorem ipsum dolor sit amet, consectetur adipiscing elit, sed do eiusmod tempor incididunt ut labore et dolore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1265381"/>
          </a:xfrm>
          <a:prstGeom prst="rect">
            <a:avLst/>
          </a:prstGeom>
        </p:spPr>
        <p:txBody>
          <a:bodyPr anchor="t" rtlCol="false" tIns="0" lIns="0" bIns="0" rIns="0">
            <a:spAutoFit/>
          </a:bodyPr>
          <a:lstStyle/>
          <a:p>
            <a:pPr algn="ctr">
              <a:lnSpc>
                <a:spcPts val="10334"/>
              </a:lnSpc>
            </a:pPr>
            <a:r>
              <a:rPr lang="en-US" b="true" sz="7382">
                <a:solidFill>
                  <a:srgbClr val="000000"/>
                </a:solidFill>
                <a:latin typeface="League Spartan"/>
                <a:ea typeface="League Spartan"/>
                <a:cs typeface="League Spartan"/>
                <a:sym typeface="League Spartan"/>
              </a:rPr>
              <a:t>THANK YOU</a:t>
            </a:r>
          </a:p>
        </p:txBody>
      </p:sp>
      <p:grpSp>
        <p:nvGrpSpPr>
          <p:cNvPr name="Group 10" id="10"/>
          <p:cNvGrpSpPr/>
          <p:nvPr/>
        </p:nvGrpSpPr>
        <p:grpSpPr>
          <a:xfrm rot="0">
            <a:off x="7616825" y="6705600"/>
            <a:ext cx="3054350" cy="761278"/>
            <a:chOff x="0" y="0"/>
            <a:chExt cx="804438" cy="200501"/>
          </a:xfrm>
        </p:grpSpPr>
        <p:sp>
          <p:nvSpPr>
            <p:cNvPr name="Freeform 11" id="11"/>
            <p:cNvSpPr/>
            <p:nvPr/>
          </p:nvSpPr>
          <p:spPr>
            <a:xfrm flipH="false" flipV="false" rot="0">
              <a:off x="0" y="0"/>
              <a:ext cx="804438" cy="200501"/>
            </a:xfrm>
            <a:custGeom>
              <a:avLst/>
              <a:gdLst/>
              <a:ahLst/>
              <a:cxnLst/>
              <a:rect r="r" b="b" t="t" l="l"/>
              <a:pathLst>
                <a:path h="200501" w="804438">
                  <a:moveTo>
                    <a:pt x="100251" y="0"/>
                  </a:moveTo>
                  <a:lnTo>
                    <a:pt x="704187" y="0"/>
                  </a:lnTo>
                  <a:cubicBezTo>
                    <a:pt x="730775" y="0"/>
                    <a:pt x="756275" y="10562"/>
                    <a:pt x="775075" y="29363"/>
                  </a:cubicBezTo>
                  <a:cubicBezTo>
                    <a:pt x="793876" y="48163"/>
                    <a:pt x="804438" y="73662"/>
                    <a:pt x="804438" y="100251"/>
                  </a:cubicBezTo>
                  <a:lnTo>
                    <a:pt x="804438" y="100251"/>
                  </a:lnTo>
                  <a:cubicBezTo>
                    <a:pt x="804438" y="155617"/>
                    <a:pt x="759554" y="200501"/>
                    <a:pt x="704187" y="200501"/>
                  </a:cubicBezTo>
                  <a:lnTo>
                    <a:pt x="100251" y="200501"/>
                  </a:lnTo>
                  <a:cubicBezTo>
                    <a:pt x="44884" y="200501"/>
                    <a:pt x="0" y="155617"/>
                    <a:pt x="0" y="100251"/>
                  </a:cubicBezTo>
                  <a:lnTo>
                    <a:pt x="0" y="100251"/>
                  </a:lnTo>
                  <a:cubicBezTo>
                    <a:pt x="0" y="44884"/>
                    <a:pt x="44884" y="0"/>
                    <a:pt x="100251" y="0"/>
                  </a:cubicBezTo>
                  <a:close/>
                </a:path>
              </a:pathLst>
            </a:custGeom>
            <a:solidFill>
              <a:srgbClr val="004AAD"/>
            </a:solidFill>
          </p:spPr>
        </p:sp>
        <p:sp>
          <p:nvSpPr>
            <p:cNvPr name="TextBox 12" id="12"/>
            <p:cNvSpPr txBox="true"/>
            <p:nvPr/>
          </p:nvSpPr>
          <p:spPr>
            <a:xfrm>
              <a:off x="0" y="-47625"/>
              <a:ext cx="804438" cy="24812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7347826" y="6846823"/>
            <a:ext cx="3592349" cy="535981"/>
          </a:xfrm>
          <a:prstGeom prst="rect">
            <a:avLst/>
          </a:prstGeom>
        </p:spPr>
        <p:txBody>
          <a:bodyPr anchor="t" rtlCol="false" tIns="0" lIns="0" bIns="0" rIns="0">
            <a:spAutoFit/>
          </a:bodyPr>
          <a:lstStyle/>
          <a:p>
            <a:pPr algn="ctr">
              <a:lnSpc>
                <a:spcPts val="4408"/>
              </a:lnSpc>
            </a:pPr>
            <a:r>
              <a:rPr lang="en-US" sz="3148">
                <a:solidFill>
                  <a:srgbClr val="303642"/>
                </a:solidFill>
                <a:latin typeface="League Spartan"/>
                <a:ea typeface="League Spartan"/>
                <a:cs typeface="League Spartan"/>
                <a:sym typeface="League Spartan"/>
              </a:rPr>
              <a:t>VISIT US</a:t>
            </a:r>
          </a:p>
        </p:txBody>
      </p:sp>
      <p:sp>
        <p:nvSpPr>
          <p:cNvPr name="Freeform 14" id="14"/>
          <p:cNvSpPr/>
          <p:nvPr/>
        </p:nvSpPr>
        <p:spPr>
          <a:xfrm flipH="false" flipV="false" rot="0">
            <a:off x="3409363" y="8688897"/>
            <a:ext cx="759903" cy="759903"/>
          </a:xfrm>
          <a:custGeom>
            <a:avLst/>
            <a:gdLst/>
            <a:ahLst/>
            <a:cxnLst/>
            <a:rect r="r" b="b" t="t" l="l"/>
            <a:pathLst>
              <a:path h="759903" w="759903">
                <a:moveTo>
                  <a:pt x="0" y="0"/>
                </a:moveTo>
                <a:lnTo>
                  <a:pt x="759903" y="0"/>
                </a:lnTo>
                <a:lnTo>
                  <a:pt x="759903" y="759903"/>
                </a:lnTo>
                <a:lnTo>
                  <a:pt x="0" y="7599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105697" y="8659101"/>
            <a:ext cx="762324" cy="762324"/>
          </a:xfrm>
          <a:custGeom>
            <a:avLst/>
            <a:gdLst/>
            <a:ahLst/>
            <a:cxnLst/>
            <a:rect r="r" b="b" t="t" l="l"/>
            <a:pathLst>
              <a:path h="762324" w="762324">
                <a:moveTo>
                  <a:pt x="0" y="0"/>
                </a:moveTo>
                <a:lnTo>
                  <a:pt x="762323" y="0"/>
                </a:lnTo>
                <a:lnTo>
                  <a:pt x="762323" y="762323"/>
                </a:lnTo>
                <a:lnTo>
                  <a:pt x="0" y="7623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9268070" y="8716674"/>
            <a:ext cx="5610566" cy="573007"/>
          </a:xfrm>
          <a:prstGeom prst="rect">
            <a:avLst/>
          </a:prstGeom>
        </p:spPr>
        <p:txBody>
          <a:bodyPr anchor="t" rtlCol="false" tIns="0" lIns="0" bIns="0" rIns="0">
            <a:spAutoFit/>
          </a:bodyPr>
          <a:lstStyle/>
          <a:p>
            <a:pPr algn="l" marL="0" indent="0" lvl="0">
              <a:lnSpc>
                <a:spcPts val="4641"/>
              </a:lnSpc>
              <a:spcBef>
                <a:spcPct val="0"/>
              </a:spcBef>
            </a:pPr>
            <a:r>
              <a:rPr lang="en-US" sz="3315" u="none">
                <a:solidFill>
                  <a:srgbClr val="000000"/>
                </a:solidFill>
                <a:latin typeface="Roboto"/>
                <a:ea typeface="Roboto"/>
                <a:cs typeface="Roboto"/>
                <a:sym typeface="Roboto"/>
              </a:rPr>
              <a:t>www.reallygreatsite.com</a:t>
            </a:r>
          </a:p>
        </p:txBody>
      </p:sp>
      <p:sp>
        <p:nvSpPr>
          <p:cNvPr name="TextBox 17" id="17"/>
          <p:cNvSpPr txBox="true"/>
          <p:nvPr/>
        </p:nvSpPr>
        <p:spPr>
          <a:xfrm rot="0">
            <a:off x="4522475" y="8762274"/>
            <a:ext cx="3500346" cy="573007"/>
          </a:xfrm>
          <a:prstGeom prst="rect">
            <a:avLst/>
          </a:prstGeom>
        </p:spPr>
        <p:txBody>
          <a:bodyPr anchor="t" rtlCol="false" tIns="0" lIns="0" bIns="0" rIns="0">
            <a:spAutoFit/>
          </a:bodyPr>
          <a:lstStyle/>
          <a:p>
            <a:pPr algn="l" marL="0" indent="0" lvl="0">
              <a:lnSpc>
                <a:spcPts val="4641"/>
              </a:lnSpc>
              <a:spcBef>
                <a:spcPct val="0"/>
              </a:spcBef>
            </a:pPr>
            <a:r>
              <a:rPr lang="en-US" sz="3315" u="none">
                <a:solidFill>
                  <a:srgbClr val="000000"/>
                </a:solidFill>
                <a:latin typeface="Roboto"/>
                <a:ea typeface="Roboto"/>
                <a:cs typeface="Roboto"/>
                <a:sym typeface="Roboto"/>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DAG6UkK6dOM</dc:identifier>
  <dcterms:modified xsi:type="dcterms:W3CDTF">2011-08-01T06:04:30Z</dcterms:modified>
  <cp:revision>1</cp:revision>
  <dc:title>Blue &amp; white company profile presentation</dc:title>
</cp:coreProperties>
</file>